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3"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4898"/>
  </p:normalViewPr>
  <p:slideViewPr>
    <p:cSldViewPr snapToGrid="0">
      <p:cViewPr varScale="1">
        <p:scale>
          <a:sx n="94" d="100"/>
          <a:sy n="94" d="100"/>
        </p:scale>
        <p:origin x="18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4AE3F8-49ED-46FF-9606-48A615948FB7}" type="doc">
      <dgm:prSet loTypeId="urn:microsoft.com/office/officeart/2016/7/layout/BasicLinearProcessNumbered" loCatId="process" qsTypeId="urn:microsoft.com/office/officeart/2005/8/quickstyle/simple1" qsCatId="simple" csTypeId="urn:microsoft.com/office/officeart/2005/8/colors/colorful2" csCatId="colorful"/>
      <dgm:spPr/>
      <dgm:t>
        <a:bodyPr/>
        <a:lstStyle/>
        <a:p>
          <a:endParaRPr lang="en-US"/>
        </a:p>
      </dgm:t>
    </dgm:pt>
    <dgm:pt modelId="{A501878F-3718-4835-81AC-65A36C45FFD4}">
      <dgm:prSet/>
      <dgm:spPr/>
      <dgm:t>
        <a:bodyPr/>
        <a:lstStyle/>
        <a:p>
          <a:r>
            <a:rPr lang="en-US"/>
            <a:t>Problem: Traditional security methods that focus only on the perimeter are not enough to protect against increasing threats.</a:t>
          </a:r>
        </a:p>
      </dgm:t>
    </dgm:pt>
    <dgm:pt modelId="{BCCE4565-6A57-43CA-8323-26099DF1C993}" type="parTrans" cxnId="{C88D9FDA-79C5-4EC5-826F-66296EA9F7EE}">
      <dgm:prSet/>
      <dgm:spPr/>
      <dgm:t>
        <a:bodyPr/>
        <a:lstStyle/>
        <a:p>
          <a:endParaRPr lang="en-US"/>
        </a:p>
      </dgm:t>
    </dgm:pt>
    <dgm:pt modelId="{7D76CCD3-10C2-42F0-8760-5C8F321EDA8C}" type="sibTrans" cxnId="{C88D9FDA-79C5-4EC5-826F-66296EA9F7EE}">
      <dgm:prSet phldrT="1" phldr="0"/>
      <dgm:spPr/>
      <dgm:t>
        <a:bodyPr/>
        <a:lstStyle/>
        <a:p>
          <a:r>
            <a:rPr lang="en-US"/>
            <a:t>1</a:t>
          </a:r>
        </a:p>
      </dgm:t>
    </dgm:pt>
    <dgm:pt modelId="{03A6F698-31F3-4D65-BF94-7597A83430F2}">
      <dgm:prSet/>
      <dgm:spPr/>
      <dgm:t>
        <a:bodyPr/>
        <a:lstStyle/>
        <a:p>
          <a:r>
            <a:rPr lang="en-US"/>
            <a:t>Research Focus: Exploring access control methods and tools in information security.</a:t>
          </a:r>
        </a:p>
      </dgm:t>
    </dgm:pt>
    <dgm:pt modelId="{B95D8BFD-34EA-411C-98C4-A9CDB4E16F7A}" type="parTrans" cxnId="{A15C174E-D0F9-4953-A439-27EFE45C1238}">
      <dgm:prSet/>
      <dgm:spPr/>
      <dgm:t>
        <a:bodyPr/>
        <a:lstStyle/>
        <a:p>
          <a:endParaRPr lang="en-US"/>
        </a:p>
      </dgm:t>
    </dgm:pt>
    <dgm:pt modelId="{15FCE06D-49E5-45B4-8B23-E5EC934DA3AC}" type="sibTrans" cxnId="{A15C174E-D0F9-4953-A439-27EFE45C1238}">
      <dgm:prSet phldrT="2" phldr="0"/>
      <dgm:spPr/>
      <dgm:t>
        <a:bodyPr/>
        <a:lstStyle/>
        <a:p>
          <a:r>
            <a:rPr lang="en-US"/>
            <a:t>2</a:t>
          </a:r>
        </a:p>
      </dgm:t>
    </dgm:pt>
    <dgm:pt modelId="{D7BAADE0-1A47-49AF-BE91-736772A5E29C}">
      <dgm:prSet/>
      <dgm:spPr/>
      <dgm:t>
        <a:bodyPr/>
        <a:lstStyle/>
        <a:p>
          <a:r>
            <a:rPr lang="en-US" dirty="0"/>
            <a:t>Aim: To give a clear overview of access control concepts and how they are applied in real life real-world applications</a:t>
          </a:r>
        </a:p>
      </dgm:t>
    </dgm:pt>
    <dgm:pt modelId="{681047D3-9B56-4C6A-B377-ABAE050CD825}" type="parTrans" cxnId="{75C3555A-9616-424B-AD92-7E702A4BC1F5}">
      <dgm:prSet/>
      <dgm:spPr/>
      <dgm:t>
        <a:bodyPr/>
        <a:lstStyle/>
        <a:p>
          <a:endParaRPr lang="en-US"/>
        </a:p>
      </dgm:t>
    </dgm:pt>
    <dgm:pt modelId="{2D882532-A294-4ACE-A82E-58EBFA515DBD}" type="sibTrans" cxnId="{75C3555A-9616-424B-AD92-7E702A4BC1F5}">
      <dgm:prSet phldrT="3" phldr="0"/>
      <dgm:spPr/>
      <dgm:t>
        <a:bodyPr/>
        <a:lstStyle/>
        <a:p>
          <a:r>
            <a:rPr lang="en-US"/>
            <a:t>3</a:t>
          </a:r>
        </a:p>
      </dgm:t>
    </dgm:pt>
    <dgm:pt modelId="{8E4A9A77-4AB2-664C-B3E9-EF473F5C08E1}" type="pres">
      <dgm:prSet presAssocID="{E34AE3F8-49ED-46FF-9606-48A615948FB7}" presName="Name0" presStyleCnt="0">
        <dgm:presLayoutVars>
          <dgm:animLvl val="lvl"/>
          <dgm:resizeHandles val="exact"/>
        </dgm:presLayoutVars>
      </dgm:prSet>
      <dgm:spPr/>
    </dgm:pt>
    <dgm:pt modelId="{C6A7BD50-0AF7-F044-89FD-57F823F9D476}" type="pres">
      <dgm:prSet presAssocID="{A501878F-3718-4835-81AC-65A36C45FFD4}" presName="compositeNode" presStyleCnt="0">
        <dgm:presLayoutVars>
          <dgm:bulletEnabled val="1"/>
        </dgm:presLayoutVars>
      </dgm:prSet>
      <dgm:spPr/>
    </dgm:pt>
    <dgm:pt modelId="{08BB269F-5924-E242-A837-FADA5A6346F2}" type="pres">
      <dgm:prSet presAssocID="{A501878F-3718-4835-81AC-65A36C45FFD4}" presName="bgRect" presStyleLbl="bgAccFollowNode1" presStyleIdx="0" presStyleCnt="3"/>
      <dgm:spPr/>
    </dgm:pt>
    <dgm:pt modelId="{1AF23F3C-4FD8-254E-B08A-91DA0F43AED0}" type="pres">
      <dgm:prSet presAssocID="{7D76CCD3-10C2-42F0-8760-5C8F321EDA8C}" presName="sibTransNodeCircle" presStyleLbl="alignNode1" presStyleIdx="0" presStyleCnt="6">
        <dgm:presLayoutVars>
          <dgm:chMax val="0"/>
          <dgm:bulletEnabled/>
        </dgm:presLayoutVars>
      </dgm:prSet>
      <dgm:spPr/>
    </dgm:pt>
    <dgm:pt modelId="{EC0D8F06-2B16-AE40-B9BB-ED64C4350341}" type="pres">
      <dgm:prSet presAssocID="{A501878F-3718-4835-81AC-65A36C45FFD4}" presName="bottomLine" presStyleLbl="alignNode1" presStyleIdx="1" presStyleCnt="6">
        <dgm:presLayoutVars/>
      </dgm:prSet>
      <dgm:spPr/>
    </dgm:pt>
    <dgm:pt modelId="{870E74D1-458A-2E4E-92B6-27B6C3118929}" type="pres">
      <dgm:prSet presAssocID="{A501878F-3718-4835-81AC-65A36C45FFD4}" presName="nodeText" presStyleLbl="bgAccFollowNode1" presStyleIdx="0" presStyleCnt="3">
        <dgm:presLayoutVars>
          <dgm:bulletEnabled val="1"/>
        </dgm:presLayoutVars>
      </dgm:prSet>
      <dgm:spPr/>
    </dgm:pt>
    <dgm:pt modelId="{EE4BA0E7-BE10-564F-8A27-AF683F705530}" type="pres">
      <dgm:prSet presAssocID="{7D76CCD3-10C2-42F0-8760-5C8F321EDA8C}" presName="sibTrans" presStyleCnt="0"/>
      <dgm:spPr/>
    </dgm:pt>
    <dgm:pt modelId="{19AF7285-9D1C-1E4A-A305-7D3C027C3C0C}" type="pres">
      <dgm:prSet presAssocID="{03A6F698-31F3-4D65-BF94-7597A83430F2}" presName="compositeNode" presStyleCnt="0">
        <dgm:presLayoutVars>
          <dgm:bulletEnabled val="1"/>
        </dgm:presLayoutVars>
      </dgm:prSet>
      <dgm:spPr/>
    </dgm:pt>
    <dgm:pt modelId="{10C86DB8-6FB0-9F4D-85C4-E5D6DED1B44B}" type="pres">
      <dgm:prSet presAssocID="{03A6F698-31F3-4D65-BF94-7597A83430F2}" presName="bgRect" presStyleLbl="bgAccFollowNode1" presStyleIdx="1" presStyleCnt="3"/>
      <dgm:spPr/>
    </dgm:pt>
    <dgm:pt modelId="{8490F7F4-FA87-B140-88AB-E26157D30FF8}" type="pres">
      <dgm:prSet presAssocID="{15FCE06D-49E5-45B4-8B23-E5EC934DA3AC}" presName="sibTransNodeCircle" presStyleLbl="alignNode1" presStyleIdx="2" presStyleCnt="6">
        <dgm:presLayoutVars>
          <dgm:chMax val="0"/>
          <dgm:bulletEnabled/>
        </dgm:presLayoutVars>
      </dgm:prSet>
      <dgm:spPr/>
    </dgm:pt>
    <dgm:pt modelId="{70A0016B-1A2F-EE49-9D6F-1B4E8246D36E}" type="pres">
      <dgm:prSet presAssocID="{03A6F698-31F3-4D65-BF94-7597A83430F2}" presName="bottomLine" presStyleLbl="alignNode1" presStyleIdx="3" presStyleCnt="6">
        <dgm:presLayoutVars/>
      </dgm:prSet>
      <dgm:spPr/>
    </dgm:pt>
    <dgm:pt modelId="{680D82EB-478D-0244-94F8-D88E74B33678}" type="pres">
      <dgm:prSet presAssocID="{03A6F698-31F3-4D65-BF94-7597A83430F2}" presName="nodeText" presStyleLbl="bgAccFollowNode1" presStyleIdx="1" presStyleCnt="3">
        <dgm:presLayoutVars>
          <dgm:bulletEnabled val="1"/>
        </dgm:presLayoutVars>
      </dgm:prSet>
      <dgm:spPr/>
    </dgm:pt>
    <dgm:pt modelId="{5B2F4E53-9926-C64F-8329-CE6CEAE5226A}" type="pres">
      <dgm:prSet presAssocID="{15FCE06D-49E5-45B4-8B23-E5EC934DA3AC}" presName="sibTrans" presStyleCnt="0"/>
      <dgm:spPr/>
    </dgm:pt>
    <dgm:pt modelId="{A5D0112D-D88E-EE42-85C5-6AD591A2D8A2}" type="pres">
      <dgm:prSet presAssocID="{D7BAADE0-1A47-49AF-BE91-736772A5E29C}" presName="compositeNode" presStyleCnt="0">
        <dgm:presLayoutVars>
          <dgm:bulletEnabled val="1"/>
        </dgm:presLayoutVars>
      </dgm:prSet>
      <dgm:spPr/>
    </dgm:pt>
    <dgm:pt modelId="{B5C9919D-5B90-E94C-ADA6-3E0D04197F85}" type="pres">
      <dgm:prSet presAssocID="{D7BAADE0-1A47-49AF-BE91-736772A5E29C}" presName="bgRect" presStyleLbl="bgAccFollowNode1" presStyleIdx="2" presStyleCnt="3"/>
      <dgm:spPr/>
    </dgm:pt>
    <dgm:pt modelId="{D9642108-13CB-434B-ACCB-AAA7871DFE77}" type="pres">
      <dgm:prSet presAssocID="{2D882532-A294-4ACE-A82E-58EBFA515DBD}" presName="sibTransNodeCircle" presStyleLbl="alignNode1" presStyleIdx="4" presStyleCnt="6">
        <dgm:presLayoutVars>
          <dgm:chMax val="0"/>
          <dgm:bulletEnabled/>
        </dgm:presLayoutVars>
      </dgm:prSet>
      <dgm:spPr/>
    </dgm:pt>
    <dgm:pt modelId="{D12E5440-EE3A-4A41-86AB-0C64419FB3F3}" type="pres">
      <dgm:prSet presAssocID="{D7BAADE0-1A47-49AF-BE91-736772A5E29C}" presName="bottomLine" presStyleLbl="alignNode1" presStyleIdx="5" presStyleCnt="6">
        <dgm:presLayoutVars/>
      </dgm:prSet>
      <dgm:spPr/>
    </dgm:pt>
    <dgm:pt modelId="{2503FA64-16C2-1344-91CF-81B5C73BE6C1}" type="pres">
      <dgm:prSet presAssocID="{D7BAADE0-1A47-49AF-BE91-736772A5E29C}" presName="nodeText" presStyleLbl="bgAccFollowNode1" presStyleIdx="2" presStyleCnt="3">
        <dgm:presLayoutVars>
          <dgm:bulletEnabled val="1"/>
        </dgm:presLayoutVars>
      </dgm:prSet>
      <dgm:spPr/>
    </dgm:pt>
  </dgm:ptLst>
  <dgm:cxnLst>
    <dgm:cxn modelId="{30A55703-355F-0645-8BB4-616F0C7E9153}" type="presOf" srcId="{03A6F698-31F3-4D65-BF94-7597A83430F2}" destId="{10C86DB8-6FB0-9F4D-85C4-E5D6DED1B44B}" srcOrd="0" destOrd="0" presId="urn:microsoft.com/office/officeart/2016/7/layout/BasicLinearProcessNumbered"/>
    <dgm:cxn modelId="{EB6CDB04-749E-1E4E-A941-1627F96A1ECE}" type="presOf" srcId="{A501878F-3718-4835-81AC-65A36C45FFD4}" destId="{870E74D1-458A-2E4E-92B6-27B6C3118929}" srcOrd="1" destOrd="0" presId="urn:microsoft.com/office/officeart/2016/7/layout/BasicLinearProcessNumbered"/>
    <dgm:cxn modelId="{40028722-88A9-1B4F-A36A-E7784936CB52}" type="presOf" srcId="{03A6F698-31F3-4D65-BF94-7597A83430F2}" destId="{680D82EB-478D-0244-94F8-D88E74B33678}" srcOrd="1" destOrd="0" presId="urn:microsoft.com/office/officeart/2016/7/layout/BasicLinearProcessNumbered"/>
    <dgm:cxn modelId="{A15C174E-D0F9-4953-A439-27EFE45C1238}" srcId="{E34AE3F8-49ED-46FF-9606-48A615948FB7}" destId="{03A6F698-31F3-4D65-BF94-7597A83430F2}" srcOrd="1" destOrd="0" parTransId="{B95D8BFD-34EA-411C-98C4-A9CDB4E16F7A}" sibTransId="{15FCE06D-49E5-45B4-8B23-E5EC934DA3AC}"/>
    <dgm:cxn modelId="{FFEDD354-EE04-4849-ADBB-F93517939857}" type="presOf" srcId="{2D882532-A294-4ACE-A82E-58EBFA515DBD}" destId="{D9642108-13CB-434B-ACCB-AAA7871DFE77}" srcOrd="0" destOrd="0" presId="urn:microsoft.com/office/officeart/2016/7/layout/BasicLinearProcessNumbered"/>
    <dgm:cxn modelId="{75C3555A-9616-424B-AD92-7E702A4BC1F5}" srcId="{E34AE3F8-49ED-46FF-9606-48A615948FB7}" destId="{D7BAADE0-1A47-49AF-BE91-736772A5E29C}" srcOrd="2" destOrd="0" parTransId="{681047D3-9B56-4C6A-B377-ABAE050CD825}" sibTransId="{2D882532-A294-4ACE-A82E-58EBFA515DBD}"/>
    <dgm:cxn modelId="{13DA778B-A356-C44C-93D3-E4581373DEE7}" type="presOf" srcId="{E34AE3F8-49ED-46FF-9606-48A615948FB7}" destId="{8E4A9A77-4AB2-664C-B3E9-EF473F5C08E1}" srcOrd="0" destOrd="0" presId="urn:microsoft.com/office/officeart/2016/7/layout/BasicLinearProcessNumbered"/>
    <dgm:cxn modelId="{5EC3B08C-D6D3-E84F-A76C-8C93C6F9B505}" type="presOf" srcId="{D7BAADE0-1A47-49AF-BE91-736772A5E29C}" destId="{2503FA64-16C2-1344-91CF-81B5C73BE6C1}" srcOrd="1" destOrd="0" presId="urn:microsoft.com/office/officeart/2016/7/layout/BasicLinearProcessNumbered"/>
    <dgm:cxn modelId="{ED251BB2-2587-074D-BCC7-288C600C617A}" type="presOf" srcId="{D7BAADE0-1A47-49AF-BE91-736772A5E29C}" destId="{B5C9919D-5B90-E94C-ADA6-3E0D04197F85}" srcOrd="0" destOrd="0" presId="urn:microsoft.com/office/officeart/2016/7/layout/BasicLinearProcessNumbered"/>
    <dgm:cxn modelId="{7BB1CBB7-BC1C-2343-840F-D34BA1715B7E}" type="presOf" srcId="{7D76CCD3-10C2-42F0-8760-5C8F321EDA8C}" destId="{1AF23F3C-4FD8-254E-B08A-91DA0F43AED0}" srcOrd="0" destOrd="0" presId="urn:microsoft.com/office/officeart/2016/7/layout/BasicLinearProcessNumbered"/>
    <dgm:cxn modelId="{7250A1CF-F321-C549-B36F-55D9BD94C434}" type="presOf" srcId="{A501878F-3718-4835-81AC-65A36C45FFD4}" destId="{08BB269F-5924-E242-A837-FADA5A6346F2}" srcOrd="0" destOrd="0" presId="urn:microsoft.com/office/officeart/2016/7/layout/BasicLinearProcessNumbered"/>
    <dgm:cxn modelId="{C88D9FDA-79C5-4EC5-826F-66296EA9F7EE}" srcId="{E34AE3F8-49ED-46FF-9606-48A615948FB7}" destId="{A501878F-3718-4835-81AC-65A36C45FFD4}" srcOrd="0" destOrd="0" parTransId="{BCCE4565-6A57-43CA-8323-26099DF1C993}" sibTransId="{7D76CCD3-10C2-42F0-8760-5C8F321EDA8C}"/>
    <dgm:cxn modelId="{2DF4DCF6-2FC7-B143-BAEB-B9FDEE99351D}" type="presOf" srcId="{15FCE06D-49E5-45B4-8B23-E5EC934DA3AC}" destId="{8490F7F4-FA87-B140-88AB-E26157D30FF8}" srcOrd="0" destOrd="0" presId="urn:microsoft.com/office/officeart/2016/7/layout/BasicLinearProcessNumbered"/>
    <dgm:cxn modelId="{AA479B72-26DF-2448-9436-7A5AD0674AB9}" type="presParOf" srcId="{8E4A9A77-4AB2-664C-B3E9-EF473F5C08E1}" destId="{C6A7BD50-0AF7-F044-89FD-57F823F9D476}" srcOrd="0" destOrd="0" presId="urn:microsoft.com/office/officeart/2016/7/layout/BasicLinearProcessNumbered"/>
    <dgm:cxn modelId="{807A6A43-C5A8-0F40-8627-575DDD99B093}" type="presParOf" srcId="{C6A7BD50-0AF7-F044-89FD-57F823F9D476}" destId="{08BB269F-5924-E242-A837-FADA5A6346F2}" srcOrd="0" destOrd="0" presId="urn:microsoft.com/office/officeart/2016/7/layout/BasicLinearProcessNumbered"/>
    <dgm:cxn modelId="{9E5A9737-36FC-BD45-B70C-9A4C292CC1A0}" type="presParOf" srcId="{C6A7BD50-0AF7-F044-89FD-57F823F9D476}" destId="{1AF23F3C-4FD8-254E-B08A-91DA0F43AED0}" srcOrd="1" destOrd="0" presId="urn:microsoft.com/office/officeart/2016/7/layout/BasicLinearProcessNumbered"/>
    <dgm:cxn modelId="{752E9BB3-B3F1-5F40-9176-802BEC730EFA}" type="presParOf" srcId="{C6A7BD50-0AF7-F044-89FD-57F823F9D476}" destId="{EC0D8F06-2B16-AE40-B9BB-ED64C4350341}" srcOrd="2" destOrd="0" presId="urn:microsoft.com/office/officeart/2016/7/layout/BasicLinearProcessNumbered"/>
    <dgm:cxn modelId="{A5169D47-F6F0-1A49-8A57-5C2FC7FAC945}" type="presParOf" srcId="{C6A7BD50-0AF7-F044-89FD-57F823F9D476}" destId="{870E74D1-458A-2E4E-92B6-27B6C3118929}" srcOrd="3" destOrd="0" presId="urn:microsoft.com/office/officeart/2016/7/layout/BasicLinearProcessNumbered"/>
    <dgm:cxn modelId="{AD169B31-1C9A-A442-B39F-E7FAE6614882}" type="presParOf" srcId="{8E4A9A77-4AB2-664C-B3E9-EF473F5C08E1}" destId="{EE4BA0E7-BE10-564F-8A27-AF683F705530}" srcOrd="1" destOrd="0" presId="urn:microsoft.com/office/officeart/2016/7/layout/BasicLinearProcessNumbered"/>
    <dgm:cxn modelId="{9EA01546-D535-684F-8C5B-10BDF7D900A3}" type="presParOf" srcId="{8E4A9A77-4AB2-664C-B3E9-EF473F5C08E1}" destId="{19AF7285-9D1C-1E4A-A305-7D3C027C3C0C}" srcOrd="2" destOrd="0" presId="urn:microsoft.com/office/officeart/2016/7/layout/BasicLinearProcessNumbered"/>
    <dgm:cxn modelId="{3CE5AD45-00D1-6141-9C26-C6CECEC6ED87}" type="presParOf" srcId="{19AF7285-9D1C-1E4A-A305-7D3C027C3C0C}" destId="{10C86DB8-6FB0-9F4D-85C4-E5D6DED1B44B}" srcOrd="0" destOrd="0" presId="urn:microsoft.com/office/officeart/2016/7/layout/BasicLinearProcessNumbered"/>
    <dgm:cxn modelId="{305C6210-F4BA-154E-9824-54BA595F66D6}" type="presParOf" srcId="{19AF7285-9D1C-1E4A-A305-7D3C027C3C0C}" destId="{8490F7F4-FA87-B140-88AB-E26157D30FF8}" srcOrd="1" destOrd="0" presId="urn:microsoft.com/office/officeart/2016/7/layout/BasicLinearProcessNumbered"/>
    <dgm:cxn modelId="{E18B52DA-A157-C744-91D9-065D345DA7E8}" type="presParOf" srcId="{19AF7285-9D1C-1E4A-A305-7D3C027C3C0C}" destId="{70A0016B-1A2F-EE49-9D6F-1B4E8246D36E}" srcOrd="2" destOrd="0" presId="urn:microsoft.com/office/officeart/2016/7/layout/BasicLinearProcessNumbered"/>
    <dgm:cxn modelId="{6E11D9F0-D2B2-1C4C-BBDD-B7337DB34FAD}" type="presParOf" srcId="{19AF7285-9D1C-1E4A-A305-7D3C027C3C0C}" destId="{680D82EB-478D-0244-94F8-D88E74B33678}" srcOrd="3" destOrd="0" presId="urn:microsoft.com/office/officeart/2016/7/layout/BasicLinearProcessNumbered"/>
    <dgm:cxn modelId="{07F47F76-D6E5-CA46-A472-132623A9FCCF}" type="presParOf" srcId="{8E4A9A77-4AB2-664C-B3E9-EF473F5C08E1}" destId="{5B2F4E53-9926-C64F-8329-CE6CEAE5226A}" srcOrd="3" destOrd="0" presId="urn:microsoft.com/office/officeart/2016/7/layout/BasicLinearProcessNumbered"/>
    <dgm:cxn modelId="{C4E43A89-0E76-8844-BFE5-1C0B9AE438D3}" type="presParOf" srcId="{8E4A9A77-4AB2-664C-B3E9-EF473F5C08E1}" destId="{A5D0112D-D88E-EE42-85C5-6AD591A2D8A2}" srcOrd="4" destOrd="0" presId="urn:microsoft.com/office/officeart/2016/7/layout/BasicLinearProcessNumbered"/>
    <dgm:cxn modelId="{33D9012D-D8CF-1144-AECD-4D7A1EC42676}" type="presParOf" srcId="{A5D0112D-D88E-EE42-85C5-6AD591A2D8A2}" destId="{B5C9919D-5B90-E94C-ADA6-3E0D04197F85}" srcOrd="0" destOrd="0" presId="urn:microsoft.com/office/officeart/2016/7/layout/BasicLinearProcessNumbered"/>
    <dgm:cxn modelId="{2FE60D69-DD6E-7849-B19F-C509A3003BF7}" type="presParOf" srcId="{A5D0112D-D88E-EE42-85C5-6AD591A2D8A2}" destId="{D9642108-13CB-434B-ACCB-AAA7871DFE77}" srcOrd="1" destOrd="0" presId="urn:microsoft.com/office/officeart/2016/7/layout/BasicLinearProcessNumbered"/>
    <dgm:cxn modelId="{05E8ED2B-4566-A84E-A197-B6548AB1527C}" type="presParOf" srcId="{A5D0112D-D88E-EE42-85C5-6AD591A2D8A2}" destId="{D12E5440-EE3A-4A41-86AB-0C64419FB3F3}" srcOrd="2" destOrd="0" presId="urn:microsoft.com/office/officeart/2016/7/layout/BasicLinearProcessNumbered"/>
    <dgm:cxn modelId="{AA2A309D-A7D4-E84D-8B6D-997F673C1393}" type="presParOf" srcId="{A5D0112D-D88E-EE42-85C5-6AD591A2D8A2}" destId="{2503FA64-16C2-1344-91CF-81B5C73BE6C1}"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9F6237-F5DA-4262-A64A-079B9BB1E099}"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331B7512-BE97-4A59-8D6D-F47AC8F9CD8F}">
      <dgm:prSet/>
      <dgm:spPr/>
      <dgm:t>
        <a:bodyPr/>
        <a:lstStyle/>
        <a:p>
          <a:r>
            <a:rPr lang="en-US"/>
            <a:t>Least Privilege</a:t>
          </a:r>
        </a:p>
      </dgm:t>
    </dgm:pt>
    <dgm:pt modelId="{C5EA2273-8F1C-4209-B819-C7D5B6106E68}" type="parTrans" cxnId="{D9B9E9BF-0A45-4EB8-A56B-942F21160937}">
      <dgm:prSet/>
      <dgm:spPr/>
      <dgm:t>
        <a:bodyPr/>
        <a:lstStyle/>
        <a:p>
          <a:endParaRPr lang="en-US"/>
        </a:p>
      </dgm:t>
    </dgm:pt>
    <dgm:pt modelId="{D643A1A8-6CE4-4FCF-9D14-FEEDAC77FDCB}" type="sibTrans" cxnId="{D9B9E9BF-0A45-4EB8-A56B-942F21160937}">
      <dgm:prSet/>
      <dgm:spPr/>
      <dgm:t>
        <a:bodyPr/>
        <a:lstStyle/>
        <a:p>
          <a:endParaRPr lang="en-US"/>
        </a:p>
      </dgm:t>
    </dgm:pt>
    <dgm:pt modelId="{BBF8B19C-1D19-40D2-B80C-88F7F67EB7F1}">
      <dgm:prSet/>
      <dgm:spPr/>
      <dgm:t>
        <a:bodyPr/>
        <a:lstStyle/>
        <a:p>
          <a:r>
            <a:rPr lang="en-US"/>
            <a:t>Separation of Duties (SoD)</a:t>
          </a:r>
        </a:p>
      </dgm:t>
    </dgm:pt>
    <dgm:pt modelId="{4FAD3CD9-E6E9-42AE-AC0D-C800145317B9}" type="parTrans" cxnId="{F1BCD5F4-015A-4777-87D2-543C6C004756}">
      <dgm:prSet/>
      <dgm:spPr/>
      <dgm:t>
        <a:bodyPr/>
        <a:lstStyle/>
        <a:p>
          <a:endParaRPr lang="en-US"/>
        </a:p>
      </dgm:t>
    </dgm:pt>
    <dgm:pt modelId="{6C876E59-3E6C-41C2-B598-125058290EFE}" type="sibTrans" cxnId="{F1BCD5F4-015A-4777-87D2-543C6C004756}">
      <dgm:prSet/>
      <dgm:spPr/>
      <dgm:t>
        <a:bodyPr/>
        <a:lstStyle/>
        <a:p>
          <a:endParaRPr lang="en-US"/>
        </a:p>
      </dgm:t>
    </dgm:pt>
    <dgm:pt modelId="{3B939265-F4E5-41E3-A1D8-DCA2224295C2}">
      <dgm:prSet/>
      <dgm:spPr/>
      <dgm:t>
        <a:bodyPr/>
        <a:lstStyle/>
        <a:p>
          <a:r>
            <a:rPr lang="en-US"/>
            <a:t>Need-to-Know</a:t>
          </a:r>
        </a:p>
      </dgm:t>
    </dgm:pt>
    <dgm:pt modelId="{D1558F6A-9204-4F13-AA63-9C8ABA90E6BA}" type="parTrans" cxnId="{916489A2-829A-40F7-801C-B7E886CCA291}">
      <dgm:prSet/>
      <dgm:spPr/>
      <dgm:t>
        <a:bodyPr/>
        <a:lstStyle/>
        <a:p>
          <a:endParaRPr lang="en-US"/>
        </a:p>
      </dgm:t>
    </dgm:pt>
    <dgm:pt modelId="{A7FA04C9-16B3-4D92-B9C1-B89B4ADB2D37}" type="sibTrans" cxnId="{916489A2-829A-40F7-801C-B7E886CCA291}">
      <dgm:prSet/>
      <dgm:spPr/>
      <dgm:t>
        <a:bodyPr/>
        <a:lstStyle/>
        <a:p>
          <a:endParaRPr lang="en-US"/>
        </a:p>
      </dgm:t>
    </dgm:pt>
    <dgm:pt modelId="{15EA610A-2F9B-44C3-8951-A76A0AA41260}">
      <dgm:prSet/>
      <dgm:spPr/>
      <dgm:t>
        <a:bodyPr/>
        <a:lstStyle/>
        <a:p>
          <a:r>
            <a:rPr lang="en-US"/>
            <a:t>Defense in Depth</a:t>
          </a:r>
        </a:p>
      </dgm:t>
    </dgm:pt>
    <dgm:pt modelId="{2B2F07C6-10AB-40A7-B0FD-0E29E6DE110C}" type="parTrans" cxnId="{3EF09DA3-FD85-4F41-9F3F-6FE327334F61}">
      <dgm:prSet/>
      <dgm:spPr/>
      <dgm:t>
        <a:bodyPr/>
        <a:lstStyle/>
        <a:p>
          <a:endParaRPr lang="en-US"/>
        </a:p>
      </dgm:t>
    </dgm:pt>
    <dgm:pt modelId="{F97139F6-4B4B-4D2B-ABC2-2C7FBC91FF54}" type="sibTrans" cxnId="{3EF09DA3-FD85-4F41-9F3F-6FE327334F61}">
      <dgm:prSet/>
      <dgm:spPr/>
      <dgm:t>
        <a:bodyPr/>
        <a:lstStyle/>
        <a:p>
          <a:endParaRPr lang="en-US"/>
        </a:p>
      </dgm:t>
    </dgm:pt>
    <dgm:pt modelId="{98B81654-BEB5-3A40-9F81-6F807724558B}" type="pres">
      <dgm:prSet presAssocID="{719F6237-F5DA-4262-A64A-079B9BB1E099}" presName="vert0" presStyleCnt="0">
        <dgm:presLayoutVars>
          <dgm:dir/>
          <dgm:animOne val="branch"/>
          <dgm:animLvl val="lvl"/>
        </dgm:presLayoutVars>
      </dgm:prSet>
      <dgm:spPr/>
    </dgm:pt>
    <dgm:pt modelId="{9EBDD568-1346-4043-B7AD-81496D9293B0}" type="pres">
      <dgm:prSet presAssocID="{331B7512-BE97-4A59-8D6D-F47AC8F9CD8F}" presName="thickLine" presStyleLbl="alignNode1" presStyleIdx="0" presStyleCnt="4"/>
      <dgm:spPr/>
    </dgm:pt>
    <dgm:pt modelId="{5E1AA543-57F9-2345-A667-6F670F3CE5B0}" type="pres">
      <dgm:prSet presAssocID="{331B7512-BE97-4A59-8D6D-F47AC8F9CD8F}" presName="horz1" presStyleCnt="0"/>
      <dgm:spPr/>
    </dgm:pt>
    <dgm:pt modelId="{FDBD8153-2842-CA44-9852-613EF4F0B7D0}" type="pres">
      <dgm:prSet presAssocID="{331B7512-BE97-4A59-8D6D-F47AC8F9CD8F}" presName="tx1" presStyleLbl="revTx" presStyleIdx="0" presStyleCnt="4"/>
      <dgm:spPr/>
    </dgm:pt>
    <dgm:pt modelId="{2DF11FF9-AD92-3746-9894-88148DE4D292}" type="pres">
      <dgm:prSet presAssocID="{331B7512-BE97-4A59-8D6D-F47AC8F9CD8F}" presName="vert1" presStyleCnt="0"/>
      <dgm:spPr/>
    </dgm:pt>
    <dgm:pt modelId="{877968A0-3A11-454F-A74F-9D7B961B4CC3}" type="pres">
      <dgm:prSet presAssocID="{BBF8B19C-1D19-40D2-B80C-88F7F67EB7F1}" presName="thickLine" presStyleLbl="alignNode1" presStyleIdx="1" presStyleCnt="4"/>
      <dgm:spPr/>
    </dgm:pt>
    <dgm:pt modelId="{79FB3BE6-B9AF-7646-8070-EBE70FC284F3}" type="pres">
      <dgm:prSet presAssocID="{BBF8B19C-1D19-40D2-B80C-88F7F67EB7F1}" presName="horz1" presStyleCnt="0"/>
      <dgm:spPr/>
    </dgm:pt>
    <dgm:pt modelId="{508C505F-CE4D-D446-A95C-8995F13F224E}" type="pres">
      <dgm:prSet presAssocID="{BBF8B19C-1D19-40D2-B80C-88F7F67EB7F1}" presName="tx1" presStyleLbl="revTx" presStyleIdx="1" presStyleCnt="4"/>
      <dgm:spPr/>
    </dgm:pt>
    <dgm:pt modelId="{660016E8-0902-0F46-ABE7-E484B0B6D754}" type="pres">
      <dgm:prSet presAssocID="{BBF8B19C-1D19-40D2-B80C-88F7F67EB7F1}" presName="vert1" presStyleCnt="0"/>
      <dgm:spPr/>
    </dgm:pt>
    <dgm:pt modelId="{DCD2FA54-C10A-324B-9A80-1EC23CA1217C}" type="pres">
      <dgm:prSet presAssocID="{3B939265-F4E5-41E3-A1D8-DCA2224295C2}" presName="thickLine" presStyleLbl="alignNode1" presStyleIdx="2" presStyleCnt="4"/>
      <dgm:spPr/>
    </dgm:pt>
    <dgm:pt modelId="{22B6B1BD-0C80-8746-8EA5-1A116F2B3CFE}" type="pres">
      <dgm:prSet presAssocID="{3B939265-F4E5-41E3-A1D8-DCA2224295C2}" presName="horz1" presStyleCnt="0"/>
      <dgm:spPr/>
    </dgm:pt>
    <dgm:pt modelId="{52032886-7E42-3E43-9B11-F2B0E06BC1C8}" type="pres">
      <dgm:prSet presAssocID="{3B939265-F4E5-41E3-A1D8-DCA2224295C2}" presName="tx1" presStyleLbl="revTx" presStyleIdx="2" presStyleCnt="4"/>
      <dgm:spPr/>
    </dgm:pt>
    <dgm:pt modelId="{293BF38D-F9C9-4B46-BB86-782A65364D80}" type="pres">
      <dgm:prSet presAssocID="{3B939265-F4E5-41E3-A1D8-DCA2224295C2}" presName="vert1" presStyleCnt="0"/>
      <dgm:spPr/>
    </dgm:pt>
    <dgm:pt modelId="{8F00D927-A0A6-E844-826F-1EA0B09A4539}" type="pres">
      <dgm:prSet presAssocID="{15EA610A-2F9B-44C3-8951-A76A0AA41260}" presName="thickLine" presStyleLbl="alignNode1" presStyleIdx="3" presStyleCnt="4"/>
      <dgm:spPr/>
    </dgm:pt>
    <dgm:pt modelId="{0A2CC08B-E46B-704B-B7C3-41FF5517070E}" type="pres">
      <dgm:prSet presAssocID="{15EA610A-2F9B-44C3-8951-A76A0AA41260}" presName="horz1" presStyleCnt="0"/>
      <dgm:spPr/>
    </dgm:pt>
    <dgm:pt modelId="{B3A66D18-16CE-8343-BF0F-962685476056}" type="pres">
      <dgm:prSet presAssocID="{15EA610A-2F9B-44C3-8951-A76A0AA41260}" presName="tx1" presStyleLbl="revTx" presStyleIdx="3" presStyleCnt="4"/>
      <dgm:spPr/>
    </dgm:pt>
    <dgm:pt modelId="{FA79FF37-B244-5647-9434-F0B60EA0CA11}" type="pres">
      <dgm:prSet presAssocID="{15EA610A-2F9B-44C3-8951-A76A0AA41260}" presName="vert1" presStyleCnt="0"/>
      <dgm:spPr/>
    </dgm:pt>
  </dgm:ptLst>
  <dgm:cxnLst>
    <dgm:cxn modelId="{25518856-AB15-E14F-ACAD-B5C3079B5E05}" type="presOf" srcId="{719F6237-F5DA-4262-A64A-079B9BB1E099}" destId="{98B81654-BEB5-3A40-9F81-6F807724558B}" srcOrd="0" destOrd="0" presId="urn:microsoft.com/office/officeart/2008/layout/LinedList"/>
    <dgm:cxn modelId="{E6ACA78F-4102-FB4D-8325-FEF5A1E6303C}" type="presOf" srcId="{3B939265-F4E5-41E3-A1D8-DCA2224295C2}" destId="{52032886-7E42-3E43-9B11-F2B0E06BC1C8}" srcOrd="0" destOrd="0" presId="urn:microsoft.com/office/officeart/2008/layout/LinedList"/>
    <dgm:cxn modelId="{ADC34992-16FB-3B49-90AB-1413E6AE9D94}" type="presOf" srcId="{15EA610A-2F9B-44C3-8951-A76A0AA41260}" destId="{B3A66D18-16CE-8343-BF0F-962685476056}" srcOrd="0" destOrd="0" presId="urn:microsoft.com/office/officeart/2008/layout/LinedList"/>
    <dgm:cxn modelId="{916489A2-829A-40F7-801C-B7E886CCA291}" srcId="{719F6237-F5DA-4262-A64A-079B9BB1E099}" destId="{3B939265-F4E5-41E3-A1D8-DCA2224295C2}" srcOrd="2" destOrd="0" parTransId="{D1558F6A-9204-4F13-AA63-9C8ABA90E6BA}" sibTransId="{A7FA04C9-16B3-4D92-B9C1-B89B4ADB2D37}"/>
    <dgm:cxn modelId="{3EF09DA3-FD85-4F41-9F3F-6FE327334F61}" srcId="{719F6237-F5DA-4262-A64A-079B9BB1E099}" destId="{15EA610A-2F9B-44C3-8951-A76A0AA41260}" srcOrd="3" destOrd="0" parTransId="{2B2F07C6-10AB-40A7-B0FD-0E29E6DE110C}" sibTransId="{F97139F6-4B4B-4D2B-ABC2-2C7FBC91FF54}"/>
    <dgm:cxn modelId="{AFEDF1B1-5599-B047-89BA-AE4EDE8DA73B}" type="presOf" srcId="{331B7512-BE97-4A59-8D6D-F47AC8F9CD8F}" destId="{FDBD8153-2842-CA44-9852-613EF4F0B7D0}" srcOrd="0" destOrd="0" presId="urn:microsoft.com/office/officeart/2008/layout/LinedList"/>
    <dgm:cxn modelId="{D9B9E9BF-0A45-4EB8-A56B-942F21160937}" srcId="{719F6237-F5DA-4262-A64A-079B9BB1E099}" destId="{331B7512-BE97-4A59-8D6D-F47AC8F9CD8F}" srcOrd="0" destOrd="0" parTransId="{C5EA2273-8F1C-4209-B819-C7D5B6106E68}" sibTransId="{D643A1A8-6CE4-4FCF-9D14-FEEDAC77FDCB}"/>
    <dgm:cxn modelId="{EDDC2CC8-8B72-034F-A7C6-95694E90B556}" type="presOf" srcId="{BBF8B19C-1D19-40D2-B80C-88F7F67EB7F1}" destId="{508C505F-CE4D-D446-A95C-8995F13F224E}" srcOrd="0" destOrd="0" presId="urn:microsoft.com/office/officeart/2008/layout/LinedList"/>
    <dgm:cxn modelId="{F1BCD5F4-015A-4777-87D2-543C6C004756}" srcId="{719F6237-F5DA-4262-A64A-079B9BB1E099}" destId="{BBF8B19C-1D19-40D2-B80C-88F7F67EB7F1}" srcOrd="1" destOrd="0" parTransId="{4FAD3CD9-E6E9-42AE-AC0D-C800145317B9}" sibTransId="{6C876E59-3E6C-41C2-B598-125058290EFE}"/>
    <dgm:cxn modelId="{AFFC2765-B695-6C4B-841D-A8714EEC61D7}" type="presParOf" srcId="{98B81654-BEB5-3A40-9F81-6F807724558B}" destId="{9EBDD568-1346-4043-B7AD-81496D9293B0}" srcOrd="0" destOrd="0" presId="urn:microsoft.com/office/officeart/2008/layout/LinedList"/>
    <dgm:cxn modelId="{DED7BBC3-A12E-9B4B-ABEB-B85B23F178C1}" type="presParOf" srcId="{98B81654-BEB5-3A40-9F81-6F807724558B}" destId="{5E1AA543-57F9-2345-A667-6F670F3CE5B0}" srcOrd="1" destOrd="0" presId="urn:microsoft.com/office/officeart/2008/layout/LinedList"/>
    <dgm:cxn modelId="{27A72F9D-375E-1144-A2D9-46CDE6D79181}" type="presParOf" srcId="{5E1AA543-57F9-2345-A667-6F670F3CE5B0}" destId="{FDBD8153-2842-CA44-9852-613EF4F0B7D0}" srcOrd="0" destOrd="0" presId="urn:microsoft.com/office/officeart/2008/layout/LinedList"/>
    <dgm:cxn modelId="{AA12D4B3-CAD7-574D-9B80-E892DD3FDEAD}" type="presParOf" srcId="{5E1AA543-57F9-2345-A667-6F670F3CE5B0}" destId="{2DF11FF9-AD92-3746-9894-88148DE4D292}" srcOrd="1" destOrd="0" presId="urn:microsoft.com/office/officeart/2008/layout/LinedList"/>
    <dgm:cxn modelId="{175786BE-6762-2649-9524-B4B9D4A9641B}" type="presParOf" srcId="{98B81654-BEB5-3A40-9F81-6F807724558B}" destId="{877968A0-3A11-454F-A74F-9D7B961B4CC3}" srcOrd="2" destOrd="0" presId="urn:microsoft.com/office/officeart/2008/layout/LinedList"/>
    <dgm:cxn modelId="{B8709EFB-516D-6F47-8EB3-847917BEB211}" type="presParOf" srcId="{98B81654-BEB5-3A40-9F81-6F807724558B}" destId="{79FB3BE6-B9AF-7646-8070-EBE70FC284F3}" srcOrd="3" destOrd="0" presId="urn:microsoft.com/office/officeart/2008/layout/LinedList"/>
    <dgm:cxn modelId="{4F9A2061-DA9C-8F47-8215-E3AA8972E615}" type="presParOf" srcId="{79FB3BE6-B9AF-7646-8070-EBE70FC284F3}" destId="{508C505F-CE4D-D446-A95C-8995F13F224E}" srcOrd="0" destOrd="0" presId="urn:microsoft.com/office/officeart/2008/layout/LinedList"/>
    <dgm:cxn modelId="{6672EFE9-53EC-2645-B6C3-A90A6C34C99C}" type="presParOf" srcId="{79FB3BE6-B9AF-7646-8070-EBE70FC284F3}" destId="{660016E8-0902-0F46-ABE7-E484B0B6D754}" srcOrd="1" destOrd="0" presId="urn:microsoft.com/office/officeart/2008/layout/LinedList"/>
    <dgm:cxn modelId="{E9449FE7-150C-1349-9873-6A23B9DC9A04}" type="presParOf" srcId="{98B81654-BEB5-3A40-9F81-6F807724558B}" destId="{DCD2FA54-C10A-324B-9A80-1EC23CA1217C}" srcOrd="4" destOrd="0" presId="urn:microsoft.com/office/officeart/2008/layout/LinedList"/>
    <dgm:cxn modelId="{1008EBD7-7DBA-C84C-9BFD-80B9B06B9A7E}" type="presParOf" srcId="{98B81654-BEB5-3A40-9F81-6F807724558B}" destId="{22B6B1BD-0C80-8746-8EA5-1A116F2B3CFE}" srcOrd="5" destOrd="0" presId="urn:microsoft.com/office/officeart/2008/layout/LinedList"/>
    <dgm:cxn modelId="{16132FF9-55F6-684D-9565-8ED49B3602E1}" type="presParOf" srcId="{22B6B1BD-0C80-8746-8EA5-1A116F2B3CFE}" destId="{52032886-7E42-3E43-9B11-F2B0E06BC1C8}" srcOrd="0" destOrd="0" presId="urn:microsoft.com/office/officeart/2008/layout/LinedList"/>
    <dgm:cxn modelId="{C9FF2217-2709-DB49-AD73-69DB017E8A9D}" type="presParOf" srcId="{22B6B1BD-0C80-8746-8EA5-1A116F2B3CFE}" destId="{293BF38D-F9C9-4B46-BB86-782A65364D80}" srcOrd="1" destOrd="0" presId="urn:microsoft.com/office/officeart/2008/layout/LinedList"/>
    <dgm:cxn modelId="{44849899-D22D-EC46-9154-004F2D1F1990}" type="presParOf" srcId="{98B81654-BEB5-3A40-9F81-6F807724558B}" destId="{8F00D927-A0A6-E844-826F-1EA0B09A4539}" srcOrd="6" destOrd="0" presId="urn:microsoft.com/office/officeart/2008/layout/LinedList"/>
    <dgm:cxn modelId="{013537B6-FFF0-9546-A959-12FF80FCF340}" type="presParOf" srcId="{98B81654-BEB5-3A40-9F81-6F807724558B}" destId="{0A2CC08B-E46B-704B-B7C3-41FF5517070E}" srcOrd="7" destOrd="0" presId="urn:microsoft.com/office/officeart/2008/layout/LinedList"/>
    <dgm:cxn modelId="{E74E0067-D7C8-7440-B3FA-C79C2A2AC990}" type="presParOf" srcId="{0A2CC08B-E46B-704B-B7C3-41FF5517070E}" destId="{B3A66D18-16CE-8343-BF0F-962685476056}" srcOrd="0" destOrd="0" presId="urn:microsoft.com/office/officeart/2008/layout/LinedList"/>
    <dgm:cxn modelId="{7D5D91F1-1FEE-8B4B-84B3-2597CD34E2A1}" type="presParOf" srcId="{0A2CC08B-E46B-704B-B7C3-41FF5517070E}" destId="{FA79FF37-B244-5647-9434-F0B60EA0CA1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BB269F-5924-E242-A837-FADA5A6346F2}">
      <dsp:nvSpPr>
        <dsp:cNvPr id="0" name=""/>
        <dsp:cNvSpPr/>
      </dsp:nvSpPr>
      <dsp:spPr>
        <a:xfrm>
          <a:off x="0" y="0"/>
          <a:ext cx="3403415" cy="3738868"/>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5343" tIns="330200" rIns="265343" bIns="330200" numCol="1" spcCol="1270" anchor="t" anchorCtr="0">
          <a:noAutofit/>
        </a:bodyPr>
        <a:lstStyle/>
        <a:p>
          <a:pPr marL="0" lvl="0" indent="0" algn="l" defTabSz="844550">
            <a:lnSpc>
              <a:spcPct val="90000"/>
            </a:lnSpc>
            <a:spcBef>
              <a:spcPct val="0"/>
            </a:spcBef>
            <a:spcAft>
              <a:spcPct val="35000"/>
            </a:spcAft>
            <a:buNone/>
          </a:pPr>
          <a:r>
            <a:rPr lang="en-US" sz="1900" kern="1200"/>
            <a:t>Problem: Traditional security methods that focus only on the perimeter are not enough to protect against increasing threats.</a:t>
          </a:r>
        </a:p>
      </dsp:txBody>
      <dsp:txXfrm>
        <a:off x="0" y="1420769"/>
        <a:ext cx="3403415" cy="2243320"/>
      </dsp:txXfrm>
    </dsp:sp>
    <dsp:sp modelId="{1AF23F3C-4FD8-254E-B08A-91DA0F43AED0}">
      <dsp:nvSpPr>
        <dsp:cNvPr id="0" name=""/>
        <dsp:cNvSpPr/>
      </dsp:nvSpPr>
      <dsp:spPr>
        <a:xfrm>
          <a:off x="1140877" y="373886"/>
          <a:ext cx="1121660" cy="112166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49" tIns="12700" rIns="87449"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305140" y="538149"/>
        <a:ext cx="793134" cy="793134"/>
      </dsp:txXfrm>
    </dsp:sp>
    <dsp:sp modelId="{EC0D8F06-2B16-AE40-B9BB-ED64C4350341}">
      <dsp:nvSpPr>
        <dsp:cNvPr id="0" name=""/>
        <dsp:cNvSpPr/>
      </dsp:nvSpPr>
      <dsp:spPr>
        <a:xfrm>
          <a:off x="0" y="3738796"/>
          <a:ext cx="3403415" cy="72"/>
        </a:xfrm>
        <a:prstGeom prst="rect">
          <a:avLst/>
        </a:prstGeom>
        <a:solidFill>
          <a:schemeClr val="accent2">
            <a:hueOff val="1414419"/>
            <a:satOff val="-5328"/>
            <a:lumOff val="4471"/>
            <a:alphaOff val="0"/>
          </a:schemeClr>
        </a:solidFill>
        <a:ln w="12700" cap="flat" cmpd="sng" algn="ctr">
          <a:solidFill>
            <a:schemeClr val="accent2">
              <a:hueOff val="1414419"/>
              <a:satOff val="-5328"/>
              <a:lumOff val="4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C86DB8-6FB0-9F4D-85C4-E5D6DED1B44B}">
      <dsp:nvSpPr>
        <dsp:cNvPr id="0" name=""/>
        <dsp:cNvSpPr/>
      </dsp:nvSpPr>
      <dsp:spPr>
        <a:xfrm>
          <a:off x="3743756" y="0"/>
          <a:ext cx="3403415" cy="3738868"/>
        </a:xfrm>
        <a:prstGeom prst="rect">
          <a:avLst/>
        </a:prstGeom>
        <a:solidFill>
          <a:schemeClr val="accent2">
            <a:tint val="40000"/>
            <a:alpha val="90000"/>
            <a:hueOff val="3707437"/>
            <a:satOff val="-3703"/>
            <a:lumOff val="1707"/>
            <a:alphaOff val="0"/>
          </a:schemeClr>
        </a:solidFill>
        <a:ln w="12700" cap="flat" cmpd="sng" algn="ctr">
          <a:solidFill>
            <a:schemeClr val="accent2">
              <a:tint val="40000"/>
              <a:alpha val="90000"/>
              <a:hueOff val="3707437"/>
              <a:satOff val="-3703"/>
              <a:lumOff val="170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5343" tIns="330200" rIns="265343" bIns="330200" numCol="1" spcCol="1270" anchor="t" anchorCtr="0">
          <a:noAutofit/>
        </a:bodyPr>
        <a:lstStyle/>
        <a:p>
          <a:pPr marL="0" lvl="0" indent="0" algn="l" defTabSz="844550">
            <a:lnSpc>
              <a:spcPct val="90000"/>
            </a:lnSpc>
            <a:spcBef>
              <a:spcPct val="0"/>
            </a:spcBef>
            <a:spcAft>
              <a:spcPct val="35000"/>
            </a:spcAft>
            <a:buNone/>
          </a:pPr>
          <a:r>
            <a:rPr lang="en-US" sz="1900" kern="1200"/>
            <a:t>Research Focus: Exploring access control methods and tools in information security.</a:t>
          </a:r>
        </a:p>
      </dsp:txBody>
      <dsp:txXfrm>
        <a:off x="3743756" y="1420769"/>
        <a:ext cx="3403415" cy="2243320"/>
      </dsp:txXfrm>
    </dsp:sp>
    <dsp:sp modelId="{8490F7F4-FA87-B140-88AB-E26157D30FF8}">
      <dsp:nvSpPr>
        <dsp:cNvPr id="0" name=""/>
        <dsp:cNvSpPr/>
      </dsp:nvSpPr>
      <dsp:spPr>
        <a:xfrm>
          <a:off x="4884634" y="373886"/>
          <a:ext cx="1121660" cy="1121660"/>
        </a:xfrm>
        <a:prstGeom prst="ellipse">
          <a:avLst/>
        </a:prstGeom>
        <a:solidFill>
          <a:schemeClr val="accent2">
            <a:hueOff val="2828839"/>
            <a:satOff val="-10655"/>
            <a:lumOff val="8941"/>
            <a:alphaOff val="0"/>
          </a:schemeClr>
        </a:solidFill>
        <a:ln w="12700" cap="flat" cmpd="sng" algn="ctr">
          <a:solidFill>
            <a:schemeClr val="accent2">
              <a:hueOff val="2828839"/>
              <a:satOff val="-10655"/>
              <a:lumOff val="89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49" tIns="12700" rIns="87449"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5048897" y="538149"/>
        <a:ext cx="793134" cy="793134"/>
      </dsp:txXfrm>
    </dsp:sp>
    <dsp:sp modelId="{70A0016B-1A2F-EE49-9D6F-1B4E8246D36E}">
      <dsp:nvSpPr>
        <dsp:cNvPr id="0" name=""/>
        <dsp:cNvSpPr/>
      </dsp:nvSpPr>
      <dsp:spPr>
        <a:xfrm>
          <a:off x="3743756" y="3738796"/>
          <a:ext cx="3403415" cy="72"/>
        </a:xfrm>
        <a:prstGeom prst="rect">
          <a:avLst/>
        </a:prstGeom>
        <a:solidFill>
          <a:schemeClr val="accent2">
            <a:hueOff val="4243259"/>
            <a:satOff val="-15983"/>
            <a:lumOff val="13412"/>
            <a:alphaOff val="0"/>
          </a:schemeClr>
        </a:solidFill>
        <a:ln w="12700" cap="flat" cmpd="sng" algn="ctr">
          <a:solidFill>
            <a:schemeClr val="accent2">
              <a:hueOff val="4243259"/>
              <a:satOff val="-15983"/>
              <a:lumOff val="134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C9919D-5B90-E94C-ADA6-3E0D04197F85}">
      <dsp:nvSpPr>
        <dsp:cNvPr id="0" name=""/>
        <dsp:cNvSpPr/>
      </dsp:nvSpPr>
      <dsp:spPr>
        <a:xfrm>
          <a:off x="7487513" y="0"/>
          <a:ext cx="3403415" cy="3738868"/>
        </a:xfrm>
        <a:prstGeom prst="rect">
          <a:avLst/>
        </a:prstGeom>
        <a:solidFill>
          <a:schemeClr val="accent2">
            <a:tint val="40000"/>
            <a:alpha val="90000"/>
            <a:hueOff val="7414874"/>
            <a:satOff val="-7406"/>
            <a:lumOff val="3414"/>
            <a:alphaOff val="0"/>
          </a:schemeClr>
        </a:solidFill>
        <a:ln w="12700" cap="flat" cmpd="sng" algn="ctr">
          <a:solidFill>
            <a:schemeClr val="accent2">
              <a:tint val="40000"/>
              <a:alpha val="90000"/>
              <a:hueOff val="7414874"/>
              <a:satOff val="-7406"/>
              <a:lumOff val="341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5343" tIns="330200" rIns="265343" bIns="330200" numCol="1" spcCol="1270" anchor="t" anchorCtr="0">
          <a:noAutofit/>
        </a:bodyPr>
        <a:lstStyle/>
        <a:p>
          <a:pPr marL="0" lvl="0" indent="0" algn="l" defTabSz="844550">
            <a:lnSpc>
              <a:spcPct val="90000"/>
            </a:lnSpc>
            <a:spcBef>
              <a:spcPct val="0"/>
            </a:spcBef>
            <a:spcAft>
              <a:spcPct val="35000"/>
            </a:spcAft>
            <a:buNone/>
          </a:pPr>
          <a:r>
            <a:rPr lang="en-US" sz="1900" kern="1200" dirty="0"/>
            <a:t>Aim: To give a clear overview of access control concepts and how they are applied in real life real-world applications</a:t>
          </a:r>
        </a:p>
      </dsp:txBody>
      <dsp:txXfrm>
        <a:off x="7487513" y="1420769"/>
        <a:ext cx="3403415" cy="2243320"/>
      </dsp:txXfrm>
    </dsp:sp>
    <dsp:sp modelId="{D9642108-13CB-434B-ACCB-AAA7871DFE77}">
      <dsp:nvSpPr>
        <dsp:cNvPr id="0" name=""/>
        <dsp:cNvSpPr/>
      </dsp:nvSpPr>
      <dsp:spPr>
        <a:xfrm>
          <a:off x="8628391" y="373886"/>
          <a:ext cx="1121660" cy="1121660"/>
        </a:xfrm>
        <a:prstGeom prst="ellipse">
          <a:avLst/>
        </a:prstGeom>
        <a:solidFill>
          <a:schemeClr val="accent2">
            <a:hueOff val="5657678"/>
            <a:satOff val="-21310"/>
            <a:lumOff val="17882"/>
            <a:alphaOff val="0"/>
          </a:schemeClr>
        </a:solidFill>
        <a:ln w="12700" cap="flat" cmpd="sng" algn="ctr">
          <a:solidFill>
            <a:schemeClr val="accent2">
              <a:hueOff val="5657678"/>
              <a:satOff val="-21310"/>
              <a:lumOff val="178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49" tIns="12700" rIns="87449"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792654" y="538149"/>
        <a:ext cx="793134" cy="793134"/>
      </dsp:txXfrm>
    </dsp:sp>
    <dsp:sp modelId="{D12E5440-EE3A-4A41-86AB-0C64419FB3F3}">
      <dsp:nvSpPr>
        <dsp:cNvPr id="0" name=""/>
        <dsp:cNvSpPr/>
      </dsp:nvSpPr>
      <dsp:spPr>
        <a:xfrm>
          <a:off x="7487513" y="3738796"/>
          <a:ext cx="3403415" cy="72"/>
        </a:xfrm>
        <a:prstGeom prst="rect">
          <a:avLst/>
        </a:prstGeom>
        <a:solidFill>
          <a:schemeClr val="accent2">
            <a:hueOff val="7072097"/>
            <a:satOff val="-26638"/>
            <a:lumOff val="22353"/>
            <a:alphaOff val="0"/>
          </a:schemeClr>
        </a:solidFill>
        <a:ln w="12700" cap="flat" cmpd="sng" algn="ctr">
          <a:solidFill>
            <a:schemeClr val="accent2">
              <a:hueOff val="7072097"/>
              <a:satOff val="-26638"/>
              <a:lumOff val="2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BDD568-1346-4043-B7AD-81496D9293B0}">
      <dsp:nvSpPr>
        <dsp:cNvPr id="0" name=""/>
        <dsp:cNvSpPr/>
      </dsp:nvSpPr>
      <dsp:spPr>
        <a:xfrm>
          <a:off x="0" y="0"/>
          <a:ext cx="721641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BD8153-2842-CA44-9852-613EF4F0B7D0}">
      <dsp:nvSpPr>
        <dsp:cNvPr id="0" name=""/>
        <dsp:cNvSpPr/>
      </dsp:nvSpPr>
      <dsp:spPr>
        <a:xfrm>
          <a:off x="0" y="0"/>
          <a:ext cx="7216416" cy="1277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Least Privilege</a:t>
          </a:r>
        </a:p>
      </dsp:txBody>
      <dsp:txXfrm>
        <a:off x="0" y="0"/>
        <a:ext cx="7216416" cy="1277815"/>
      </dsp:txXfrm>
    </dsp:sp>
    <dsp:sp modelId="{877968A0-3A11-454F-A74F-9D7B961B4CC3}">
      <dsp:nvSpPr>
        <dsp:cNvPr id="0" name=""/>
        <dsp:cNvSpPr/>
      </dsp:nvSpPr>
      <dsp:spPr>
        <a:xfrm>
          <a:off x="0" y="1277815"/>
          <a:ext cx="7216416" cy="0"/>
        </a:xfrm>
        <a:prstGeom prst="line">
          <a:avLst/>
        </a:prstGeom>
        <a:solidFill>
          <a:schemeClr val="accent2">
            <a:hueOff val="2357366"/>
            <a:satOff val="-8879"/>
            <a:lumOff val="7451"/>
            <a:alphaOff val="0"/>
          </a:schemeClr>
        </a:solidFill>
        <a:ln w="12700" cap="flat" cmpd="sng" algn="ctr">
          <a:solidFill>
            <a:schemeClr val="accent2">
              <a:hueOff val="2357366"/>
              <a:satOff val="-8879"/>
              <a:lumOff val="74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8C505F-CE4D-D446-A95C-8995F13F224E}">
      <dsp:nvSpPr>
        <dsp:cNvPr id="0" name=""/>
        <dsp:cNvSpPr/>
      </dsp:nvSpPr>
      <dsp:spPr>
        <a:xfrm>
          <a:off x="0" y="1277815"/>
          <a:ext cx="7216416" cy="1277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Separation of Duties (SoD)</a:t>
          </a:r>
        </a:p>
      </dsp:txBody>
      <dsp:txXfrm>
        <a:off x="0" y="1277815"/>
        <a:ext cx="7216416" cy="1277815"/>
      </dsp:txXfrm>
    </dsp:sp>
    <dsp:sp modelId="{DCD2FA54-C10A-324B-9A80-1EC23CA1217C}">
      <dsp:nvSpPr>
        <dsp:cNvPr id="0" name=""/>
        <dsp:cNvSpPr/>
      </dsp:nvSpPr>
      <dsp:spPr>
        <a:xfrm>
          <a:off x="0" y="2555630"/>
          <a:ext cx="7216416" cy="0"/>
        </a:xfrm>
        <a:prstGeom prst="line">
          <a:avLst/>
        </a:prstGeom>
        <a:solidFill>
          <a:schemeClr val="accent2">
            <a:hueOff val="4714731"/>
            <a:satOff val="-17759"/>
            <a:lumOff val="14902"/>
            <a:alphaOff val="0"/>
          </a:schemeClr>
        </a:solidFill>
        <a:ln w="12700" cap="flat" cmpd="sng" algn="ctr">
          <a:solidFill>
            <a:schemeClr val="accent2">
              <a:hueOff val="4714731"/>
              <a:satOff val="-17759"/>
              <a:lumOff val="14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032886-7E42-3E43-9B11-F2B0E06BC1C8}">
      <dsp:nvSpPr>
        <dsp:cNvPr id="0" name=""/>
        <dsp:cNvSpPr/>
      </dsp:nvSpPr>
      <dsp:spPr>
        <a:xfrm>
          <a:off x="0" y="2555630"/>
          <a:ext cx="7216416" cy="1277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Need-to-Know</a:t>
          </a:r>
        </a:p>
      </dsp:txBody>
      <dsp:txXfrm>
        <a:off x="0" y="2555630"/>
        <a:ext cx="7216416" cy="1277815"/>
      </dsp:txXfrm>
    </dsp:sp>
    <dsp:sp modelId="{8F00D927-A0A6-E844-826F-1EA0B09A4539}">
      <dsp:nvSpPr>
        <dsp:cNvPr id="0" name=""/>
        <dsp:cNvSpPr/>
      </dsp:nvSpPr>
      <dsp:spPr>
        <a:xfrm>
          <a:off x="0" y="3833445"/>
          <a:ext cx="7216416" cy="0"/>
        </a:xfrm>
        <a:prstGeom prst="line">
          <a:avLst/>
        </a:prstGeom>
        <a:solidFill>
          <a:schemeClr val="accent2">
            <a:hueOff val="7072097"/>
            <a:satOff val="-26638"/>
            <a:lumOff val="22353"/>
            <a:alphaOff val="0"/>
          </a:schemeClr>
        </a:solidFill>
        <a:ln w="12700" cap="flat" cmpd="sng" algn="ctr">
          <a:solidFill>
            <a:schemeClr val="accent2">
              <a:hueOff val="7072097"/>
              <a:satOff val="-26638"/>
              <a:lumOff val="2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A66D18-16CE-8343-BF0F-962685476056}">
      <dsp:nvSpPr>
        <dsp:cNvPr id="0" name=""/>
        <dsp:cNvSpPr/>
      </dsp:nvSpPr>
      <dsp:spPr>
        <a:xfrm>
          <a:off x="0" y="3833445"/>
          <a:ext cx="7216416" cy="1277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Defense in Depth</a:t>
          </a:r>
        </a:p>
      </dsp:txBody>
      <dsp:txXfrm>
        <a:off x="0" y="3833445"/>
        <a:ext cx="7216416" cy="1277815"/>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FF7A89-17EE-AE4A-B785-08B57CF6C3C3}" type="datetimeFigureOut">
              <a:rPr lang="en-US" smtClean="0"/>
              <a:t>4/2/25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ADADCD-DAC3-704B-A541-13BF318554FF}" type="slidenum">
              <a:rPr lang="en-US" smtClean="0"/>
              <a:t>‹#›</a:t>
            </a:fld>
            <a:endParaRPr lang="en-US"/>
          </a:p>
        </p:txBody>
      </p:sp>
    </p:spTree>
    <p:extLst>
      <p:ext uri="{BB962C8B-B14F-4D97-AF65-F5344CB8AC3E}">
        <p14:creationId xmlns:p14="http://schemas.microsoft.com/office/powerpoint/2010/main" val="2600500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1</a:t>
            </a:fld>
            <a:endParaRPr lang="en-US"/>
          </a:p>
        </p:txBody>
      </p:sp>
    </p:spTree>
    <p:extLst>
      <p:ext uri="{BB962C8B-B14F-4D97-AF65-F5344CB8AC3E}">
        <p14:creationId xmlns:p14="http://schemas.microsoft.com/office/powerpoint/2010/main" val="3774480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I'll provide a comprehensive overview of access control concepts and their real-world applications, exploring how we can effectively manage who can access what in this complex environment. My aim is to give you both the theoretical foundation and practical insights needed to implement effective access control in your organizations.</a:t>
            </a:r>
          </a:p>
        </p:txBody>
      </p:sp>
      <p:sp>
        <p:nvSpPr>
          <p:cNvPr id="4" name="Slide Number Placeholder 3"/>
          <p:cNvSpPr>
            <a:spLocks noGrp="1"/>
          </p:cNvSpPr>
          <p:nvPr>
            <p:ph type="sldNum" sz="quarter" idx="5"/>
          </p:nvPr>
        </p:nvSpPr>
        <p:spPr/>
        <p:txBody>
          <a:bodyPr/>
          <a:lstStyle/>
          <a:p>
            <a:fld id="{06ADADCD-DAC3-704B-A541-13BF318554FF}" type="slidenum">
              <a:rPr lang="en-US" smtClean="0"/>
              <a:t>2</a:t>
            </a:fld>
            <a:endParaRPr lang="en-US"/>
          </a:p>
        </p:txBody>
      </p:sp>
    </p:spTree>
    <p:extLst>
      <p:ext uri="{BB962C8B-B14F-4D97-AF65-F5344CB8AC3E}">
        <p14:creationId xmlns:p14="http://schemas.microsoft.com/office/powerpoint/2010/main" val="1384163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exploration today will cover seven key areas:</a:t>
            </a:r>
          </a:p>
          <a:p>
            <a:r>
              <a:rPr lang="en-US" dirty="0"/>
              <a:t>First, we'll examine the foundational principles that have shaped access control for decades. These are the building blocks upon which all access control systems are built.</a:t>
            </a:r>
          </a:p>
          <a:p>
            <a:r>
              <a:rPr lang="en-US" dirty="0"/>
              <a:t>Second, we'll look at theoretical models that provide frameworks for implementing access control in various contexts.</a:t>
            </a:r>
          </a:p>
          <a:p>
            <a:r>
              <a:rPr lang="en-US" dirty="0"/>
              <a:t>Third, we'll evaluate modern authentication and authorization technologies that verify identities and determine permissions.</a:t>
            </a:r>
          </a:p>
          <a:p>
            <a:r>
              <a:rPr lang="en-US" dirty="0"/>
              <a:t>Fourth, we'll compare various Identity and Access Management solutions available in today's market.</a:t>
            </a:r>
          </a:p>
          <a:p>
            <a:r>
              <a:rPr lang="en-US" dirty="0"/>
              <a:t>Fifth, we'll analyze the increasingly important Zero Trust architecture approach.</a:t>
            </a:r>
          </a:p>
          <a:p>
            <a:r>
              <a:rPr lang="en-US" dirty="0"/>
              <a:t>Sixth, we'll investigate how emerging trends are reshaping access control methodologies.</a:t>
            </a:r>
          </a:p>
          <a:p>
            <a:r>
              <a:rPr lang="en-US" dirty="0"/>
              <a:t>And finally, we'll explore practical implementation frameworks and real-world applications.</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3</a:t>
            </a:fld>
            <a:endParaRPr lang="en-US"/>
          </a:p>
        </p:txBody>
      </p:sp>
    </p:spTree>
    <p:extLst>
      <p:ext uri="{BB962C8B-B14F-4D97-AF65-F5344CB8AC3E}">
        <p14:creationId xmlns:p14="http://schemas.microsoft.com/office/powerpoint/2010/main" val="2375165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principle of least privilege is about restricting access privileges to the minimum necessary for users to accomplish their assigned tasks. It's a concept with military origins, now formalized by NIST as a fundamental security practice.</a:t>
            </a:r>
          </a:p>
          <a:p>
            <a:r>
              <a:rPr lang="en-US" dirty="0"/>
              <a:t>In practical terms, this means implementing just-in-time and just-enough-permissions access. Users receive only the permissions they need, only when they need them, and only for as long as they need them.</a:t>
            </a:r>
          </a:p>
          <a:p>
            <a:r>
              <a:rPr lang="en-US" dirty="0"/>
              <a:t>Think of it like giving someone a key that opens only one specific door in a building, rather than a master key, and having that key automatically expire when they no longer need access.</a:t>
            </a:r>
          </a:p>
          <a:p>
            <a:r>
              <a:rPr lang="en-US" dirty="0"/>
              <a:t>The benefits are substantial. By limiting access rights, organizations can significantly mitigate insider threats and reduce their overall attack surface. It's like reducing the number of doors left open in your building—fewer entry points means fewer opportunities for unauthorized access.</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5</a:t>
            </a:fld>
            <a:endParaRPr lang="en-US"/>
          </a:p>
        </p:txBody>
      </p:sp>
    </p:spTree>
    <p:extLst>
      <p:ext uri="{BB962C8B-B14F-4D97-AF65-F5344CB8AC3E}">
        <p14:creationId xmlns:p14="http://schemas.microsoft.com/office/powerpoint/2010/main" val="3271311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separation of duties principle has fascinating historical roots, tracing back to ancient Rome and Greece with the concept of divided power. It became more formalized in the 18th century through Montesquieu's concept of the "division of powers" in government.</a:t>
            </a:r>
          </a:p>
          <a:p>
            <a:r>
              <a:rPr lang="en-US" dirty="0"/>
              <a:t>In modern security terms, it means that no single user should have enough privileges to misuse the system on their own. For example, the person who approves a financial transaction shouldn't also be the one who initiates it.</a:t>
            </a:r>
          </a:p>
          <a:p>
            <a:r>
              <a:rPr lang="en-US" dirty="0"/>
              <a:t>This can be implemented either statically, by defining roles that cannot overlap, or dynamically, by enforcing controls at the time of access.</a:t>
            </a:r>
          </a:p>
          <a:p>
            <a:r>
              <a:rPr lang="en-US" dirty="0"/>
              <a:t>The importance of this principle lies in its ability to distribute responsibilities, creating natural checks and balances that reduce the risk of fraud, errors, and insider threats.</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6</a:t>
            </a:fld>
            <a:endParaRPr lang="en-US"/>
          </a:p>
        </p:txBody>
      </p:sp>
    </p:spTree>
    <p:extLst>
      <p:ext uri="{BB962C8B-B14F-4D97-AF65-F5344CB8AC3E}">
        <p14:creationId xmlns:p14="http://schemas.microsoft.com/office/powerpoint/2010/main" val="3943000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need-to-know principle is about granting access to information only when it's required for official duties. While least privilege focuses on the permissions a user has, need-to-know focuses specifically on access to information.</a:t>
            </a:r>
          </a:p>
          <a:p>
            <a:r>
              <a:rPr lang="en-US" dirty="0"/>
              <a:t>In today's organizations, this principle is often implemented through Role-Based Access Control systems, ensuring team members only have access to the information necessary for their specific responsibilities.</a:t>
            </a:r>
          </a:p>
          <a:p>
            <a:r>
              <a:rPr lang="en-US" dirty="0"/>
              <a:t>This principle significantly enhances an organization's resilience against both internal and external attackers. By compartmentalizing information, it limits the potential damage from incidents like ransomware attacks, as attackers can only access a limited subset of data.</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7</a:t>
            </a:fld>
            <a:endParaRPr lang="en-US"/>
          </a:p>
        </p:txBody>
      </p:sp>
    </p:spTree>
    <p:extLst>
      <p:ext uri="{BB962C8B-B14F-4D97-AF65-F5344CB8AC3E}">
        <p14:creationId xmlns:p14="http://schemas.microsoft.com/office/powerpoint/2010/main" val="2843254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Defense in depth is a concept developed by the U.S. National Security Agency, inspired by military strategy. It involves implementing multiple layers of security controls throughout an IT system.</a:t>
            </a:r>
          </a:p>
          <a:p>
            <a:r>
              <a:rPr lang="en-US" dirty="0"/>
              <a:t>In modern implementations, this includes technologies like Privileged Access Management, advanced endpoint security, adaptive multi-factor authentication, and secrets management solutions.</a:t>
            </a:r>
          </a:p>
          <a:p>
            <a:r>
              <a:rPr lang="en-US" dirty="0"/>
              <a:t>The value of this approach is that it reduces vulnerabilities, contains threats, and mitigates risks by ensuring that if one security layer is breached, subsequent layers continue to provide protection. It's like having multiple locks on your door—if an attacker picks one, they still have more obstacles to overcome.</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8</a:t>
            </a:fld>
            <a:endParaRPr lang="en-US"/>
          </a:p>
        </p:txBody>
      </p:sp>
    </p:spTree>
    <p:extLst>
      <p:ext uri="{BB962C8B-B14F-4D97-AF65-F5344CB8AC3E}">
        <p14:creationId xmlns:p14="http://schemas.microsoft.com/office/powerpoint/2010/main" val="14504134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turn to the theoretical models that give structure to access control implementations. These models provide frameworks for deciding who gets access to what resources under what conditions.</a:t>
            </a:r>
          </a:p>
        </p:txBody>
      </p:sp>
      <p:sp>
        <p:nvSpPr>
          <p:cNvPr id="4" name="Slide Number Placeholder 3"/>
          <p:cNvSpPr>
            <a:spLocks noGrp="1"/>
          </p:cNvSpPr>
          <p:nvPr>
            <p:ph type="sldNum" sz="quarter" idx="5"/>
          </p:nvPr>
        </p:nvSpPr>
        <p:spPr/>
        <p:txBody>
          <a:bodyPr/>
          <a:lstStyle/>
          <a:p>
            <a:fld id="{06ADADCD-DAC3-704B-A541-13BF318554FF}" type="slidenum">
              <a:rPr lang="en-US" smtClean="0"/>
              <a:t>9</a:t>
            </a:fld>
            <a:endParaRPr lang="en-US"/>
          </a:p>
        </p:txBody>
      </p:sp>
    </p:spTree>
    <p:extLst>
      <p:ext uri="{BB962C8B-B14F-4D97-AF65-F5344CB8AC3E}">
        <p14:creationId xmlns:p14="http://schemas.microsoft.com/office/powerpoint/2010/main" val="1909284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Role-Based Access Control restricts system access to authorized users based on their roles within an organization. It follows fundamental rules including role assignment, role authorization, and transaction authorization.</a:t>
            </a:r>
          </a:p>
          <a:p>
            <a:r>
              <a:rPr lang="en-US" dirty="0"/>
              <a:t>In practice, RBAC means that access rights are grouped by role, and users are assigned to appropriate roles. A hospital might have roles like "Doctor," "Nurse," and "Administrator," each with different access rights to patient records.</a:t>
            </a:r>
          </a:p>
          <a:p>
            <a:r>
              <a:rPr lang="en-US" dirty="0"/>
              <a:t>RBAC offers significant advantages, including simplified management of user access rights, improved efficiency in business processes, and better compliance with regulations. When implemented properly, it enforces both least privilege and separation of duties principles.</a:t>
            </a:r>
          </a:p>
          <a:p>
            <a:r>
              <a:rPr lang="en-US" dirty="0"/>
              <a:t>However, RBAC does have limitations. It requires a thorough understanding of your organization's structure and can become complex in organizations with many roles. In dynamic environments where responsibilities frequently change, RBAC can be less flexible, and organizations often face "role explosion" as they create numerous roles to accommodate various permission combinations.</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10</a:t>
            </a:fld>
            <a:endParaRPr lang="en-US"/>
          </a:p>
        </p:txBody>
      </p:sp>
    </p:spTree>
    <p:extLst>
      <p:ext uri="{BB962C8B-B14F-4D97-AF65-F5344CB8AC3E}">
        <p14:creationId xmlns:p14="http://schemas.microsoft.com/office/powerpoint/2010/main" val="2042798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Attribute-Based Access Control takes a more flexible approach by evaluating multiple attributes to determine access. These attributes can include user characteristics, resource properties, environmental conditions, and more.</a:t>
            </a:r>
          </a:p>
          <a:p>
            <a:r>
              <a:rPr lang="en-US" dirty="0"/>
              <a:t>For example, an ABAC system might grant access based on a combination of the user's department, security clearance level, the sensitivity of the document, the time of day, and the user's location.</a:t>
            </a:r>
          </a:p>
          <a:p>
            <a:r>
              <a:rPr lang="en-US" dirty="0"/>
              <a:t>The advantages of ABAC include fine-grained control over permissions and dynamic access decisions that can adapt to changing circumstances. It's particularly well-suited for complex environments where access needs are variable.</a:t>
            </a:r>
          </a:p>
          <a:p>
            <a:r>
              <a:rPr lang="en-US" dirty="0"/>
              <a:t>However, ABAC comes with challenges. The systems can be complex to design and maintain, requiring significant expertise. Policy creation and management can become difficult due to the virtually limitless combinations of attributes, and there may be performance concerns as systems evaluate multiple attributes for each access request.</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11</a:t>
            </a:fld>
            <a:endParaRPr lang="en-US"/>
          </a:p>
        </p:txBody>
      </p:sp>
    </p:spTree>
    <p:extLst>
      <p:ext uri="{BB962C8B-B14F-4D97-AF65-F5344CB8AC3E}">
        <p14:creationId xmlns:p14="http://schemas.microsoft.com/office/powerpoint/2010/main" val="576138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Context-Based Access Control extends traditional models by considering the context in which an access request is made. It enhances security during authorization by determining risk based on various attributes and computing a risk score.</a:t>
            </a:r>
          </a:p>
          <a:p>
            <a:r>
              <a:rPr lang="en-US" dirty="0"/>
              <a:t>For example, a CBAC system might restrict access to sensitive data during non-business hours or grant access only when the user is within a specific location.</a:t>
            </a:r>
          </a:p>
          <a:p>
            <a:r>
              <a:rPr lang="en-US" dirty="0"/>
              <a:t>While CBAC is technically an extension of ABAC, it focuses more on situational factors. Implementing CBAC requires careful planning to map authorization policies to attributes and manage the dynamic nature of contextual factors.</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12</a:t>
            </a:fld>
            <a:endParaRPr lang="en-US"/>
          </a:p>
        </p:txBody>
      </p:sp>
    </p:spTree>
    <p:extLst>
      <p:ext uri="{BB962C8B-B14F-4D97-AF65-F5344CB8AC3E}">
        <p14:creationId xmlns:p14="http://schemas.microsoft.com/office/powerpoint/2010/main" val="3765610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r>
              <a:rPr lang="en-US" dirty="0"/>
              <a:t>Authentication—verifying that users are who they claim to be—is the first step in access control. Traditional password-based authentication has proven insufficient against today's sophisticated threats, leading to the development of stronger methods.</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13</a:t>
            </a:fld>
            <a:endParaRPr lang="en-US"/>
          </a:p>
        </p:txBody>
      </p:sp>
    </p:spTree>
    <p:extLst>
      <p:ext uri="{BB962C8B-B14F-4D97-AF65-F5344CB8AC3E}">
        <p14:creationId xmlns:p14="http://schemas.microsoft.com/office/powerpoint/2010/main" val="11451657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Multi-Factor Authentication requires users to verify their identity using a combination of two or more distinct factors: something they know (like a password), something they have (like a security key), and something they are (like a fingerprint).</a:t>
            </a:r>
          </a:p>
          <a:p>
            <a:r>
              <a:rPr lang="en-US" dirty="0"/>
              <a:t>MFA can be implemented through various technologies, including authenticator apps that generate time-based codes, physical security keys, or biometric verification methods.</a:t>
            </a:r>
          </a:p>
          <a:p>
            <a:r>
              <a:rPr lang="en-US" dirty="0"/>
              <a:t>The security benefits are substantial. Even if a password is compromised, attackers still face additional barriers, significantly reducing the likelihood of successful breaches.</a:t>
            </a:r>
          </a:p>
          <a:p>
            <a:r>
              <a:rPr lang="en-US" dirty="0"/>
              <a:t>While MFA offers enhanced security, implementation can be complex, especially in organizations with legacy systems. User resistance to the additional steps can also be a challenge, requiring clear communication about the security benefits.</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14</a:t>
            </a:fld>
            <a:endParaRPr lang="en-US"/>
          </a:p>
        </p:txBody>
      </p:sp>
    </p:spTree>
    <p:extLst>
      <p:ext uri="{BB962C8B-B14F-4D97-AF65-F5344CB8AC3E}">
        <p14:creationId xmlns:p14="http://schemas.microsoft.com/office/powerpoint/2010/main" val="27444710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r>
              <a:rPr lang="en-US" dirty="0"/>
              <a:t>Biometric authentication verifies identity based on unique physical or behavioral characteristics. Common methods include fingerprint scanning, facial recognition, voice recognition, iris and retina scanning, and behavioral recognition, which analyzes patterns like typing speed.</a:t>
            </a:r>
          </a:p>
          <a:p>
            <a:r>
              <a:rPr lang="en-US" dirty="0"/>
              <a:t>The security advantage of biometrics is that they rely on unique traits that are extremely difficult for attackers to replicate. These traits are inherent to the individual, making them resistant to theft or loss.</a:t>
            </a:r>
          </a:p>
          <a:p>
            <a:r>
              <a:rPr lang="en-US" dirty="0"/>
              <a:t>However, biometrics do have limitations. Storing this data raises privacy concerns, as it could potentially be misused if breached. Implementation costs can be significant, and the systems may occasionally produce false positives or false negatives, requiring careful balancing of security and usability.</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15</a:t>
            </a:fld>
            <a:endParaRPr lang="en-US"/>
          </a:p>
        </p:txBody>
      </p:sp>
    </p:spTree>
    <p:extLst>
      <p:ext uri="{BB962C8B-B14F-4D97-AF65-F5344CB8AC3E}">
        <p14:creationId xmlns:p14="http://schemas.microsoft.com/office/powerpoint/2010/main" val="3286879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Passwordless</a:t>
            </a:r>
            <a:r>
              <a:rPr lang="en-US" dirty="0"/>
              <a:t> authentication allows users to access systems without entering a password. Instead, it relies on alternatives like proximity badges, physical tokens, biometric recognition, or mobile applications.</a:t>
            </a:r>
          </a:p>
          <a:p>
            <a:r>
              <a:rPr lang="en-US" dirty="0"/>
              <a:t>By eliminating passwords, this approach reduces risks from common vulnerabilities like guessing, brute-force attacks, credential stuffing, and phishing. It can offer stronger security, especially when using standards like </a:t>
            </a:r>
            <a:r>
              <a:rPr lang="en-US" dirty="0" err="1"/>
              <a:t>WebAuthn</a:t>
            </a:r>
            <a:r>
              <a:rPr lang="en-US" dirty="0"/>
              <a:t> and FIDO2, which are designed to be resistant to phishing attacks.</a:t>
            </a:r>
          </a:p>
          <a:p>
            <a:r>
              <a:rPr lang="en-US" dirty="0"/>
              <a:t>Despite the benefits, adoption faces challenges. Integration with legacy systems can be complex, users accustomed to passwords may resist change, and there may be cost implications for new hardware and software. Nevertheless, </a:t>
            </a:r>
            <a:r>
              <a:rPr lang="en-US" dirty="0" err="1"/>
              <a:t>passwordless</a:t>
            </a:r>
            <a:r>
              <a:rPr lang="en-US" dirty="0"/>
              <a:t> authentication is becoming a key component of modern security strategies.</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16</a:t>
            </a:fld>
            <a:endParaRPr lang="en-US"/>
          </a:p>
        </p:txBody>
      </p:sp>
    </p:spTree>
    <p:extLst>
      <p:ext uri="{BB962C8B-B14F-4D97-AF65-F5344CB8AC3E}">
        <p14:creationId xmlns:p14="http://schemas.microsoft.com/office/powerpoint/2010/main" val="28371025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user's identity is verified, authorization frameworks determine what actions they can perform. These frameworks provide standardized approaches to managing access permissions across applications and services.</a:t>
            </a:r>
          </a:p>
        </p:txBody>
      </p:sp>
      <p:sp>
        <p:nvSpPr>
          <p:cNvPr id="4" name="Slide Number Placeholder 3"/>
          <p:cNvSpPr>
            <a:spLocks noGrp="1"/>
          </p:cNvSpPr>
          <p:nvPr>
            <p:ph type="sldNum" sz="quarter" idx="5"/>
          </p:nvPr>
        </p:nvSpPr>
        <p:spPr/>
        <p:txBody>
          <a:bodyPr/>
          <a:lstStyle/>
          <a:p>
            <a:fld id="{06ADADCD-DAC3-704B-A541-13BF318554FF}" type="slidenum">
              <a:rPr lang="en-US" smtClean="0"/>
              <a:t>17</a:t>
            </a:fld>
            <a:endParaRPr lang="en-US"/>
          </a:p>
        </p:txBody>
      </p:sp>
    </p:spTree>
    <p:extLst>
      <p:ext uri="{BB962C8B-B14F-4D97-AF65-F5344CB8AC3E}">
        <p14:creationId xmlns:p14="http://schemas.microsoft.com/office/powerpoint/2010/main" val="40189205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AML is an open standard used for authentication that enables Single Sign-On across web applications. It's an XML-based framework that transfers authentication data between an identity provider and a service provider.</a:t>
            </a:r>
          </a:p>
          <a:p>
            <a:r>
              <a:rPr lang="en-US" dirty="0"/>
              <a:t>The workflow involves the user attempting to access a service, the service requesting authentication, the identity provider creating an assertion containing user information, and the service provider granting access based on this assertion.</a:t>
            </a:r>
          </a:p>
          <a:p>
            <a:r>
              <a:rPr lang="en-US" dirty="0"/>
              <a:t>SAML offers improved user experience through SSO, increased security by not transmitting credentials to service providers, and reduced help desk costs from fewer password reset requests. While primarily for authentication, SAML assertions can include privilege information for authorization as well.</a:t>
            </a:r>
          </a:p>
        </p:txBody>
      </p:sp>
      <p:sp>
        <p:nvSpPr>
          <p:cNvPr id="4" name="Slide Number Placeholder 3"/>
          <p:cNvSpPr>
            <a:spLocks noGrp="1"/>
          </p:cNvSpPr>
          <p:nvPr>
            <p:ph type="sldNum" sz="quarter" idx="5"/>
          </p:nvPr>
        </p:nvSpPr>
        <p:spPr/>
        <p:txBody>
          <a:bodyPr/>
          <a:lstStyle/>
          <a:p>
            <a:fld id="{06ADADCD-DAC3-704B-A541-13BF318554FF}" type="slidenum">
              <a:rPr lang="en-US" smtClean="0"/>
              <a:t>18</a:t>
            </a:fld>
            <a:endParaRPr lang="en-US"/>
          </a:p>
        </p:txBody>
      </p:sp>
    </p:spTree>
    <p:extLst>
      <p:ext uri="{BB962C8B-B14F-4D97-AF65-F5344CB8AC3E}">
        <p14:creationId xmlns:p14="http://schemas.microsoft.com/office/powerpoint/2010/main" val="16472272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OpenID Connect builds on OAuth 2.0 by adding an authentication layer. While OAuth focuses on authorization, OIDC verifies user identity, often providing Single Sign-On capabilities.</a:t>
            </a:r>
          </a:p>
          <a:p>
            <a:r>
              <a:rPr lang="en-US" dirty="0"/>
              <a:t>The process involves the user accessing a relying party, which sends a request to an OpenID provider. After authentication, the provider sends back an ID Token (a JWT containing user information) and often an Access Token.</a:t>
            </a:r>
          </a:p>
          <a:p>
            <a:r>
              <a:rPr lang="en-US" dirty="0"/>
              <a:t>OIDC offers benefits including standardization, a readable JSON format, API-friendliness, and support for both web and mobile applications. It enables federated login and simplifies integration with existing authentication systems.</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19</a:t>
            </a:fld>
            <a:endParaRPr lang="en-US"/>
          </a:p>
        </p:txBody>
      </p:sp>
    </p:spTree>
    <p:extLst>
      <p:ext uri="{BB962C8B-B14F-4D97-AF65-F5344CB8AC3E}">
        <p14:creationId xmlns:p14="http://schemas.microsoft.com/office/powerpoint/2010/main" val="14140852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r>
              <a:rPr lang="en-US" dirty="0"/>
              <a:t>Implementing effective access control requires robust Identity and Access Management solutions. These provide centralized platforms for managing identities, enforcing policies, and ensuring compliance.</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20</a:t>
            </a:fld>
            <a:endParaRPr lang="en-US"/>
          </a:p>
        </p:txBody>
      </p:sp>
    </p:spTree>
    <p:extLst>
      <p:ext uri="{BB962C8B-B14F-4D97-AF65-F5344CB8AC3E}">
        <p14:creationId xmlns:p14="http://schemas.microsoft.com/office/powerpoint/2010/main" val="33266792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Seamless SSO Experience</a:t>
            </a:r>
            <a:r>
              <a:rPr lang="en-US" dirty="0"/>
              <a:t>: An employee opens their Okta dashboard and sees personalized tiles for all authorized applications. One click grants access to Salesforce, Office 365, Workday, and custom internal applications without re-authentication. </a:t>
            </a:r>
            <a:r>
              <a:rPr lang="en-US" b="1" dirty="0"/>
              <a:t>Contextual Access Policies</a:t>
            </a:r>
            <a:r>
              <a:rPr lang="en-US" dirty="0"/>
              <a:t>: When a sales representative tries accessing CRM data from an airport Wi-Fi network, Okta automatically requires additional verification methods based on the unusual location. </a:t>
            </a:r>
            <a:r>
              <a:rPr lang="en-US" b="1" dirty="0"/>
              <a:t>Lifecycle Management</a:t>
            </a:r>
            <a:r>
              <a:rPr lang="en-US" dirty="0"/>
              <a:t>: When an employee transfers from marketing to sales, their manager initiates the change in Okta, which automatically revokes access to marketing tools while granting sales resources access—all orchestrated through pre-configured workflows.</a:t>
            </a:r>
            <a:br>
              <a:rPr lang="en-US" dirty="0"/>
            </a:br>
            <a:br>
              <a:rPr lang="en-US" dirty="0"/>
            </a:br>
            <a:r>
              <a:rPr lang="en-US" dirty="0"/>
              <a:t>Commercial IAM solutions offer comprehensive features for modern enterprises. These typically include multi-factor authentication, </a:t>
            </a:r>
            <a:r>
              <a:rPr lang="en-US" dirty="0" err="1"/>
              <a:t>passwordless</a:t>
            </a:r>
            <a:r>
              <a:rPr lang="en-US" dirty="0"/>
              <a:t> options, privileged account management, role-based access control, and compliance capabilities.</a:t>
            </a:r>
          </a:p>
          <a:p>
            <a:r>
              <a:rPr lang="en-US" dirty="0"/>
              <a:t>Leading vendors include Okta Workforce Identity Cloud, which offers seamless SSO and extensive integrations; Microsoft Entra ID, with strong integration with Microsoft's ecosystem; Ping Identity Platform, featuring AI-driven orchestration; CyberArk Workforce Identity, focusing on privileged access; and SailPoint Identity Security Cloud, which emphasizes governance.</a:t>
            </a:r>
          </a:p>
          <a:p>
            <a:r>
              <a:rPr lang="en-US" dirty="0"/>
              <a:t>Each of these solutions offers different strengths, and the choice between them depends on an organization's specific needs, size, and complexity.</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21</a:t>
            </a:fld>
            <a:endParaRPr lang="en-US"/>
          </a:p>
        </p:txBody>
      </p:sp>
    </p:spTree>
    <p:extLst>
      <p:ext uri="{BB962C8B-B14F-4D97-AF65-F5344CB8AC3E}">
        <p14:creationId xmlns:p14="http://schemas.microsoft.com/office/powerpoint/2010/main" val="25771616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Open-source IAM solutions provide alternatives to commercial products, often with greater flexibility and customization options.</a:t>
            </a:r>
          </a:p>
          <a:p>
            <a:r>
              <a:rPr lang="en-US" dirty="0"/>
              <a:t>Notable options include </a:t>
            </a:r>
            <a:r>
              <a:rPr lang="en-US" dirty="0" err="1"/>
              <a:t>Keycloak</a:t>
            </a:r>
            <a:r>
              <a:rPr lang="en-US" dirty="0"/>
              <a:t>, an enterprise-grade solution supporting various protocols; </a:t>
            </a:r>
            <a:r>
              <a:rPr lang="en-US" dirty="0" err="1"/>
              <a:t>SuperTokens</a:t>
            </a:r>
            <a:r>
              <a:rPr lang="en-US" dirty="0"/>
              <a:t>, which is developer-friendly with pre-built components; WSO2 Identity Server, offering comprehensive features for different application types; and </a:t>
            </a:r>
            <a:r>
              <a:rPr lang="en-US" dirty="0" err="1"/>
              <a:t>OpenIAM</a:t>
            </a:r>
            <a:r>
              <a:rPr lang="en-US" dirty="0"/>
              <a:t>, a converged platform including governance and privileged access management.</a:t>
            </a:r>
          </a:p>
          <a:p>
            <a:r>
              <a:rPr lang="en-US" dirty="0"/>
              <a:t>These solutions provide extensive functionality while being free to use, with the added benefit of customization. However, they may require more technical expertise for implementation and management compared to commercial alternative</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22</a:t>
            </a:fld>
            <a:endParaRPr lang="en-US"/>
          </a:p>
        </p:txBody>
      </p:sp>
    </p:spTree>
    <p:extLst>
      <p:ext uri="{BB962C8B-B14F-4D97-AF65-F5344CB8AC3E}">
        <p14:creationId xmlns:p14="http://schemas.microsoft.com/office/powerpoint/2010/main" val="29699757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Trust is a security framework that fundamentally shifts how organizations approach security. Unlike traditional security models that operate on the principle of "trust but verify" and focus on perimeter defense, Zero Trust operates on the principle of "never trust, always verify." It assumes that threats exist both outside and inside the network, eliminating the concept of a trusted network entirely.</a:t>
            </a:r>
          </a:p>
          <a:p>
            <a:br>
              <a:rPr lang="en-US" dirty="0"/>
            </a:br>
            <a:br>
              <a:rPr lang="en-US" dirty="0"/>
            </a:br>
            <a:r>
              <a:rPr lang="en-US" dirty="0"/>
              <a:t>Zero Trust is built on five core principles:</a:t>
            </a:r>
          </a:p>
          <a:p>
            <a:r>
              <a:rPr lang="en-US" dirty="0"/>
              <a:t>First, continuous verification—the "never trust, always verify" approach requires authentication, authorization, and validation for all access requests, regardless of where they originate.</a:t>
            </a:r>
          </a:p>
          <a:p>
            <a:r>
              <a:rPr lang="en-US" dirty="0"/>
              <a:t>Second, least privilege access ensures users and systems have only the minimum permissions necessary for their tasks, reducing the potential impact of compromised accounts.</a:t>
            </a:r>
          </a:p>
          <a:p>
            <a:r>
              <a:rPr lang="en-US" dirty="0"/>
              <a:t>Third, we assume breach—operating as if the network is already compromised to design security accordingly, focusing on limiting lateral movement and containing breaches.</a:t>
            </a:r>
          </a:p>
          <a:p>
            <a:r>
              <a:rPr lang="en-US" dirty="0"/>
              <a:t>Fourth, network segmentation divides the network into isolated segments to contain potential breaches and limit an attacker's ability to move laterally.</a:t>
            </a:r>
          </a:p>
          <a:p>
            <a:r>
              <a:rPr lang="en-US" dirty="0"/>
              <a:t>Finally, contextual access controls base decisions on multiple attributes including identity, device health, location, and behavior, enabling more nuanced and risk-aware security decisions.</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23</a:t>
            </a:fld>
            <a:endParaRPr lang="en-US"/>
          </a:p>
        </p:txBody>
      </p:sp>
    </p:spTree>
    <p:extLst>
      <p:ext uri="{BB962C8B-B14F-4D97-AF65-F5344CB8AC3E}">
        <p14:creationId xmlns:p14="http://schemas.microsoft.com/office/powerpoint/2010/main" val="25476670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Implementing Zero Trust involves several key strategies:</a:t>
            </a:r>
          </a:p>
          <a:p>
            <a:r>
              <a:rPr lang="en-US" dirty="0"/>
              <a:t>Begin by defining your protect surface—identifying critical assets, data, and services that need protection. Establish clear Zero Trust policies for managing access to resources. Strengthen endpoint security to ensure devices are secure before allowing access. Enhance monitoring and analytics for visibility into network activity.</a:t>
            </a:r>
          </a:p>
          <a:p>
            <a:r>
              <a:rPr lang="en-US" dirty="0"/>
              <a:t>Additionally, automate security responses based on risk assessments, implement network and application segmentation, define granular access controls based on least privilege, and continuously validate trust for all access attempts.</a:t>
            </a:r>
          </a:p>
          <a:p>
            <a:r>
              <a:rPr lang="en-US" dirty="0"/>
              <a:t>This approach provides a framework for organizations to systematically improve their security posture in response to evolving threats.</a:t>
            </a:r>
          </a:p>
          <a:p>
            <a:endParaRPr lang="en-US" dirty="0"/>
          </a:p>
        </p:txBody>
      </p:sp>
      <p:sp>
        <p:nvSpPr>
          <p:cNvPr id="4" name="Slide Number Placeholder 3"/>
          <p:cNvSpPr>
            <a:spLocks noGrp="1"/>
          </p:cNvSpPr>
          <p:nvPr>
            <p:ph type="sldNum" sz="quarter" idx="5"/>
          </p:nvPr>
        </p:nvSpPr>
        <p:spPr/>
        <p:txBody>
          <a:bodyPr/>
          <a:lstStyle/>
          <a:p>
            <a:fld id="{06ADADCD-DAC3-704B-A541-13BF318554FF}" type="slidenum">
              <a:rPr lang="en-US" smtClean="0"/>
              <a:t>24</a:t>
            </a:fld>
            <a:endParaRPr lang="en-US"/>
          </a:p>
        </p:txBody>
      </p:sp>
    </p:spTree>
    <p:extLst>
      <p:ext uri="{BB962C8B-B14F-4D97-AF65-F5344CB8AC3E}">
        <p14:creationId xmlns:p14="http://schemas.microsoft.com/office/powerpoint/2010/main" val="2770648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4/2/25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66916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4/2/25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07212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4/2/25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2416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4/2/25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30430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4/2/25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73471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4/2/25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45567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4/2/25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69584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4/2/25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23039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4/2/25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50828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4/2/25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34834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4/2/25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3350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4/2/25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2944479"/>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ideo 3" descr="Green Lock In A 3D Electronic System">
            <a:extLst>
              <a:ext uri="{FF2B5EF4-FFF2-40B4-BE49-F238E27FC236}">
                <a16:creationId xmlns:a16="http://schemas.microsoft.com/office/drawing/2014/main" id="{7F3B44EC-EDFE-B36E-3627-F8927E5EE26F}"/>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r="-1" b="283"/>
          <a:stretch/>
        </p:blipFill>
        <p:spPr>
          <a:xfrm>
            <a:off x="20" y="10"/>
            <a:ext cx="12191979" cy="6857989"/>
          </a:xfrm>
          <a:prstGeom prst="rect">
            <a:avLst/>
          </a:prstGeom>
        </p:spPr>
      </p:pic>
      <p:sp>
        <p:nvSpPr>
          <p:cNvPr id="11" name="Rectangle 10">
            <a:extLst>
              <a:ext uri="{FF2B5EF4-FFF2-40B4-BE49-F238E27FC236}">
                <a16:creationId xmlns:a16="http://schemas.microsoft.com/office/drawing/2014/main" id="{9E9D00D9-C4F5-471E-BE2C-126CB112A6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17B257-FA55-FA01-879B-C88BAB23C881}"/>
              </a:ext>
            </a:extLst>
          </p:cNvPr>
          <p:cNvSpPr>
            <a:spLocks noGrp="1"/>
          </p:cNvSpPr>
          <p:nvPr>
            <p:ph type="ctrTitle"/>
          </p:nvPr>
        </p:nvSpPr>
        <p:spPr>
          <a:xfrm>
            <a:off x="640080" y="914400"/>
            <a:ext cx="4892948" cy="3427867"/>
          </a:xfrm>
        </p:spPr>
        <p:txBody>
          <a:bodyPr anchor="t">
            <a:normAutofit/>
          </a:bodyPr>
          <a:lstStyle/>
          <a:p>
            <a:pPr>
              <a:lnSpc>
                <a:spcPct val="90000"/>
              </a:lnSpc>
            </a:pPr>
            <a:r>
              <a:rPr lang="en-US" sz="3800" dirty="0">
                <a:solidFill>
                  <a:srgbClr val="FFFFFF"/>
                </a:solidFill>
              </a:rPr>
              <a:t>Topic: Access Control Principles and Tools in the Context of Information Security</a:t>
            </a:r>
          </a:p>
        </p:txBody>
      </p:sp>
      <p:sp>
        <p:nvSpPr>
          <p:cNvPr id="3" name="Subtitle 2">
            <a:extLst>
              <a:ext uri="{FF2B5EF4-FFF2-40B4-BE49-F238E27FC236}">
                <a16:creationId xmlns:a16="http://schemas.microsoft.com/office/drawing/2014/main" id="{EDA0F4F4-818C-1C7E-AF44-415A370D7556}"/>
              </a:ext>
            </a:extLst>
          </p:cNvPr>
          <p:cNvSpPr>
            <a:spLocks noGrp="1"/>
          </p:cNvSpPr>
          <p:nvPr>
            <p:ph type="subTitle" idx="1"/>
          </p:nvPr>
        </p:nvSpPr>
        <p:spPr>
          <a:xfrm>
            <a:off x="650970" y="5253051"/>
            <a:ext cx="4892948" cy="812923"/>
          </a:xfrm>
        </p:spPr>
        <p:txBody>
          <a:bodyPr anchor="t">
            <a:normAutofit/>
          </a:bodyPr>
          <a:lstStyle/>
          <a:p>
            <a:r>
              <a:rPr lang="en-US">
                <a:solidFill>
                  <a:srgbClr val="FFFFFF"/>
                </a:solidFill>
              </a:rPr>
              <a:t>By Ufuk Saylan </a:t>
            </a:r>
          </a:p>
        </p:txBody>
      </p:sp>
      <p:cxnSp>
        <p:nvCxnSpPr>
          <p:cNvPr id="13" name="Straight Connector 12">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209"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79272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76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1C69525-1BE4-4BA0-A23C-3BB6C162E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A8C896-D9B7-DF56-536F-E4F43D270AB5}"/>
              </a:ext>
            </a:extLst>
          </p:cNvPr>
          <p:cNvSpPr>
            <a:spLocks noGrp="1"/>
          </p:cNvSpPr>
          <p:nvPr>
            <p:ph type="title"/>
          </p:nvPr>
        </p:nvSpPr>
        <p:spPr>
          <a:xfrm>
            <a:off x="640079" y="1371601"/>
            <a:ext cx="10890929" cy="1097280"/>
          </a:xfrm>
        </p:spPr>
        <p:txBody>
          <a:bodyPr>
            <a:normAutofit/>
          </a:bodyPr>
          <a:lstStyle/>
          <a:p>
            <a:r>
              <a:rPr lang="en-US"/>
              <a:t>Introduction</a:t>
            </a:r>
            <a:endParaRPr lang="en-US" dirty="0"/>
          </a:p>
        </p:txBody>
      </p:sp>
      <p:cxnSp>
        <p:nvCxnSpPr>
          <p:cNvPr id="11" name="Straight Connector 10">
            <a:extLst>
              <a:ext uri="{FF2B5EF4-FFF2-40B4-BE49-F238E27FC236}">
                <a16:creationId xmlns:a16="http://schemas.microsoft.com/office/drawing/2014/main" id="{B68AF875-C18B-4B48-AE4C-A63FD3CEF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6A382AD-FDB0-880B-2C58-F581424BDFF6}"/>
              </a:ext>
            </a:extLst>
          </p:cNvPr>
          <p:cNvGraphicFramePr>
            <a:graphicFrameLocks noGrp="1"/>
          </p:cNvGraphicFramePr>
          <p:nvPr>
            <p:ph idx="1"/>
            <p:extLst>
              <p:ext uri="{D42A27DB-BD31-4B8C-83A1-F6EECF244321}">
                <p14:modId xmlns:p14="http://schemas.microsoft.com/office/powerpoint/2010/main" val="2691782136"/>
              </p:ext>
            </p:extLst>
          </p:nvPr>
        </p:nvGraphicFramePr>
        <p:xfrm>
          <a:off x="640079" y="2559050"/>
          <a:ext cx="10890929" cy="37388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83973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27E27-27F3-2407-6AEF-F092EEF9EA31}"/>
              </a:ext>
            </a:extLst>
          </p:cNvPr>
          <p:cNvSpPr>
            <a:spLocks noGrp="1"/>
          </p:cNvSpPr>
          <p:nvPr>
            <p:ph type="title"/>
          </p:nvPr>
        </p:nvSpPr>
        <p:spPr/>
        <p:txBody>
          <a:bodyPr>
            <a:normAutofit fontScale="90000"/>
          </a:bodyPr>
          <a:lstStyle/>
          <a:p>
            <a:r>
              <a:rPr lang="en-US" b="1" dirty="0"/>
              <a:t>Key Research Tasks</a:t>
            </a:r>
            <a:br>
              <a:rPr lang="en-US" b="1" dirty="0"/>
            </a:br>
            <a:endParaRPr lang="en-US" dirty="0"/>
          </a:p>
        </p:txBody>
      </p:sp>
      <p:sp>
        <p:nvSpPr>
          <p:cNvPr id="3" name="Content Placeholder 2">
            <a:extLst>
              <a:ext uri="{FF2B5EF4-FFF2-40B4-BE49-F238E27FC236}">
                <a16:creationId xmlns:a16="http://schemas.microsoft.com/office/drawing/2014/main" id="{EB8C13DC-D05F-59C5-7A01-DFF801DCB0E6}"/>
              </a:ext>
            </a:extLst>
          </p:cNvPr>
          <p:cNvSpPr>
            <a:spLocks noGrp="1"/>
          </p:cNvSpPr>
          <p:nvPr>
            <p:ph idx="1"/>
          </p:nvPr>
        </p:nvSpPr>
        <p:spPr/>
        <p:txBody>
          <a:bodyPr>
            <a:normAutofit/>
          </a:bodyPr>
          <a:lstStyle/>
          <a:p>
            <a:pPr>
              <a:buFont typeface="+mj-lt"/>
              <a:buAutoNum type="arabicPeriod"/>
            </a:pPr>
            <a:r>
              <a:rPr lang="en-US" dirty="0"/>
              <a:t>Analyze foundational access control principles</a:t>
            </a:r>
          </a:p>
          <a:p>
            <a:pPr>
              <a:buFont typeface="+mj-lt"/>
              <a:buAutoNum type="arabicPeriod"/>
            </a:pPr>
            <a:r>
              <a:rPr lang="en-US" dirty="0"/>
              <a:t>Examine theoretical access control models</a:t>
            </a:r>
          </a:p>
          <a:p>
            <a:pPr>
              <a:buFont typeface="+mj-lt"/>
              <a:buAutoNum type="arabicPeriod"/>
            </a:pPr>
            <a:r>
              <a:rPr lang="en-US" dirty="0"/>
              <a:t>Evaluate modern authentication and authorization technologies</a:t>
            </a:r>
          </a:p>
          <a:p>
            <a:pPr>
              <a:buFont typeface="+mj-lt"/>
              <a:buAutoNum type="arabicPeriod"/>
            </a:pPr>
            <a:r>
              <a:rPr lang="en-US" dirty="0"/>
              <a:t>Compare Identity and Access Management (IAM) solutions</a:t>
            </a:r>
          </a:p>
          <a:p>
            <a:pPr>
              <a:buFont typeface="+mj-lt"/>
              <a:buAutoNum type="arabicPeriod"/>
            </a:pPr>
            <a:r>
              <a:rPr lang="en-US" dirty="0"/>
              <a:t>Analyze Zero Trust architecture approach</a:t>
            </a:r>
          </a:p>
          <a:p>
            <a:pPr>
              <a:buFont typeface="+mj-lt"/>
              <a:buAutoNum type="arabicPeriod"/>
            </a:pPr>
            <a:r>
              <a:rPr lang="en-US" dirty="0"/>
              <a:t>Investigate impact of emerging trends</a:t>
            </a:r>
          </a:p>
          <a:p>
            <a:pPr>
              <a:buFont typeface="+mj-lt"/>
              <a:buAutoNum type="arabicPeriod"/>
            </a:pPr>
            <a:r>
              <a:rPr lang="en-US" dirty="0"/>
              <a:t>Explore implementation frameworks and real-world applications</a:t>
            </a:r>
          </a:p>
          <a:p>
            <a:endParaRPr lang="en-US" dirty="0"/>
          </a:p>
        </p:txBody>
      </p:sp>
    </p:spTree>
    <p:extLst>
      <p:ext uri="{BB962C8B-B14F-4D97-AF65-F5344CB8AC3E}">
        <p14:creationId xmlns:p14="http://schemas.microsoft.com/office/powerpoint/2010/main" val="4189633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1BE0A04-9ED2-0540-7CD7-C316AB6EF1BB}"/>
              </a:ext>
            </a:extLst>
          </p:cNvPr>
          <p:cNvSpPr>
            <a:spLocks noGrp="1"/>
          </p:cNvSpPr>
          <p:nvPr>
            <p:ph type="title"/>
          </p:nvPr>
        </p:nvSpPr>
        <p:spPr>
          <a:xfrm>
            <a:off x="640080" y="914399"/>
            <a:ext cx="3000587" cy="4160520"/>
          </a:xfrm>
        </p:spPr>
        <p:txBody>
          <a:bodyPr anchor="t">
            <a:normAutofit/>
          </a:bodyPr>
          <a:lstStyle/>
          <a:p>
            <a:r>
              <a:rPr lang="en-US" sz="3600"/>
              <a:t>Foundational Access Control Principles</a:t>
            </a:r>
          </a:p>
        </p:txBody>
      </p:sp>
      <p:cxnSp>
        <p:nvCxnSpPr>
          <p:cNvPr id="11" name="Straight Connector 10">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A32EC8AE-B525-EBF2-CCA2-4B8C83755420}"/>
              </a:ext>
            </a:extLst>
          </p:cNvPr>
          <p:cNvGraphicFramePr>
            <a:graphicFrameLocks noGrp="1"/>
          </p:cNvGraphicFramePr>
          <p:nvPr>
            <p:ph idx="1"/>
            <p:extLst>
              <p:ext uri="{D42A27DB-BD31-4B8C-83A1-F6EECF244321}">
                <p14:modId xmlns:p14="http://schemas.microsoft.com/office/powerpoint/2010/main" val="488384322"/>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5598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AC1FB4-5724-B558-99F1-3C71D3CB6189}"/>
              </a:ext>
            </a:extLst>
          </p:cNvPr>
          <p:cNvSpPr>
            <a:spLocks noGrp="1"/>
          </p:cNvSpPr>
          <p:nvPr>
            <p:ph type="title"/>
          </p:nvPr>
        </p:nvSpPr>
        <p:spPr>
          <a:xfrm>
            <a:off x="640079" y="914400"/>
            <a:ext cx="4261104" cy="1097280"/>
          </a:xfrm>
        </p:spPr>
        <p:txBody>
          <a:bodyPr anchor="t">
            <a:normAutofit/>
          </a:bodyPr>
          <a:lstStyle/>
          <a:p>
            <a:pPr>
              <a:lnSpc>
                <a:spcPct val="90000"/>
              </a:lnSpc>
            </a:pPr>
            <a:r>
              <a:rPr lang="en-US" sz="3600" b="1"/>
              <a:t>Least Privilege</a:t>
            </a:r>
            <a:br>
              <a:rPr lang="en-US" sz="3600" b="1"/>
            </a:br>
            <a:endParaRPr lang="en-US" sz="3600"/>
          </a:p>
        </p:txBody>
      </p:sp>
      <p:sp>
        <p:nvSpPr>
          <p:cNvPr id="3" name="Content Placeholder 2">
            <a:extLst>
              <a:ext uri="{FF2B5EF4-FFF2-40B4-BE49-F238E27FC236}">
                <a16:creationId xmlns:a16="http://schemas.microsoft.com/office/drawing/2014/main" id="{D0F0D827-E87D-B1B0-479A-95AAD8BCA6CE}"/>
              </a:ext>
            </a:extLst>
          </p:cNvPr>
          <p:cNvSpPr>
            <a:spLocks noGrp="1"/>
          </p:cNvSpPr>
          <p:nvPr>
            <p:ph idx="1"/>
          </p:nvPr>
        </p:nvSpPr>
        <p:spPr>
          <a:xfrm>
            <a:off x="640079" y="2176036"/>
            <a:ext cx="4261104" cy="4121887"/>
          </a:xfrm>
        </p:spPr>
        <p:txBody>
          <a:bodyPr>
            <a:normAutofit/>
          </a:bodyPr>
          <a:lstStyle/>
          <a:p>
            <a:pPr>
              <a:lnSpc>
                <a:spcPct val="110000"/>
              </a:lnSpc>
              <a:buFont typeface="Arial" panose="020B0604020202020204" pitchFamily="34" charset="0"/>
              <a:buChar char="•"/>
            </a:pPr>
            <a:r>
              <a:rPr lang="en-US" sz="1700" b="1"/>
              <a:t>Definition</a:t>
            </a:r>
            <a:r>
              <a:rPr lang="en-US" sz="1700"/>
              <a:t>: Restricting access privileges to minimum necessary to accomplish assigned tasks</a:t>
            </a:r>
          </a:p>
          <a:p>
            <a:pPr>
              <a:lnSpc>
                <a:spcPct val="110000"/>
              </a:lnSpc>
              <a:buFont typeface="Arial" panose="020B0604020202020204" pitchFamily="34" charset="0"/>
              <a:buChar char="•"/>
            </a:pPr>
            <a:r>
              <a:rPr lang="en-US" sz="1700" b="1"/>
              <a:t>Origin</a:t>
            </a:r>
            <a:r>
              <a:rPr lang="en-US" sz="1700"/>
              <a:t>: Developed as military protocol</a:t>
            </a:r>
          </a:p>
          <a:p>
            <a:pPr>
              <a:lnSpc>
                <a:spcPct val="110000"/>
              </a:lnSpc>
              <a:buFont typeface="Arial" panose="020B0604020202020204" pitchFamily="34" charset="0"/>
              <a:buChar char="•"/>
            </a:pPr>
            <a:r>
              <a:rPr lang="en-US" sz="1700" b="1"/>
              <a:t>Implementation</a:t>
            </a:r>
            <a:r>
              <a:rPr lang="en-US" sz="1700"/>
              <a:t>: Just-in-time, just-enough-permissions access</a:t>
            </a:r>
          </a:p>
          <a:p>
            <a:pPr>
              <a:lnSpc>
                <a:spcPct val="110000"/>
              </a:lnSpc>
              <a:buFont typeface="Arial" panose="020B0604020202020204" pitchFamily="34" charset="0"/>
              <a:buChar char="•"/>
            </a:pPr>
            <a:r>
              <a:rPr lang="en-US" sz="1700" b="1"/>
              <a:t>Benefits</a:t>
            </a:r>
            <a:r>
              <a:rPr lang="en-US" sz="1700"/>
              <a:t>: Mitigates insider threats, decreases potential attack range</a:t>
            </a:r>
          </a:p>
          <a:p>
            <a:pPr>
              <a:lnSpc>
                <a:spcPct val="110000"/>
              </a:lnSpc>
              <a:buFont typeface="Arial" panose="020B0604020202020204" pitchFamily="34" charset="0"/>
              <a:buChar char="•"/>
            </a:pPr>
            <a:r>
              <a:rPr lang="en-US" sz="1700"/>
              <a:t>Common Mistakes: Make a common task high privilege – everyone used to log in as admin for Windows</a:t>
            </a:r>
          </a:p>
          <a:p>
            <a:pPr>
              <a:lnSpc>
                <a:spcPct val="110000"/>
              </a:lnSpc>
              <a:buFont typeface="Arial" panose="020B0604020202020204" pitchFamily="34" charset="0"/>
              <a:buChar char="•"/>
            </a:pPr>
            <a:endParaRPr lang="en-US" sz="1700"/>
          </a:p>
        </p:txBody>
      </p:sp>
      <p:pic>
        <p:nvPicPr>
          <p:cNvPr id="8" name="Picture 7">
            <a:extLst>
              <a:ext uri="{FF2B5EF4-FFF2-40B4-BE49-F238E27FC236}">
                <a16:creationId xmlns:a16="http://schemas.microsoft.com/office/drawing/2014/main" id="{AA67ECAC-8F63-E862-3922-87B5B1389377}"/>
              </a:ext>
            </a:extLst>
          </p:cNvPr>
          <p:cNvPicPr>
            <a:picLocks noChangeAspect="1"/>
          </p:cNvPicPr>
          <p:nvPr/>
        </p:nvPicPr>
        <p:blipFill>
          <a:blip r:embed="rId3"/>
          <a:srcRect l="4021" r="4016" b="1"/>
          <a:stretch/>
        </p:blipFill>
        <p:spPr>
          <a:xfrm>
            <a:off x="5671128" y="914399"/>
            <a:ext cx="6520872" cy="5353521"/>
          </a:xfrm>
          <a:prstGeom prst="rect">
            <a:avLst/>
          </a:prstGeom>
        </p:spPr>
      </p:pic>
      <p:cxnSp>
        <p:nvCxnSpPr>
          <p:cNvPr id="22" name="Straight Connector 21">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0087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2" name="Rectangle 206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5FF8A1-28ED-D71F-01AA-3F950C0C9A90}"/>
              </a:ext>
            </a:extLst>
          </p:cNvPr>
          <p:cNvSpPr>
            <a:spLocks noGrp="1"/>
          </p:cNvSpPr>
          <p:nvPr>
            <p:ph type="title"/>
          </p:nvPr>
        </p:nvSpPr>
        <p:spPr>
          <a:xfrm>
            <a:off x="8719126" y="979051"/>
            <a:ext cx="2811879" cy="1807048"/>
          </a:xfrm>
        </p:spPr>
        <p:txBody>
          <a:bodyPr anchor="b">
            <a:normAutofit/>
          </a:bodyPr>
          <a:lstStyle/>
          <a:p>
            <a:r>
              <a:rPr lang="en-US" sz="3300" b="1"/>
              <a:t>Separation of Duties (SoD)</a:t>
            </a:r>
            <a:br>
              <a:rPr lang="en-US" sz="3300" b="1"/>
            </a:br>
            <a:endParaRPr lang="en-US" sz="3300"/>
          </a:p>
        </p:txBody>
      </p:sp>
      <p:pic>
        <p:nvPicPr>
          <p:cNvPr id="2050" name="Picture 2" descr="Segregation of duties: prevent fraud and error - eftsure">
            <a:extLst>
              <a:ext uri="{FF2B5EF4-FFF2-40B4-BE49-F238E27FC236}">
                <a16:creationId xmlns:a16="http://schemas.microsoft.com/office/drawing/2014/main" id="{BD7A8CF4-0937-902E-8F3A-B7F060DDE9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 b="5699"/>
          <a:stretch/>
        </p:blipFill>
        <p:spPr bwMode="auto">
          <a:xfrm>
            <a:off x="20" y="535709"/>
            <a:ext cx="8229580" cy="5820640"/>
          </a:xfrm>
          <a:prstGeom prst="rect">
            <a:avLst/>
          </a:prstGeom>
          <a:noFill/>
          <a:extLst>
            <a:ext uri="{909E8E84-426E-40DD-AFC4-6F175D3DCCD1}">
              <a14:hiddenFill xmlns:a14="http://schemas.microsoft.com/office/drawing/2010/main">
                <a:solidFill>
                  <a:srgbClr val="FFFFFF"/>
                </a:solidFill>
              </a14:hiddenFill>
            </a:ext>
          </a:extLst>
        </p:spPr>
      </p:pic>
      <p:cxnSp>
        <p:nvCxnSpPr>
          <p:cNvPr id="2057" name="Straight Connector 2056">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B209E58-BF81-2BD8-7B73-53200C8C785E}"/>
              </a:ext>
            </a:extLst>
          </p:cNvPr>
          <p:cNvSpPr>
            <a:spLocks noGrp="1"/>
          </p:cNvSpPr>
          <p:nvPr>
            <p:ph idx="1"/>
          </p:nvPr>
        </p:nvSpPr>
        <p:spPr>
          <a:xfrm>
            <a:off x="8719128" y="2922624"/>
            <a:ext cx="2811880" cy="3409950"/>
          </a:xfrm>
        </p:spPr>
        <p:txBody>
          <a:bodyPr anchor="t">
            <a:normAutofit/>
          </a:bodyPr>
          <a:lstStyle/>
          <a:p>
            <a:pPr>
              <a:lnSpc>
                <a:spcPct val="110000"/>
              </a:lnSpc>
              <a:buFont typeface="Arial" panose="020B0604020202020204" pitchFamily="34" charset="0"/>
              <a:buChar char="•"/>
            </a:pPr>
            <a:r>
              <a:rPr lang="en-US" sz="1400" b="1"/>
              <a:t>Definition</a:t>
            </a:r>
            <a:r>
              <a:rPr lang="en-US" sz="1400"/>
              <a:t>: No user should have enough privileges to misuse the system alone</a:t>
            </a:r>
          </a:p>
          <a:p>
            <a:pPr>
              <a:lnSpc>
                <a:spcPct val="110000"/>
              </a:lnSpc>
              <a:buFont typeface="Arial" panose="020B0604020202020204" pitchFamily="34" charset="0"/>
              <a:buChar char="•"/>
            </a:pPr>
            <a:r>
              <a:rPr lang="en-US" sz="1400" b="1"/>
              <a:t>Historical Context</a:t>
            </a:r>
            <a:r>
              <a:rPr lang="en-US" sz="1400"/>
              <a:t>: Conceptual roots in ancient Rome and Greece</a:t>
            </a:r>
          </a:p>
          <a:p>
            <a:pPr>
              <a:lnSpc>
                <a:spcPct val="110000"/>
              </a:lnSpc>
              <a:buFont typeface="Arial" panose="020B0604020202020204" pitchFamily="34" charset="0"/>
              <a:buChar char="•"/>
            </a:pPr>
            <a:r>
              <a:rPr lang="en-US" sz="1400" b="1"/>
              <a:t>Implementation</a:t>
            </a:r>
            <a:r>
              <a:rPr lang="en-US" sz="1400"/>
              <a:t>: Static definition of conflicting roles or dynamic enforcement at access time</a:t>
            </a:r>
          </a:p>
          <a:p>
            <a:pPr>
              <a:lnSpc>
                <a:spcPct val="110000"/>
              </a:lnSpc>
              <a:buFont typeface="Arial" panose="020B0604020202020204" pitchFamily="34" charset="0"/>
              <a:buChar char="•"/>
            </a:pPr>
            <a:r>
              <a:rPr lang="en-US" sz="1400" b="1"/>
              <a:t>Importance</a:t>
            </a:r>
            <a:r>
              <a:rPr lang="en-US" sz="1400"/>
              <a:t>: Risk mitigation by distributing responsibilities</a:t>
            </a:r>
          </a:p>
          <a:p>
            <a:pPr>
              <a:lnSpc>
                <a:spcPct val="110000"/>
              </a:lnSpc>
            </a:pPr>
            <a:endParaRPr lang="en-US" sz="1400"/>
          </a:p>
        </p:txBody>
      </p:sp>
    </p:spTree>
    <p:extLst>
      <p:ext uri="{BB962C8B-B14F-4D97-AF65-F5344CB8AC3E}">
        <p14:creationId xmlns:p14="http://schemas.microsoft.com/office/powerpoint/2010/main" val="2817914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8FB69-71AA-B138-13A5-B19457316695}"/>
              </a:ext>
            </a:extLst>
          </p:cNvPr>
          <p:cNvSpPr>
            <a:spLocks noGrp="1"/>
          </p:cNvSpPr>
          <p:nvPr>
            <p:ph type="title"/>
          </p:nvPr>
        </p:nvSpPr>
        <p:spPr/>
        <p:txBody>
          <a:bodyPr>
            <a:normAutofit fontScale="90000"/>
          </a:bodyPr>
          <a:lstStyle/>
          <a:p>
            <a:r>
              <a:rPr lang="en-US" b="1" dirty="0"/>
              <a:t>Need-to-Know</a:t>
            </a:r>
            <a:br>
              <a:rPr lang="en-US" b="1" dirty="0"/>
            </a:br>
            <a:endParaRPr lang="en-US" dirty="0"/>
          </a:p>
        </p:txBody>
      </p:sp>
      <p:sp>
        <p:nvSpPr>
          <p:cNvPr id="3" name="Content Placeholder 2">
            <a:extLst>
              <a:ext uri="{FF2B5EF4-FFF2-40B4-BE49-F238E27FC236}">
                <a16:creationId xmlns:a16="http://schemas.microsoft.com/office/drawing/2014/main" id="{B0F200BA-E00C-2C79-D65B-DFA1EF10B008}"/>
              </a:ext>
            </a:extLst>
          </p:cNvPr>
          <p:cNvSpPr>
            <a:spLocks noGrp="1"/>
          </p:cNvSpPr>
          <p:nvPr>
            <p:ph idx="1"/>
          </p:nvPr>
        </p:nvSpPr>
        <p:spPr/>
        <p:txBody>
          <a:bodyPr>
            <a:normAutofit fontScale="85000" lnSpcReduction="10000"/>
          </a:bodyPr>
          <a:lstStyle/>
          <a:p>
            <a:pPr>
              <a:buFont typeface="Arial" panose="020B0604020202020204" pitchFamily="34" charset="0"/>
              <a:buChar char="•"/>
            </a:pPr>
            <a:r>
              <a:rPr lang="en-US" b="1" dirty="0"/>
              <a:t>Definition</a:t>
            </a:r>
            <a:r>
              <a:rPr lang="en-US" dirty="0"/>
              <a:t>: Access to information granted only when required for official duties</a:t>
            </a:r>
          </a:p>
          <a:p>
            <a:pPr>
              <a:buFont typeface="Arial" panose="020B0604020202020204" pitchFamily="34" charset="0"/>
              <a:buChar char="•"/>
            </a:pPr>
            <a:r>
              <a:rPr lang="en-US" b="1" dirty="0"/>
              <a:t>Modern Application</a:t>
            </a:r>
            <a:r>
              <a:rPr lang="en-US" dirty="0"/>
              <a:t>: Often implemented through RBAC systems</a:t>
            </a:r>
          </a:p>
          <a:p>
            <a:pPr>
              <a:buFont typeface="Arial" panose="020B0604020202020204" pitchFamily="34" charset="0"/>
              <a:buChar char="•"/>
            </a:pPr>
            <a:r>
              <a:rPr lang="en-US" b="1" dirty="0"/>
              <a:t>Benefits</a:t>
            </a:r>
            <a:r>
              <a:rPr lang="en-US" dirty="0"/>
              <a:t>: Enhanced resilience against internal/external attacks, reduced damage potential</a:t>
            </a:r>
          </a:p>
          <a:p>
            <a:endParaRPr lang="en-US" dirty="0"/>
          </a:p>
          <a:p>
            <a:r>
              <a:rPr lang="en-US" dirty="0"/>
              <a:t>This principle differs from least privilege in that need-to-know focuses on access to specific information, whereas least privilege refers to the broader set of permissions required to perform a job.</a:t>
            </a:r>
          </a:p>
          <a:p>
            <a:r>
              <a:rPr lang="en-US" dirty="0"/>
              <a:t>In moder enterprise, the need-to-know principle is often applied through Role-Based Access Control (RBAC) systems to manage and control access to shared data effectively, ensuring appropriate separation based on department and team member responsibilities. </a:t>
            </a:r>
          </a:p>
        </p:txBody>
      </p:sp>
    </p:spTree>
    <p:extLst>
      <p:ext uri="{BB962C8B-B14F-4D97-AF65-F5344CB8AC3E}">
        <p14:creationId xmlns:p14="http://schemas.microsoft.com/office/powerpoint/2010/main" val="1194111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8" name="Rectangle 308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DC265EE-5E7D-390F-5A73-ADAFB79B13A9}"/>
              </a:ext>
            </a:extLst>
          </p:cNvPr>
          <p:cNvSpPr>
            <a:spLocks noGrp="1"/>
          </p:cNvSpPr>
          <p:nvPr>
            <p:ph type="title"/>
          </p:nvPr>
        </p:nvSpPr>
        <p:spPr>
          <a:xfrm>
            <a:off x="640080" y="914399"/>
            <a:ext cx="10847494" cy="1171069"/>
          </a:xfrm>
        </p:spPr>
        <p:txBody>
          <a:bodyPr anchor="t">
            <a:normAutofit/>
          </a:bodyPr>
          <a:lstStyle/>
          <a:p>
            <a:pPr>
              <a:lnSpc>
                <a:spcPct val="90000"/>
              </a:lnSpc>
            </a:pPr>
            <a:r>
              <a:rPr lang="en-US" sz="3700" b="1"/>
              <a:t>Defense in Depth</a:t>
            </a:r>
            <a:br>
              <a:rPr lang="en-US" sz="3700" b="1"/>
            </a:br>
            <a:endParaRPr lang="en-US" sz="3700"/>
          </a:p>
        </p:txBody>
      </p:sp>
      <p:pic>
        <p:nvPicPr>
          <p:cNvPr id="3074" name="Picture 2" descr="What is Defense in Depth? Architecture and Examples">
            <a:extLst>
              <a:ext uri="{FF2B5EF4-FFF2-40B4-BE49-F238E27FC236}">
                <a16:creationId xmlns:a16="http://schemas.microsoft.com/office/drawing/2014/main" id="{E6050D8D-5D7D-1E5C-AFAF-2CF74F9D893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13232" y="2442059"/>
            <a:ext cx="5648193" cy="338891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CF722E2-DAE9-C43C-DAD2-F0B91319CB20}"/>
              </a:ext>
            </a:extLst>
          </p:cNvPr>
          <p:cNvSpPr>
            <a:spLocks noGrp="1"/>
          </p:cNvSpPr>
          <p:nvPr>
            <p:ph idx="1"/>
          </p:nvPr>
        </p:nvSpPr>
        <p:spPr>
          <a:xfrm>
            <a:off x="6915150" y="2256287"/>
            <a:ext cx="4563618" cy="3760459"/>
          </a:xfrm>
        </p:spPr>
        <p:txBody>
          <a:bodyPr anchor="t">
            <a:normAutofit/>
          </a:bodyPr>
          <a:lstStyle/>
          <a:p>
            <a:pPr>
              <a:lnSpc>
                <a:spcPct val="110000"/>
              </a:lnSpc>
              <a:buFont typeface="Arial" panose="020B0604020202020204" pitchFamily="34" charset="0"/>
              <a:buChar char="•"/>
            </a:pPr>
            <a:r>
              <a:rPr lang="en-US" b="1"/>
              <a:t>Concept</a:t>
            </a:r>
            <a:r>
              <a:rPr lang="en-US"/>
              <a:t>: Multiple layers of security controls to provide redundancy</a:t>
            </a:r>
          </a:p>
          <a:p>
            <a:pPr>
              <a:lnSpc>
                <a:spcPct val="110000"/>
              </a:lnSpc>
              <a:buFont typeface="Arial" panose="020B0604020202020204" pitchFamily="34" charset="0"/>
              <a:buChar char="•"/>
            </a:pPr>
            <a:r>
              <a:rPr lang="en-US" b="1"/>
              <a:t>Origin</a:t>
            </a:r>
            <a:r>
              <a:rPr lang="en-US"/>
              <a:t>: U.S. National Security Agency (NSA) strategy</a:t>
            </a:r>
          </a:p>
          <a:p>
            <a:pPr>
              <a:lnSpc>
                <a:spcPct val="110000"/>
              </a:lnSpc>
              <a:buFont typeface="Arial" panose="020B0604020202020204" pitchFamily="34" charset="0"/>
              <a:buChar char="•"/>
            </a:pPr>
            <a:r>
              <a:rPr lang="en-US" b="1"/>
              <a:t>Modern Implementation</a:t>
            </a:r>
            <a:r>
              <a:rPr lang="en-US"/>
              <a:t>: Privileged Access Management, endpoint security, MFA, secrets management</a:t>
            </a:r>
          </a:p>
          <a:p>
            <a:pPr>
              <a:lnSpc>
                <a:spcPct val="110000"/>
              </a:lnSpc>
              <a:buFont typeface="Arial" panose="020B0604020202020204" pitchFamily="34" charset="0"/>
              <a:buChar char="•"/>
            </a:pPr>
            <a:r>
              <a:rPr lang="en-US" b="1"/>
              <a:t>Value</a:t>
            </a:r>
            <a:r>
              <a:rPr lang="en-US"/>
              <a:t>: Reduces vulnerabilities, contains threats, mitigates risks</a:t>
            </a:r>
          </a:p>
          <a:p>
            <a:pPr>
              <a:lnSpc>
                <a:spcPct val="110000"/>
              </a:lnSpc>
            </a:pPr>
            <a:endParaRPr lang="en-US"/>
          </a:p>
        </p:txBody>
      </p:sp>
      <p:cxnSp>
        <p:nvCxnSpPr>
          <p:cNvPr id="3081" name="Straight Connector 3080">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0934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F49EED-AD8E-6479-1B33-A3463AE04B46}"/>
              </a:ext>
            </a:extLst>
          </p:cNvPr>
          <p:cNvSpPr>
            <a:spLocks noGrp="1"/>
          </p:cNvSpPr>
          <p:nvPr>
            <p:ph type="title"/>
          </p:nvPr>
        </p:nvSpPr>
        <p:spPr>
          <a:xfrm>
            <a:off x="640080" y="1371600"/>
            <a:ext cx="5737859" cy="1097280"/>
          </a:xfrm>
        </p:spPr>
        <p:txBody>
          <a:bodyPr>
            <a:normAutofit/>
          </a:bodyPr>
          <a:lstStyle/>
          <a:p>
            <a:pPr>
              <a:lnSpc>
                <a:spcPct val="90000"/>
              </a:lnSpc>
            </a:pPr>
            <a:r>
              <a:rPr lang="en-US" sz="3400" dirty="0"/>
              <a:t>Theoretical Models of Access Control</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5" name="Content Placeholder 2">
            <a:extLst>
              <a:ext uri="{FF2B5EF4-FFF2-40B4-BE49-F238E27FC236}">
                <a16:creationId xmlns:a16="http://schemas.microsoft.com/office/drawing/2014/main" id="{527673FC-B62F-973D-1942-9D27816F905F}"/>
              </a:ext>
            </a:extLst>
          </p:cNvPr>
          <p:cNvSpPr>
            <a:spLocks noGrp="1"/>
          </p:cNvSpPr>
          <p:nvPr>
            <p:ph idx="1"/>
          </p:nvPr>
        </p:nvSpPr>
        <p:spPr>
          <a:xfrm>
            <a:off x="640080" y="2633236"/>
            <a:ext cx="5737860" cy="3666980"/>
          </a:xfrm>
        </p:spPr>
        <p:txBody>
          <a:bodyPr>
            <a:normAutofit/>
          </a:bodyPr>
          <a:lstStyle/>
          <a:p>
            <a:r>
              <a:rPr lang="en-US"/>
              <a:t>Role-Based Access Control (RBAC)</a:t>
            </a:r>
          </a:p>
          <a:p>
            <a:r>
              <a:rPr lang="en-US"/>
              <a:t>Attribute-Based Access Control (ABAC)</a:t>
            </a:r>
          </a:p>
          <a:p>
            <a:r>
              <a:rPr lang="en-US"/>
              <a:t>Context-Based Access Control (CBAC)</a:t>
            </a:r>
          </a:p>
        </p:txBody>
      </p:sp>
      <p:pic>
        <p:nvPicPr>
          <p:cNvPr id="7" name="Graphic 6" descr="Lock">
            <a:extLst>
              <a:ext uri="{FF2B5EF4-FFF2-40B4-BE49-F238E27FC236}">
                <a16:creationId xmlns:a16="http://schemas.microsoft.com/office/drawing/2014/main" id="{D9B80B2E-BD9A-48AB-A397-B0F64E0DBD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55179" y="1924386"/>
            <a:ext cx="4375829" cy="4375829"/>
          </a:xfrm>
          <a:prstGeom prst="rect">
            <a:avLst/>
          </a:prstGeom>
        </p:spPr>
      </p:pic>
    </p:spTree>
    <p:extLst>
      <p:ext uri="{BB962C8B-B14F-4D97-AF65-F5344CB8AC3E}">
        <p14:creationId xmlns:p14="http://schemas.microsoft.com/office/powerpoint/2010/main" val="3097237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9" name="Rectangle 411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4116" name="Rectangle 4115">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07" name="Rectangle 4106">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862366-4DBF-1504-CED1-2BBC2A5F8C15}"/>
              </a:ext>
            </a:extLst>
          </p:cNvPr>
          <p:cNvSpPr>
            <a:spLocks noGrp="1"/>
          </p:cNvSpPr>
          <p:nvPr>
            <p:ph type="title"/>
          </p:nvPr>
        </p:nvSpPr>
        <p:spPr>
          <a:xfrm>
            <a:off x="640080" y="914399"/>
            <a:ext cx="10847494" cy="1171069"/>
          </a:xfrm>
        </p:spPr>
        <p:txBody>
          <a:bodyPr anchor="t">
            <a:normAutofit/>
          </a:bodyPr>
          <a:lstStyle/>
          <a:p>
            <a:pPr>
              <a:lnSpc>
                <a:spcPct val="90000"/>
              </a:lnSpc>
            </a:pPr>
            <a:r>
              <a:rPr lang="en-US" sz="3700" b="1"/>
              <a:t>Role-Based Access Control (RBAC)</a:t>
            </a:r>
            <a:br>
              <a:rPr lang="en-US" sz="3700" b="1"/>
            </a:br>
            <a:endParaRPr lang="en-US" sz="3700"/>
          </a:p>
        </p:txBody>
      </p:sp>
      <p:cxnSp>
        <p:nvCxnSpPr>
          <p:cNvPr id="4117" name="Straight Connector 4116">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108" name="Straight Connector 4107">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098" name="Picture 2" descr="What is RBAC (Role Based Access Control)? Meaning, Examples">
            <a:extLst>
              <a:ext uri="{FF2B5EF4-FFF2-40B4-BE49-F238E27FC236}">
                <a16:creationId xmlns:a16="http://schemas.microsoft.com/office/drawing/2014/main" id="{AAD27A5A-7E69-6280-0BA3-A4D4BEFC516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13232" y="2442059"/>
            <a:ext cx="5648193" cy="338891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C270EE0-8640-52FF-99E1-A26241FCC447}"/>
              </a:ext>
            </a:extLst>
          </p:cNvPr>
          <p:cNvSpPr>
            <a:spLocks noGrp="1"/>
          </p:cNvSpPr>
          <p:nvPr>
            <p:ph idx="1"/>
          </p:nvPr>
        </p:nvSpPr>
        <p:spPr>
          <a:xfrm>
            <a:off x="6915150" y="2256287"/>
            <a:ext cx="4563618" cy="3760459"/>
          </a:xfrm>
        </p:spPr>
        <p:txBody>
          <a:bodyPr anchor="t">
            <a:normAutofit/>
          </a:bodyPr>
          <a:lstStyle/>
          <a:p>
            <a:pPr>
              <a:buFont typeface="Arial" panose="020B0604020202020204" pitchFamily="34" charset="0"/>
              <a:buChar char="•"/>
            </a:pPr>
            <a:r>
              <a:rPr lang="en-US" sz="1900" b="1"/>
              <a:t>Definition</a:t>
            </a:r>
            <a:r>
              <a:rPr lang="en-US" sz="1900"/>
              <a:t>: Access based on roles within organization</a:t>
            </a:r>
          </a:p>
          <a:p>
            <a:pPr>
              <a:buFont typeface="Arial" panose="020B0604020202020204" pitchFamily="34" charset="0"/>
              <a:buChar char="•"/>
            </a:pPr>
            <a:r>
              <a:rPr lang="en-US" sz="1900" b="1"/>
              <a:t>Fundamental Rules</a:t>
            </a:r>
            <a:r>
              <a:rPr lang="en-US" sz="1900"/>
              <a:t>: Role assignment, authorization, transaction authorization</a:t>
            </a:r>
          </a:p>
          <a:p>
            <a:pPr>
              <a:buFont typeface="Arial" panose="020B0604020202020204" pitchFamily="34" charset="0"/>
              <a:buChar char="•"/>
            </a:pPr>
            <a:r>
              <a:rPr lang="en-US" sz="1900" b="1"/>
              <a:t>Advantages</a:t>
            </a:r>
            <a:r>
              <a:rPr lang="en-US" sz="1900"/>
              <a:t>: Simplified management, improved efficiency, better compliance</a:t>
            </a:r>
          </a:p>
          <a:p>
            <a:pPr>
              <a:buFont typeface="Arial" panose="020B0604020202020204" pitchFamily="34" charset="0"/>
              <a:buChar char="•"/>
            </a:pPr>
            <a:r>
              <a:rPr lang="en-US" sz="1900" b="1"/>
              <a:t>Limitations</a:t>
            </a:r>
            <a:r>
              <a:rPr lang="en-US" sz="1900"/>
              <a:t>: Requires thorough organization understanding, potential role explosion</a:t>
            </a:r>
          </a:p>
          <a:p>
            <a:endParaRPr lang="en-US" sz="1900"/>
          </a:p>
        </p:txBody>
      </p:sp>
      <p:cxnSp>
        <p:nvCxnSpPr>
          <p:cNvPr id="4120" name="Straight Connector 4119">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8022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04EC146-0860-75EA-7DB9-D3B6C24E5A21}"/>
              </a:ext>
            </a:extLst>
          </p:cNvPr>
          <p:cNvSpPr>
            <a:spLocks noGrp="1"/>
          </p:cNvSpPr>
          <p:nvPr>
            <p:ph type="title"/>
          </p:nvPr>
        </p:nvSpPr>
        <p:spPr>
          <a:xfrm>
            <a:off x="640080" y="914399"/>
            <a:ext cx="10847494" cy="1171069"/>
          </a:xfrm>
        </p:spPr>
        <p:txBody>
          <a:bodyPr anchor="t">
            <a:normAutofit/>
          </a:bodyPr>
          <a:lstStyle/>
          <a:p>
            <a:pPr>
              <a:lnSpc>
                <a:spcPct val="90000"/>
              </a:lnSpc>
            </a:pPr>
            <a:r>
              <a:rPr lang="en-US" sz="3700" b="1"/>
              <a:t>Attribute-Based Access Control (ABAC)</a:t>
            </a:r>
            <a:br>
              <a:rPr lang="en-US" sz="3700" b="1"/>
            </a:br>
            <a:endParaRPr lang="en-US" sz="3700"/>
          </a:p>
        </p:txBody>
      </p:sp>
      <p:pic>
        <p:nvPicPr>
          <p:cNvPr id="5" name="Graphic 4">
            <a:extLst>
              <a:ext uri="{FF2B5EF4-FFF2-40B4-BE49-F238E27FC236}">
                <a16:creationId xmlns:a16="http://schemas.microsoft.com/office/drawing/2014/main" id="{DF1872DF-3841-0FDC-B241-F8437889A5C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3232" y="2371456"/>
            <a:ext cx="5648193" cy="3530120"/>
          </a:xfrm>
          <a:prstGeom prst="rect">
            <a:avLst/>
          </a:prstGeom>
        </p:spPr>
      </p:pic>
      <p:sp>
        <p:nvSpPr>
          <p:cNvPr id="3" name="Content Placeholder 2">
            <a:extLst>
              <a:ext uri="{FF2B5EF4-FFF2-40B4-BE49-F238E27FC236}">
                <a16:creationId xmlns:a16="http://schemas.microsoft.com/office/drawing/2014/main" id="{5797D1A3-42F6-8754-8B32-365387824730}"/>
              </a:ext>
            </a:extLst>
          </p:cNvPr>
          <p:cNvSpPr>
            <a:spLocks noGrp="1"/>
          </p:cNvSpPr>
          <p:nvPr>
            <p:ph idx="1"/>
          </p:nvPr>
        </p:nvSpPr>
        <p:spPr>
          <a:xfrm>
            <a:off x="6915150" y="2256287"/>
            <a:ext cx="4563618" cy="3760459"/>
          </a:xfrm>
        </p:spPr>
        <p:txBody>
          <a:bodyPr anchor="t">
            <a:normAutofit/>
          </a:bodyPr>
          <a:lstStyle/>
          <a:p>
            <a:pPr>
              <a:buFont typeface="Arial" panose="020B0604020202020204" pitchFamily="34" charset="0"/>
              <a:buChar char="•"/>
            </a:pPr>
            <a:r>
              <a:rPr lang="en-US" b="1" dirty="0"/>
              <a:t>Definition</a:t>
            </a:r>
            <a:r>
              <a:rPr lang="en-US" dirty="0"/>
              <a:t>: Authorization based on evaluation of attributes (user, object, operations, environment)</a:t>
            </a:r>
          </a:p>
          <a:p>
            <a:pPr>
              <a:buFont typeface="Arial" panose="020B0604020202020204" pitchFamily="34" charset="0"/>
              <a:buChar char="•"/>
            </a:pPr>
            <a:r>
              <a:rPr lang="en-US" b="1" dirty="0"/>
              <a:t>Advantages</a:t>
            </a:r>
            <a:r>
              <a:rPr lang="en-US" dirty="0"/>
              <a:t>: Fine-grained control, dynamic decisions, enhanced flexibility</a:t>
            </a:r>
          </a:p>
          <a:p>
            <a:pPr>
              <a:buFont typeface="Arial" panose="020B0604020202020204" pitchFamily="34" charset="0"/>
              <a:buChar char="•"/>
            </a:pPr>
            <a:r>
              <a:rPr lang="en-US" b="1" dirty="0"/>
              <a:t>Challenges</a:t>
            </a:r>
            <a:r>
              <a:rPr lang="en-US" dirty="0"/>
              <a:t>: Complex design and maintenance, potential performance concerns</a:t>
            </a:r>
          </a:p>
          <a:p>
            <a:endParaRPr lang="en-US" dirty="0"/>
          </a:p>
        </p:txBody>
      </p:sp>
      <p:cxnSp>
        <p:nvCxnSpPr>
          <p:cNvPr id="12" name="Straight Connector 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7054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C9AD1A-17E2-36F3-C9C9-A52E1F13A113}"/>
              </a:ext>
            </a:extLst>
          </p:cNvPr>
          <p:cNvSpPr>
            <a:spLocks noGrp="1"/>
          </p:cNvSpPr>
          <p:nvPr>
            <p:ph type="title"/>
          </p:nvPr>
        </p:nvSpPr>
        <p:spPr>
          <a:xfrm>
            <a:off x="8719126" y="979051"/>
            <a:ext cx="2811879" cy="1807048"/>
          </a:xfrm>
        </p:spPr>
        <p:txBody>
          <a:bodyPr anchor="b">
            <a:normAutofit fontScale="90000"/>
          </a:bodyPr>
          <a:lstStyle/>
          <a:p>
            <a:pPr>
              <a:lnSpc>
                <a:spcPct val="90000"/>
              </a:lnSpc>
            </a:pPr>
            <a:r>
              <a:rPr lang="en-US" sz="3100" b="1"/>
              <a:t>Context-Based Access Control (CBAC)</a:t>
            </a:r>
            <a:br>
              <a:rPr lang="en-US" sz="3100" b="1"/>
            </a:br>
            <a:endParaRPr lang="en-US" sz="3100"/>
          </a:p>
        </p:txBody>
      </p:sp>
      <p:pic>
        <p:nvPicPr>
          <p:cNvPr id="6" name="Picture 5">
            <a:extLst>
              <a:ext uri="{FF2B5EF4-FFF2-40B4-BE49-F238E27FC236}">
                <a16:creationId xmlns:a16="http://schemas.microsoft.com/office/drawing/2014/main" id="{C8FA3DBD-4436-3426-A4BA-6A9AFD864128}"/>
              </a:ext>
            </a:extLst>
          </p:cNvPr>
          <p:cNvPicPr>
            <a:picLocks noChangeAspect="1"/>
          </p:cNvPicPr>
          <p:nvPr/>
        </p:nvPicPr>
        <p:blipFill>
          <a:blip r:embed="rId3"/>
          <a:srcRect t="5380"/>
          <a:stretch/>
        </p:blipFill>
        <p:spPr>
          <a:xfrm>
            <a:off x="244772" y="538600"/>
            <a:ext cx="8229580" cy="5820640"/>
          </a:xfrm>
          <a:prstGeom prst="rect">
            <a:avLst/>
          </a:prstGeom>
        </p:spPr>
      </p:pic>
      <p:cxnSp>
        <p:nvCxnSpPr>
          <p:cNvPr id="21" name="Straight Connector 20">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F751F66-2048-90CF-9006-3C3014968762}"/>
              </a:ext>
            </a:extLst>
          </p:cNvPr>
          <p:cNvSpPr>
            <a:spLocks noGrp="1"/>
          </p:cNvSpPr>
          <p:nvPr>
            <p:ph idx="1"/>
          </p:nvPr>
        </p:nvSpPr>
        <p:spPr>
          <a:xfrm>
            <a:off x="8719128" y="2922624"/>
            <a:ext cx="2811880" cy="3409950"/>
          </a:xfrm>
        </p:spPr>
        <p:txBody>
          <a:bodyPr anchor="t">
            <a:normAutofit/>
          </a:bodyPr>
          <a:lstStyle/>
          <a:p>
            <a:pPr>
              <a:lnSpc>
                <a:spcPct val="110000"/>
              </a:lnSpc>
              <a:buFont typeface="Arial" panose="020B0604020202020204" pitchFamily="34" charset="0"/>
              <a:buChar char="•"/>
            </a:pPr>
            <a:r>
              <a:rPr lang="en-US" sz="1700" b="1"/>
              <a:t>Definition</a:t>
            </a:r>
            <a:r>
              <a:rPr lang="en-US" sz="1700"/>
              <a:t>: Considers contextual factors in access decisions</a:t>
            </a:r>
          </a:p>
          <a:p>
            <a:pPr>
              <a:lnSpc>
                <a:spcPct val="110000"/>
              </a:lnSpc>
              <a:buFont typeface="Arial" panose="020B0604020202020204" pitchFamily="34" charset="0"/>
              <a:buChar char="•"/>
            </a:pPr>
            <a:r>
              <a:rPr lang="en-US" sz="1700" b="1"/>
              <a:t>Implementation</a:t>
            </a:r>
            <a:r>
              <a:rPr lang="en-US" sz="1700"/>
              <a:t>: Determines risk based on analytical, static, contextual attributes</a:t>
            </a:r>
          </a:p>
          <a:p>
            <a:pPr>
              <a:lnSpc>
                <a:spcPct val="110000"/>
              </a:lnSpc>
              <a:buFont typeface="Arial" panose="020B0604020202020204" pitchFamily="34" charset="0"/>
              <a:buChar char="•"/>
            </a:pPr>
            <a:r>
              <a:rPr lang="en-US" sz="1700" b="1"/>
              <a:t>Distinction</a:t>
            </a:r>
            <a:r>
              <a:rPr lang="en-US" sz="1700"/>
              <a:t>: Extension of ABAC with focus on situational factors</a:t>
            </a:r>
          </a:p>
          <a:p>
            <a:pPr>
              <a:lnSpc>
                <a:spcPct val="110000"/>
              </a:lnSpc>
            </a:pPr>
            <a:endParaRPr lang="en-US" sz="1700"/>
          </a:p>
        </p:txBody>
      </p:sp>
    </p:spTree>
    <p:extLst>
      <p:ext uri="{BB962C8B-B14F-4D97-AF65-F5344CB8AC3E}">
        <p14:creationId xmlns:p14="http://schemas.microsoft.com/office/powerpoint/2010/main" val="2016530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E1BD0-B51C-F941-F980-C7DB93F7660D}"/>
              </a:ext>
            </a:extLst>
          </p:cNvPr>
          <p:cNvSpPr>
            <a:spLocks noGrp="1"/>
          </p:cNvSpPr>
          <p:nvPr>
            <p:ph type="title"/>
          </p:nvPr>
        </p:nvSpPr>
        <p:spPr/>
        <p:txBody>
          <a:bodyPr/>
          <a:lstStyle/>
          <a:p>
            <a:r>
              <a:rPr lang="en-US" dirty="0"/>
              <a:t>Modern Authentication Methods</a:t>
            </a:r>
          </a:p>
        </p:txBody>
      </p:sp>
      <p:sp>
        <p:nvSpPr>
          <p:cNvPr id="3" name="Content Placeholder 2">
            <a:extLst>
              <a:ext uri="{FF2B5EF4-FFF2-40B4-BE49-F238E27FC236}">
                <a16:creationId xmlns:a16="http://schemas.microsoft.com/office/drawing/2014/main" id="{E947EFB4-8866-BA42-7B40-8F0D50C2328E}"/>
              </a:ext>
            </a:extLst>
          </p:cNvPr>
          <p:cNvSpPr>
            <a:spLocks noGrp="1"/>
          </p:cNvSpPr>
          <p:nvPr>
            <p:ph idx="1"/>
          </p:nvPr>
        </p:nvSpPr>
        <p:spPr/>
        <p:txBody>
          <a:bodyPr/>
          <a:lstStyle/>
          <a:p>
            <a:r>
              <a:rPr lang="en-US" dirty="0"/>
              <a:t>Multi-Factor Authentication (MFA)</a:t>
            </a:r>
          </a:p>
          <a:p>
            <a:r>
              <a:rPr lang="en-US" dirty="0"/>
              <a:t>Biometric Authentication</a:t>
            </a:r>
          </a:p>
          <a:p>
            <a:r>
              <a:rPr lang="en-US" dirty="0" err="1"/>
              <a:t>Passwordless</a:t>
            </a:r>
            <a:r>
              <a:rPr lang="en-US" dirty="0"/>
              <a:t> Authentication</a:t>
            </a:r>
          </a:p>
        </p:txBody>
      </p:sp>
    </p:spTree>
    <p:extLst>
      <p:ext uri="{BB962C8B-B14F-4D97-AF65-F5344CB8AC3E}">
        <p14:creationId xmlns:p14="http://schemas.microsoft.com/office/powerpoint/2010/main" val="2587212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B629B45-36DF-1A24-04F3-649A5E9E0DDC}"/>
              </a:ext>
            </a:extLst>
          </p:cNvPr>
          <p:cNvSpPr>
            <a:spLocks noGrp="1"/>
          </p:cNvSpPr>
          <p:nvPr>
            <p:ph type="title"/>
          </p:nvPr>
        </p:nvSpPr>
        <p:spPr>
          <a:xfrm>
            <a:off x="640080" y="914399"/>
            <a:ext cx="10847494" cy="1171069"/>
          </a:xfrm>
        </p:spPr>
        <p:txBody>
          <a:bodyPr anchor="t">
            <a:normAutofit/>
          </a:bodyPr>
          <a:lstStyle/>
          <a:p>
            <a:pPr>
              <a:lnSpc>
                <a:spcPct val="90000"/>
              </a:lnSpc>
            </a:pPr>
            <a:r>
              <a:rPr lang="en-US" sz="3700" b="1"/>
              <a:t>Multi-Factor Authentication (MFA)</a:t>
            </a:r>
            <a:br>
              <a:rPr lang="en-US" sz="3700" b="1"/>
            </a:br>
            <a:endParaRPr lang="en-US" sz="3700"/>
          </a:p>
        </p:txBody>
      </p:sp>
      <p:pic>
        <p:nvPicPr>
          <p:cNvPr id="5122" name="Picture 2" descr="What is Multifactor Authentication (MFA)?Benefits, Examples🔎">
            <a:extLst>
              <a:ext uri="{FF2B5EF4-FFF2-40B4-BE49-F238E27FC236}">
                <a16:creationId xmlns:a16="http://schemas.microsoft.com/office/drawing/2014/main" id="{72A7D3F6-F646-12D6-042C-3B4D26FB37C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13232" y="2658573"/>
            <a:ext cx="5648193" cy="295588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6862EED-8C41-262D-A814-386D6D7E07FA}"/>
              </a:ext>
            </a:extLst>
          </p:cNvPr>
          <p:cNvSpPr>
            <a:spLocks noGrp="1"/>
          </p:cNvSpPr>
          <p:nvPr>
            <p:ph idx="1"/>
          </p:nvPr>
        </p:nvSpPr>
        <p:spPr>
          <a:xfrm>
            <a:off x="6915150" y="2256287"/>
            <a:ext cx="4563618" cy="3760459"/>
          </a:xfrm>
        </p:spPr>
        <p:txBody>
          <a:bodyPr anchor="t">
            <a:normAutofit/>
          </a:bodyPr>
          <a:lstStyle/>
          <a:p>
            <a:pPr>
              <a:buFont typeface="Arial" panose="020B0604020202020204" pitchFamily="34" charset="0"/>
              <a:buChar char="•"/>
            </a:pPr>
            <a:r>
              <a:rPr lang="en-US" b="1" dirty="0"/>
              <a:t>Definition</a:t>
            </a:r>
            <a:r>
              <a:rPr lang="en-US" dirty="0"/>
              <a:t>: Requires multiple authentication factors</a:t>
            </a:r>
          </a:p>
          <a:p>
            <a:pPr>
              <a:buFont typeface="Arial" panose="020B0604020202020204" pitchFamily="34" charset="0"/>
              <a:buChar char="•"/>
            </a:pPr>
            <a:r>
              <a:rPr lang="en-US" b="1" dirty="0"/>
              <a:t>Implementations</a:t>
            </a:r>
            <a:r>
              <a:rPr lang="en-US" dirty="0"/>
              <a:t>: Authenticator apps, security keys, biometrics</a:t>
            </a:r>
          </a:p>
          <a:p>
            <a:pPr>
              <a:buFont typeface="Arial" panose="020B0604020202020204" pitchFamily="34" charset="0"/>
              <a:buChar char="•"/>
            </a:pPr>
            <a:r>
              <a:rPr lang="en-US" b="1" dirty="0"/>
              <a:t>Benefits</a:t>
            </a:r>
            <a:r>
              <a:rPr lang="en-US" dirty="0"/>
              <a:t>: Creates additional security barriers</a:t>
            </a:r>
          </a:p>
          <a:p>
            <a:pPr>
              <a:buFont typeface="Arial" panose="020B0604020202020204" pitchFamily="34" charset="0"/>
              <a:buChar char="•"/>
            </a:pPr>
            <a:r>
              <a:rPr lang="en-US" b="1" dirty="0"/>
              <a:t>Challenges</a:t>
            </a:r>
            <a:r>
              <a:rPr lang="en-US" dirty="0"/>
              <a:t>: Implementation complexity, potential user resistance</a:t>
            </a:r>
          </a:p>
          <a:p>
            <a:endParaRPr lang="en-US" dirty="0"/>
          </a:p>
        </p:txBody>
      </p:sp>
      <p:cxnSp>
        <p:nvCxnSpPr>
          <p:cNvPr id="5129" name="Straight Connector 5128">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335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41A29-EF02-F979-A55B-1BB520D8A4F4}"/>
              </a:ext>
            </a:extLst>
          </p:cNvPr>
          <p:cNvSpPr>
            <a:spLocks noGrp="1"/>
          </p:cNvSpPr>
          <p:nvPr>
            <p:ph type="title"/>
          </p:nvPr>
        </p:nvSpPr>
        <p:spPr/>
        <p:txBody>
          <a:bodyPr>
            <a:normAutofit fontScale="90000"/>
          </a:bodyPr>
          <a:lstStyle/>
          <a:p>
            <a:r>
              <a:rPr lang="en-US" b="1" dirty="0"/>
              <a:t>Biometric Authentication</a:t>
            </a:r>
            <a:br>
              <a:rPr lang="en-US" b="1" dirty="0"/>
            </a:br>
            <a:endParaRPr lang="en-US" dirty="0"/>
          </a:p>
        </p:txBody>
      </p:sp>
      <p:sp>
        <p:nvSpPr>
          <p:cNvPr id="3" name="Content Placeholder 2">
            <a:extLst>
              <a:ext uri="{FF2B5EF4-FFF2-40B4-BE49-F238E27FC236}">
                <a16:creationId xmlns:a16="http://schemas.microsoft.com/office/drawing/2014/main" id="{38AF393B-6CEE-99A8-9F90-681E08905F03}"/>
              </a:ext>
            </a:extLst>
          </p:cNvPr>
          <p:cNvSpPr>
            <a:spLocks noGrp="1"/>
          </p:cNvSpPr>
          <p:nvPr>
            <p:ph idx="1"/>
          </p:nvPr>
        </p:nvSpPr>
        <p:spPr/>
        <p:txBody>
          <a:bodyPr/>
          <a:lstStyle/>
          <a:p>
            <a:pPr>
              <a:buFont typeface="Arial" panose="020B0604020202020204" pitchFamily="34" charset="0"/>
              <a:buChar char="•"/>
            </a:pPr>
            <a:r>
              <a:rPr lang="en-US" b="1" dirty="0"/>
              <a:t>Types</a:t>
            </a:r>
            <a:r>
              <a:rPr lang="en-US" dirty="0"/>
              <a:t>: Fingerprint, facial, voice, iris/retina scanning, behavioral</a:t>
            </a:r>
          </a:p>
          <a:p>
            <a:pPr>
              <a:buFont typeface="Arial" panose="020B0604020202020204" pitchFamily="34" charset="0"/>
              <a:buChar char="•"/>
            </a:pPr>
            <a:r>
              <a:rPr lang="en-US" b="1" dirty="0"/>
              <a:t>Advantages</a:t>
            </a:r>
            <a:r>
              <a:rPr lang="en-US" dirty="0"/>
              <a:t>: Based on unique traits, difficult to replicate</a:t>
            </a:r>
          </a:p>
          <a:p>
            <a:pPr>
              <a:buFont typeface="Arial" panose="020B0604020202020204" pitchFamily="34" charset="0"/>
              <a:buChar char="•"/>
            </a:pPr>
            <a:r>
              <a:rPr lang="en-US" b="1" dirty="0"/>
              <a:t>Limitations</a:t>
            </a:r>
            <a:r>
              <a:rPr lang="en-US" dirty="0"/>
              <a:t>: Privacy concerns, implementation costs, false positives/negatives</a:t>
            </a:r>
          </a:p>
          <a:p>
            <a:endParaRPr lang="en-US" dirty="0"/>
          </a:p>
        </p:txBody>
      </p:sp>
    </p:spTree>
    <p:extLst>
      <p:ext uri="{BB962C8B-B14F-4D97-AF65-F5344CB8AC3E}">
        <p14:creationId xmlns:p14="http://schemas.microsoft.com/office/powerpoint/2010/main" val="320373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B755FCE-F23F-7E54-D74F-E3F72B167D35}"/>
              </a:ext>
            </a:extLst>
          </p:cNvPr>
          <p:cNvSpPr>
            <a:spLocks noGrp="1"/>
          </p:cNvSpPr>
          <p:nvPr>
            <p:ph type="title"/>
          </p:nvPr>
        </p:nvSpPr>
        <p:spPr>
          <a:xfrm>
            <a:off x="640080" y="914399"/>
            <a:ext cx="10847494" cy="1171069"/>
          </a:xfrm>
        </p:spPr>
        <p:txBody>
          <a:bodyPr anchor="t">
            <a:normAutofit/>
          </a:bodyPr>
          <a:lstStyle/>
          <a:p>
            <a:r>
              <a:rPr lang="en-US"/>
              <a:t>Passwordless</a:t>
            </a:r>
            <a:r>
              <a:rPr lang="en-US" dirty="0"/>
              <a:t> Authentication</a:t>
            </a:r>
          </a:p>
        </p:txBody>
      </p:sp>
      <p:pic>
        <p:nvPicPr>
          <p:cNvPr id="6146" name="Picture 2" descr="What Is Passwordless Authentication and Why Biometrics Is Key?">
            <a:extLst>
              <a:ext uri="{FF2B5EF4-FFF2-40B4-BE49-F238E27FC236}">
                <a16:creationId xmlns:a16="http://schemas.microsoft.com/office/drawing/2014/main" id="{94FC24CE-ED9B-7FC5-5AFA-82BC063F54E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13232" y="2491480"/>
            <a:ext cx="5648193" cy="329007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F85E173-E51F-2E16-2C1E-3EEEFA522BFA}"/>
              </a:ext>
            </a:extLst>
          </p:cNvPr>
          <p:cNvSpPr>
            <a:spLocks noGrp="1"/>
          </p:cNvSpPr>
          <p:nvPr>
            <p:ph idx="1"/>
          </p:nvPr>
        </p:nvSpPr>
        <p:spPr>
          <a:xfrm>
            <a:off x="6915150" y="2256287"/>
            <a:ext cx="4563618" cy="3760459"/>
          </a:xfrm>
        </p:spPr>
        <p:txBody>
          <a:bodyPr anchor="t">
            <a:normAutofit/>
          </a:bodyPr>
          <a:lstStyle/>
          <a:p>
            <a:r>
              <a:rPr lang="en-US" b="1" dirty="0"/>
              <a:t>Mechanism</a:t>
            </a:r>
            <a:r>
              <a:rPr lang="en-US" dirty="0"/>
              <a:t>: Authentication without password entry </a:t>
            </a:r>
          </a:p>
          <a:p>
            <a:r>
              <a:rPr lang="en-US" b="1" dirty="0"/>
              <a:t>Methods</a:t>
            </a:r>
            <a:r>
              <a:rPr lang="en-US" dirty="0"/>
              <a:t>: Proximity badges, tokens, biometrics, mobile applications </a:t>
            </a:r>
          </a:p>
          <a:p>
            <a:r>
              <a:rPr lang="en-US" b="1" dirty="0"/>
              <a:t>Security Benefits</a:t>
            </a:r>
            <a:r>
              <a:rPr lang="en-US" dirty="0"/>
              <a:t>: Reduces password-related vulnerabilities </a:t>
            </a:r>
          </a:p>
          <a:p>
            <a:r>
              <a:rPr lang="en-US" b="1" dirty="0"/>
              <a:t>Adoption Challenges</a:t>
            </a:r>
            <a:r>
              <a:rPr lang="en-US" dirty="0"/>
              <a:t>: Legacy system integration, user adoption, implementation costs</a:t>
            </a:r>
          </a:p>
        </p:txBody>
      </p:sp>
      <p:cxnSp>
        <p:nvCxnSpPr>
          <p:cNvPr id="6153" name="Straight Connector 6152">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8438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DD091-0B2A-FF6F-6559-7186885D86F5}"/>
              </a:ext>
            </a:extLst>
          </p:cNvPr>
          <p:cNvSpPr>
            <a:spLocks noGrp="1"/>
          </p:cNvSpPr>
          <p:nvPr>
            <p:ph type="title"/>
          </p:nvPr>
        </p:nvSpPr>
        <p:spPr/>
        <p:txBody>
          <a:bodyPr>
            <a:normAutofit/>
          </a:bodyPr>
          <a:lstStyle/>
          <a:p>
            <a:r>
              <a:rPr lang="en-US" b="1" dirty="0"/>
              <a:t>Authorization Frameworks</a:t>
            </a:r>
          </a:p>
        </p:txBody>
      </p:sp>
      <p:sp>
        <p:nvSpPr>
          <p:cNvPr id="3" name="Content Placeholder 2">
            <a:extLst>
              <a:ext uri="{FF2B5EF4-FFF2-40B4-BE49-F238E27FC236}">
                <a16:creationId xmlns:a16="http://schemas.microsoft.com/office/drawing/2014/main" id="{B83012BC-31FB-BEB8-C95E-7742A52061E5}"/>
              </a:ext>
            </a:extLst>
          </p:cNvPr>
          <p:cNvSpPr>
            <a:spLocks noGrp="1"/>
          </p:cNvSpPr>
          <p:nvPr>
            <p:ph idx="1"/>
          </p:nvPr>
        </p:nvSpPr>
        <p:spPr/>
        <p:txBody>
          <a:bodyPr>
            <a:normAutofit/>
          </a:bodyPr>
          <a:lstStyle/>
          <a:p>
            <a:pPr marL="0" indent="0">
              <a:buNone/>
            </a:pPr>
            <a:r>
              <a:rPr lang="en-US" b="1" dirty="0"/>
              <a:t>OAuth 2.0</a:t>
            </a:r>
          </a:p>
          <a:p>
            <a:pPr>
              <a:buFont typeface="Arial" panose="020B0604020202020204" pitchFamily="34" charset="0"/>
              <a:buChar char="•"/>
            </a:pPr>
            <a:r>
              <a:rPr lang="en-US" b="1" dirty="0"/>
              <a:t>Purpose</a:t>
            </a:r>
            <a:r>
              <a:rPr lang="en-US" dirty="0"/>
              <a:t>: Framework enabling third-party limited access to HTTP services</a:t>
            </a:r>
          </a:p>
          <a:p>
            <a:pPr>
              <a:buFont typeface="Arial" panose="020B0604020202020204" pitchFamily="34" charset="0"/>
              <a:buChar char="•"/>
            </a:pPr>
            <a:r>
              <a:rPr lang="en-US" b="1" dirty="0"/>
              <a:t>Principle</a:t>
            </a:r>
            <a:r>
              <a:rPr lang="en-US" dirty="0"/>
              <a:t>: Secure delegated access without sharing credentials</a:t>
            </a:r>
          </a:p>
          <a:p>
            <a:pPr>
              <a:buFont typeface="Arial" panose="020B0604020202020204" pitchFamily="34" charset="0"/>
              <a:buChar char="•"/>
            </a:pPr>
            <a:r>
              <a:rPr lang="en-US" b="1" dirty="0"/>
              <a:t>Process</a:t>
            </a:r>
            <a:r>
              <a:rPr lang="en-US" dirty="0"/>
              <a:t>: Authorization code grant flow with token-based access</a:t>
            </a:r>
          </a:p>
          <a:p>
            <a:pPr>
              <a:buFont typeface="Arial" panose="020B0604020202020204" pitchFamily="34" charset="0"/>
              <a:buChar char="•"/>
            </a:pPr>
            <a:r>
              <a:rPr lang="en-US" b="1" dirty="0"/>
              <a:t>Application</a:t>
            </a:r>
            <a:r>
              <a:rPr lang="en-US" dirty="0"/>
              <a:t>: Web services, API access management</a:t>
            </a:r>
          </a:p>
          <a:p>
            <a:pPr marL="0" indent="0">
              <a:buNone/>
            </a:pPr>
            <a:endParaRPr lang="en-US" dirty="0"/>
          </a:p>
        </p:txBody>
      </p:sp>
    </p:spTree>
    <p:extLst>
      <p:ext uri="{BB962C8B-B14F-4D97-AF65-F5344CB8AC3E}">
        <p14:creationId xmlns:p14="http://schemas.microsoft.com/office/powerpoint/2010/main" val="4118123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1A5EE9-3B7C-5A07-9C77-34ABCE4D180E}"/>
              </a:ext>
            </a:extLst>
          </p:cNvPr>
          <p:cNvSpPr>
            <a:spLocks noGrp="1"/>
          </p:cNvSpPr>
          <p:nvPr>
            <p:ph type="title"/>
          </p:nvPr>
        </p:nvSpPr>
        <p:spPr>
          <a:xfrm>
            <a:off x="8719126" y="979051"/>
            <a:ext cx="2811879" cy="1807048"/>
          </a:xfrm>
        </p:spPr>
        <p:txBody>
          <a:bodyPr anchor="b">
            <a:normAutofit/>
          </a:bodyPr>
          <a:lstStyle/>
          <a:p>
            <a:pPr>
              <a:lnSpc>
                <a:spcPct val="90000"/>
              </a:lnSpc>
            </a:pPr>
            <a:r>
              <a:rPr lang="en-US" sz="2500" b="1"/>
              <a:t>SAML (Security Assertion Markup Language)</a:t>
            </a:r>
            <a:br>
              <a:rPr lang="en-US" sz="2500" b="1"/>
            </a:br>
            <a:endParaRPr lang="en-US" sz="2500"/>
          </a:p>
        </p:txBody>
      </p:sp>
      <p:pic>
        <p:nvPicPr>
          <p:cNvPr id="4" name="Picture 3">
            <a:extLst>
              <a:ext uri="{FF2B5EF4-FFF2-40B4-BE49-F238E27FC236}">
                <a16:creationId xmlns:a16="http://schemas.microsoft.com/office/drawing/2014/main" id="{C7074C4E-DD1C-EF08-2F43-32640527F4D5}"/>
              </a:ext>
            </a:extLst>
          </p:cNvPr>
          <p:cNvPicPr>
            <a:picLocks noChangeAspect="1"/>
          </p:cNvPicPr>
          <p:nvPr/>
        </p:nvPicPr>
        <p:blipFill>
          <a:blip r:embed="rId3"/>
          <a:srcRect l="5271" r="1" b="1"/>
          <a:stretch/>
        </p:blipFill>
        <p:spPr>
          <a:xfrm>
            <a:off x="178126" y="538600"/>
            <a:ext cx="8229580" cy="5820640"/>
          </a:xfrm>
          <a:prstGeom prst="rect">
            <a:avLst/>
          </a:prstGeom>
        </p:spPr>
      </p:pic>
      <p:cxnSp>
        <p:nvCxnSpPr>
          <p:cNvPr id="11" name="Straight Connector 10">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AD582D5-C8AE-8A9E-C2DD-E2FE80E355C1}"/>
              </a:ext>
            </a:extLst>
          </p:cNvPr>
          <p:cNvSpPr>
            <a:spLocks noGrp="1"/>
          </p:cNvSpPr>
          <p:nvPr>
            <p:ph idx="1"/>
          </p:nvPr>
        </p:nvSpPr>
        <p:spPr>
          <a:xfrm>
            <a:off x="8719128" y="2922624"/>
            <a:ext cx="2811880" cy="3409950"/>
          </a:xfrm>
        </p:spPr>
        <p:txBody>
          <a:bodyPr anchor="t">
            <a:normAutofit/>
          </a:bodyPr>
          <a:lstStyle/>
          <a:p>
            <a:pPr>
              <a:lnSpc>
                <a:spcPct val="110000"/>
              </a:lnSpc>
              <a:buFont typeface="Arial" panose="020B0604020202020204" pitchFamily="34" charset="0"/>
              <a:buChar char="•"/>
            </a:pPr>
            <a:r>
              <a:rPr lang="en-US" sz="1400" b="1"/>
              <a:t>Function</a:t>
            </a:r>
            <a:r>
              <a:rPr lang="en-US" sz="1400"/>
              <a:t>: Open standard for authentication enabling Single Sign-On</a:t>
            </a:r>
          </a:p>
          <a:p>
            <a:pPr>
              <a:lnSpc>
                <a:spcPct val="110000"/>
              </a:lnSpc>
              <a:buFont typeface="Arial" panose="020B0604020202020204" pitchFamily="34" charset="0"/>
              <a:buChar char="•"/>
            </a:pPr>
            <a:r>
              <a:rPr lang="en-US" sz="1400" b="1"/>
              <a:t>Components</a:t>
            </a:r>
            <a:r>
              <a:rPr lang="en-US" sz="1400"/>
              <a:t>: Identity provider (IdP) and service provider (SP)</a:t>
            </a:r>
          </a:p>
          <a:p>
            <a:pPr>
              <a:lnSpc>
                <a:spcPct val="110000"/>
              </a:lnSpc>
              <a:buFont typeface="Arial" panose="020B0604020202020204" pitchFamily="34" charset="0"/>
              <a:buChar char="•"/>
            </a:pPr>
            <a:r>
              <a:rPr lang="en-US" sz="1400" b="1"/>
              <a:t>Benefits</a:t>
            </a:r>
            <a:r>
              <a:rPr lang="en-US" sz="1400"/>
              <a:t>: Improved user experience, increased security, reduced help desk costs</a:t>
            </a:r>
          </a:p>
          <a:p>
            <a:pPr>
              <a:lnSpc>
                <a:spcPct val="110000"/>
              </a:lnSpc>
              <a:buFont typeface="Arial" panose="020B0604020202020204" pitchFamily="34" charset="0"/>
              <a:buChar char="•"/>
            </a:pPr>
            <a:r>
              <a:rPr lang="en-US" sz="1400" b="1"/>
              <a:t>Use Case</a:t>
            </a:r>
            <a:r>
              <a:rPr lang="en-US" sz="1400"/>
              <a:t>: Web application authentication across domains</a:t>
            </a:r>
          </a:p>
          <a:p>
            <a:pPr>
              <a:lnSpc>
                <a:spcPct val="110000"/>
              </a:lnSpc>
            </a:pPr>
            <a:endParaRPr lang="en-US" sz="1400"/>
          </a:p>
        </p:txBody>
      </p:sp>
    </p:spTree>
    <p:extLst>
      <p:ext uri="{BB962C8B-B14F-4D97-AF65-F5344CB8AC3E}">
        <p14:creationId xmlns:p14="http://schemas.microsoft.com/office/powerpoint/2010/main" val="2982398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B599C-5005-4874-1297-AE0C188FD6DF}"/>
              </a:ext>
            </a:extLst>
          </p:cNvPr>
          <p:cNvSpPr>
            <a:spLocks noGrp="1"/>
          </p:cNvSpPr>
          <p:nvPr>
            <p:ph type="title"/>
          </p:nvPr>
        </p:nvSpPr>
        <p:spPr/>
        <p:txBody>
          <a:bodyPr>
            <a:normAutofit fontScale="90000"/>
          </a:bodyPr>
          <a:lstStyle/>
          <a:p>
            <a:r>
              <a:rPr lang="en-US" b="1" dirty="0"/>
              <a:t>OpenID Connect (OIDC)</a:t>
            </a:r>
            <a:br>
              <a:rPr lang="en-US" b="1" dirty="0"/>
            </a:br>
            <a:endParaRPr lang="en-US" dirty="0"/>
          </a:p>
        </p:txBody>
      </p:sp>
      <p:sp>
        <p:nvSpPr>
          <p:cNvPr id="3" name="Content Placeholder 2">
            <a:extLst>
              <a:ext uri="{FF2B5EF4-FFF2-40B4-BE49-F238E27FC236}">
                <a16:creationId xmlns:a16="http://schemas.microsoft.com/office/drawing/2014/main" id="{4739DD10-0317-BAD8-B6E7-342AC09D6814}"/>
              </a:ext>
            </a:extLst>
          </p:cNvPr>
          <p:cNvSpPr>
            <a:spLocks noGrp="1"/>
          </p:cNvSpPr>
          <p:nvPr>
            <p:ph idx="1"/>
          </p:nvPr>
        </p:nvSpPr>
        <p:spPr/>
        <p:txBody>
          <a:bodyPr>
            <a:normAutofit fontScale="77500" lnSpcReduction="20000"/>
          </a:bodyPr>
          <a:lstStyle/>
          <a:p>
            <a:pPr>
              <a:buFont typeface="Arial" panose="020B0604020202020204" pitchFamily="34" charset="0"/>
              <a:buChar char="•"/>
            </a:pPr>
            <a:r>
              <a:rPr lang="en-US" b="1" dirty="0"/>
              <a:t>Nature</a:t>
            </a:r>
            <a:r>
              <a:rPr lang="en-US" dirty="0"/>
              <a:t>: Identity authentication protocol built on OAuth 2.0</a:t>
            </a:r>
          </a:p>
          <a:p>
            <a:pPr>
              <a:buFont typeface="Arial" panose="020B0604020202020204" pitchFamily="34" charset="0"/>
              <a:buChar char="•"/>
            </a:pPr>
            <a:r>
              <a:rPr lang="en-US" b="1" dirty="0"/>
              <a:t>Process</a:t>
            </a:r>
            <a:r>
              <a:rPr lang="en-US" dirty="0"/>
              <a:t>: Authentication via OpenID provider with ID token (JWT) delivery</a:t>
            </a:r>
          </a:p>
          <a:p>
            <a:pPr>
              <a:buFont typeface="Arial" panose="020B0604020202020204" pitchFamily="34" charset="0"/>
              <a:buChar char="•"/>
            </a:pPr>
            <a:r>
              <a:rPr lang="en-US" b="1" dirty="0"/>
              <a:t>Advantages</a:t>
            </a:r>
            <a:r>
              <a:rPr lang="en-US" dirty="0"/>
              <a:t>: Standardization, JSON format, API-friendliness, mobile support</a:t>
            </a:r>
          </a:p>
          <a:p>
            <a:pPr>
              <a:buFont typeface="Arial" panose="020B0604020202020204" pitchFamily="34" charset="0"/>
              <a:buChar char="•"/>
            </a:pPr>
            <a:r>
              <a:rPr lang="en-US" b="1" dirty="0"/>
              <a:t>Applications</a:t>
            </a:r>
            <a:r>
              <a:rPr lang="en-US" dirty="0"/>
              <a:t>: Federated login systems, integration with existing authentication</a:t>
            </a:r>
          </a:p>
          <a:p>
            <a:endParaRPr lang="en-US" dirty="0"/>
          </a:p>
          <a:p>
            <a:r>
              <a:rPr lang="en-US" dirty="0"/>
              <a:t>OpenID Connect (OIDC) is an identity authentication protocol that extends OAuth 2.0 by adding an identity layer. While OAuth 2.0 is primarily designed for authorization (determining what resources a client can access), OIDC focuses on authentication (verifying who the user is).</a:t>
            </a:r>
          </a:p>
          <a:p>
            <a:r>
              <a:rPr lang="en-US" dirty="0"/>
              <a:t>OIDC was developed by the OpenID Foundation and released in 2014 to address the need for a standardized, secure, and developer-friendly authentication protocol that works well with modern web and mobile applications.</a:t>
            </a:r>
          </a:p>
          <a:p>
            <a:endParaRPr lang="en-US" dirty="0"/>
          </a:p>
        </p:txBody>
      </p:sp>
    </p:spTree>
    <p:extLst>
      <p:ext uri="{BB962C8B-B14F-4D97-AF65-F5344CB8AC3E}">
        <p14:creationId xmlns:p14="http://schemas.microsoft.com/office/powerpoint/2010/main" val="1112285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2C02-66CC-DE24-0DD7-DEED4732852D}"/>
              </a:ext>
            </a:extLst>
          </p:cNvPr>
          <p:cNvSpPr>
            <a:spLocks noGrp="1"/>
          </p:cNvSpPr>
          <p:nvPr>
            <p:ph type="title"/>
          </p:nvPr>
        </p:nvSpPr>
        <p:spPr/>
        <p:txBody>
          <a:bodyPr>
            <a:normAutofit fontScale="90000"/>
          </a:bodyPr>
          <a:lstStyle/>
          <a:p>
            <a:r>
              <a:rPr lang="en-US" dirty="0"/>
              <a:t>Identity and Access Management (IAM) Solutions</a:t>
            </a:r>
          </a:p>
        </p:txBody>
      </p:sp>
      <p:sp>
        <p:nvSpPr>
          <p:cNvPr id="3" name="Content Placeholder 2">
            <a:extLst>
              <a:ext uri="{FF2B5EF4-FFF2-40B4-BE49-F238E27FC236}">
                <a16:creationId xmlns:a16="http://schemas.microsoft.com/office/drawing/2014/main" id="{BA54CC2D-C3D2-8FD5-9D23-485355AF2E3B}"/>
              </a:ext>
            </a:extLst>
          </p:cNvPr>
          <p:cNvSpPr>
            <a:spLocks noGrp="1"/>
          </p:cNvSpPr>
          <p:nvPr>
            <p:ph idx="1"/>
          </p:nvPr>
        </p:nvSpPr>
        <p:spPr/>
        <p:txBody>
          <a:bodyPr/>
          <a:lstStyle/>
          <a:p>
            <a:r>
              <a:rPr lang="en-US" dirty="0"/>
              <a:t>These tools provide a centralized platform for managing user identities, enforcing access policies, and ensuring compliance.</a:t>
            </a:r>
          </a:p>
        </p:txBody>
      </p:sp>
    </p:spTree>
    <p:extLst>
      <p:ext uri="{BB962C8B-B14F-4D97-AF65-F5344CB8AC3E}">
        <p14:creationId xmlns:p14="http://schemas.microsoft.com/office/powerpoint/2010/main" val="2786587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61B6A-912C-2A3E-66CB-910520AB488A}"/>
              </a:ext>
            </a:extLst>
          </p:cNvPr>
          <p:cNvSpPr>
            <a:spLocks noGrp="1"/>
          </p:cNvSpPr>
          <p:nvPr>
            <p:ph type="title"/>
          </p:nvPr>
        </p:nvSpPr>
        <p:spPr/>
        <p:txBody>
          <a:bodyPr>
            <a:normAutofit fontScale="90000"/>
          </a:bodyPr>
          <a:lstStyle/>
          <a:p>
            <a:r>
              <a:rPr lang="en-US" b="1" dirty="0"/>
              <a:t>Commercial Solutions</a:t>
            </a:r>
            <a:br>
              <a:rPr lang="en-US" b="1" dirty="0"/>
            </a:br>
            <a:endParaRPr lang="en-US" dirty="0"/>
          </a:p>
        </p:txBody>
      </p:sp>
      <p:sp>
        <p:nvSpPr>
          <p:cNvPr id="3" name="Content Placeholder 2">
            <a:extLst>
              <a:ext uri="{FF2B5EF4-FFF2-40B4-BE49-F238E27FC236}">
                <a16:creationId xmlns:a16="http://schemas.microsoft.com/office/drawing/2014/main" id="{49513723-FFAE-F4DD-190D-493ED382BFC4}"/>
              </a:ext>
            </a:extLst>
          </p:cNvPr>
          <p:cNvSpPr>
            <a:spLocks noGrp="1"/>
          </p:cNvSpPr>
          <p:nvPr>
            <p:ph idx="1"/>
          </p:nvPr>
        </p:nvSpPr>
        <p:spPr/>
        <p:txBody>
          <a:bodyPr/>
          <a:lstStyle/>
          <a:p>
            <a:pPr>
              <a:buFont typeface="Arial" panose="020B0604020202020204" pitchFamily="34" charset="0"/>
              <a:buChar char="•"/>
            </a:pPr>
            <a:r>
              <a:rPr lang="en-US" b="1" dirty="0"/>
              <a:t>Common Features</a:t>
            </a:r>
            <a:r>
              <a:rPr lang="en-US" dirty="0"/>
              <a:t>: MFA, </a:t>
            </a:r>
            <a:r>
              <a:rPr lang="en-US" dirty="0" err="1"/>
              <a:t>passwordless</a:t>
            </a:r>
            <a:r>
              <a:rPr lang="en-US" dirty="0"/>
              <a:t> authentication, privileged account management, RBAC</a:t>
            </a:r>
          </a:p>
          <a:p>
            <a:pPr>
              <a:buFont typeface="Arial" panose="020B0604020202020204" pitchFamily="34" charset="0"/>
              <a:buChar char="•"/>
            </a:pPr>
            <a:r>
              <a:rPr lang="en-US" b="1" dirty="0"/>
              <a:t>Leading Vendors</a:t>
            </a:r>
            <a:r>
              <a:rPr lang="en-US" dirty="0"/>
              <a:t>: </a:t>
            </a:r>
          </a:p>
          <a:p>
            <a:pPr marL="742950" lvl="1" indent="-285750">
              <a:buFont typeface="Arial" panose="020B0604020202020204" pitchFamily="34" charset="0"/>
              <a:buChar char="•"/>
            </a:pPr>
            <a:r>
              <a:rPr lang="en-US" dirty="0"/>
              <a:t>Okta Workforce Identity Cloud</a:t>
            </a:r>
          </a:p>
          <a:p>
            <a:pPr marL="742950" lvl="1" indent="-285750">
              <a:buFont typeface="Arial" panose="020B0604020202020204" pitchFamily="34" charset="0"/>
              <a:buChar char="•"/>
            </a:pPr>
            <a:r>
              <a:rPr lang="en-US" dirty="0"/>
              <a:t>Microsoft Entra ID</a:t>
            </a:r>
          </a:p>
          <a:p>
            <a:pPr marL="742950" lvl="1" indent="-285750">
              <a:buFont typeface="Arial" panose="020B0604020202020204" pitchFamily="34" charset="0"/>
              <a:buChar char="•"/>
            </a:pPr>
            <a:r>
              <a:rPr lang="en-US" dirty="0"/>
              <a:t>Ping Identity Platform</a:t>
            </a:r>
          </a:p>
          <a:p>
            <a:pPr marL="742950" lvl="1" indent="-285750">
              <a:buFont typeface="Arial" panose="020B0604020202020204" pitchFamily="34" charset="0"/>
              <a:buChar char="•"/>
            </a:pPr>
            <a:r>
              <a:rPr lang="en-US" dirty="0"/>
              <a:t>CyberArk Workforce Identity</a:t>
            </a:r>
          </a:p>
          <a:p>
            <a:pPr marL="742950" lvl="1" indent="-285750">
              <a:buFont typeface="Arial" panose="020B0604020202020204" pitchFamily="34" charset="0"/>
              <a:buChar char="•"/>
            </a:pPr>
            <a:r>
              <a:rPr lang="en-US" dirty="0"/>
              <a:t>SailPoint Identity Security Cloud</a:t>
            </a:r>
          </a:p>
          <a:p>
            <a:endParaRPr lang="en-US" dirty="0"/>
          </a:p>
        </p:txBody>
      </p:sp>
    </p:spTree>
    <p:extLst>
      <p:ext uri="{BB962C8B-B14F-4D97-AF65-F5344CB8AC3E}">
        <p14:creationId xmlns:p14="http://schemas.microsoft.com/office/powerpoint/2010/main" val="11254045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5DC62-9881-8FF1-FD47-19ED0051F87D}"/>
              </a:ext>
            </a:extLst>
          </p:cNvPr>
          <p:cNvSpPr>
            <a:spLocks noGrp="1"/>
          </p:cNvSpPr>
          <p:nvPr>
            <p:ph type="title"/>
          </p:nvPr>
        </p:nvSpPr>
        <p:spPr/>
        <p:txBody>
          <a:bodyPr>
            <a:normAutofit fontScale="90000"/>
          </a:bodyPr>
          <a:lstStyle/>
          <a:p>
            <a:r>
              <a:rPr lang="en-US" b="1" dirty="0"/>
              <a:t>Open-Source Solutions</a:t>
            </a:r>
            <a:br>
              <a:rPr lang="en-US" b="1" dirty="0"/>
            </a:br>
            <a:endParaRPr lang="en-US" dirty="0"/>
          </a:p>
        </p:txBody>
      </p:sp>
      <p:sp>
        <p:nvSpPr>
          <p:cNvPr id="3" name="Content Placeholder 2">
            <a:extLst>
              <a:ext uri="{FF2B5EF4-FFF2-40B4-BE49-F238E27FC236}">
                <a16:creationId xmlns:a16="http://schemas.microsoft.com/office/drawing/2014/main" id="{AB2DEB14-7C61-CEA8-5CF8-322A5D4DC61B}"/>
              </a:ext>
            </a:extLst>
          </p:cNvPr>
          <p:cNvSpPr>
            <a:spLocks noGrp="1"/>
          </p:cNvSpPr>
          <p:nvPr>
            <p:ph idx="1"/>
          </p:nvPr>
        </p:nvSpPr>
        <p:spPr/>
        <p:txBody>
          <a:bodyPr/>
          <a:lstStyle/>
          <a:p>
            <a:pPr>
              <a:buFont typeface="Arial" panose="020B0604020202020204" pitchFamily="34" charset="0"/>
              <a:buChar char="•"/>
            </a:pPr>
            <a:r>
              <a:rPr lang="en-US" b="1" dirty="0"/>
              <a:t>Advantages</a:t>
            </a:r>
            <a:r>
              <a:rPr lang="en-US" dirty="0"/>
              <a:t>: Flexibility, customization options</a:t>
            </a:r>
          </a:p>
          <a:p>
            <a:pPr>
              <a:buFont typeface="Arial" panose="020B0604020202020204" pitchFamily="34" charset="0"/>
              <a:buChar char="•"/>
            </a:pPr>
            <a:r>
              <a:rPr lang="en-US" b="1" dirty="0"/>
              <a:t>Notable Options</a:t>
            </a:r>
            <a:r>
              <a:rPr lang="en-US" dirty="0"/>
              <a:t>: </a:t>
            </a:r>
          </a:p>
          <a:p>
            <a:pPr marL="742950" lvl="1" indent="-285750">
              <a:buFont typeface="Arial" panose="020B0604020202020204" pitchFamily="34" charset="0"/>
              <a:buChar char="•"/>
            </a:pPr>
            <a:r>
              <a:rPr lang="en-US" dirty="0" err="1"/>
              <a:t>Keycloak</a:t>
            </a:r>
            <a:endParaRPr lang="en-US" dirty="0"/>
          </a:p>
          <a:p>
            <a:pPr marL="742950" lvl="1" indent="-285750">
              <a:buFont typeface="Arial" panose="020B0604020202020204" pitchFamily="34" charset="0"/>
              <a:buChar char="•"/>
            </a:pPr>
            <a:r>
              <a:rPr lang="en-US" dirty="0" err="1"/>
              <a:t>SuperTokens</a:t>
            </a:r>
            <a:endParaRPr lang="en-US" dirty="0"/>
          </a:p>
          <a:p>
            <a:pPr marL="742950" lvl="1" indent="-285750">
              <a:buFont typeface="Arial" panose="020B0604020202020204" pitchFamily="34" charset="0"/>
              <a:buChar char="•"/>
            </a:pPr>
            <a:r>
              <a:rPr lang="en-US" dirty="0"/>
              <a:t>WSO2 Identity Server</a:t>
            </a:r>
          </a:p>
          <a:p>
            <a:pPr marL="742950" lvl="1" indent="-285750">
              <a:buFont typeface="Arial" panose="020B0604020202020204" pitchFamily="34" charset="0"/>
              <a:buChar char="•"/>
            </a:pPr>
            <a:r>
              <a:rPr lang="en-US" dirty="0" err="1"/>
              <a:t>OpenIAM</a:t>
            </a:r>
            <a:endParaRPr lang="en-US" dirty="0"/>
          </a:p>
          <a:p>
            <a:endParaRPr lang="en-US" dirty="0"/>
          </a:p>
        </p:txBody>
      </p:sp>
    </p:spTree>
    <p:extLst>
      <p:ext uri="{BB962C8B-B14F-4D97-AF65-F5344CB8AC3E}">
        <p14:creationId xmlns:p14="http://schemas.microsoft.com/office/powerpoint/2010/main" val="1238323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76734-3659-9D78-FE94-38E8B0EDC495}"/>
              </a:ext>
            </a:extLst>
          </p:cNvPr>
          <p:cNvSpPr>
            <a:spLocks noGrp="1"/>
          </p:cNvSpPr>
          <p:nvPr>
            <p:ph type="title"/>
          </p:nvPr>
        </p:nvSpPr>
        <p:spPr/>
        <p:txBody>
          <a:bodyPr>
            <a:normAutofit fontScale="90000"/>
          </a:bodyPr>
          <a:lstStyle/>
          <a:p>
            <a:r>
              <a:rPr lang="en-US" b="1" dirty="0"/>
              <a:t>Zero Trust Architecture</a:t>
            </a:r>
            <a:br>
              <a:rPr lang="en-US" b="1" dirty="0"/>
            </a:br>
            <a:endParaRPr lang="en-US" dirty="0"/>
          </a:p>
        </p:txBody>
      </p:sp>
      <p:sp>
        <p:nvSpPr>
          <p:cNvPr id="3" name="Content Placeholder 2">
            <a:extLst>
              <a:ext uri="{FF2B5EF4-FFF2-40B4-BE49-F238E27FC236}">
                <a16:creationId xmlns:a16="http://schemas.microsoft.com/office/drawing/2014/main" id="{FAFE97A4-1C38-0C5A-7DF9-BD6C2587434E}"/>
              </a:ext>
            </a:extLst>
          </p:cNvPr>
          <p:cNvSpPr>
            <a:spLocks noGrp="1"/>
          </p:cNvSpPr>
          <p:nvPr>
            <p:ph idx="1"/>
          </p:nvPr>
        </p:nvSpPr>
        <p:spPr/>
        <p:txBody>
          <a:bodyPr/>
          <a:lstStyle/>
          <a:p>
            <a:r>
              <a:rPr lang="en-US" b="1" dirty="0"/>
              <a:t>Core Principles</a:t>
            </a:r>
          </a:p>
          <a:p>
            <a:pPr>
              <a:buFont typeface="+mj-lt"/>
              <a:buAutoNum type="arabicPeriod"/>
            </a:pPr>
            <a:r>
              <a:rPr lang="en-US" b="1" dirty="0"/>
              <a:t>Continuous verification</a:t>
            </a:r>
            <a:r>
              <a:rPr lang="en-US" dirty="0"/>
              <a:t>: "Never trust, always verify"</a:t>
            </a:r>
          </a:p>
          <a:p>
            <a:pPr>
              <a:buFont typeface="+mj-lt"/>
              <a:buAutoNum type="arabicPeriod"/>
            </a:pPr>
            <a:r>
              <a:rPr lang="en-US" b="1" dirty="0"/>
              <a:t>Least privilege access</a:t>
            </a:r>
            <a:r>
              <a:rPr lang="en-US" dirty="0"/>
              <a:t>: Minimum permissions necessary</a:t>
            </a:r>
          </a:p>
          <a:p>
            <a:pPr>
              <a:buFont typeface="+mj-lt"/>
              <a:buAutoNum type="arabicPeriod"/>
            </a:pPr>
            <a:r>
              <a:rPr lang="en-US" b="1" dirty="0"/>
              <a:t>Assume breach</a:t>
            </a:r>
            <a:r>
              <a:rPr lang="en-US" dirty="0"/>
              <a:t>: Design security assuming network compromise</a:t>
            </a:r>
          </a:p>
          <a:p>
            <a:pPr>
              <a:buFont typeface="+mj-lt"/>
              <a:buAutoNum type="arabicPeriod"/>
            </a:pPr>
            <a:r>
              <a:rPr lang="en-US" b="1" dirty="0"/>
              <a:t>Network segmentation</a:t>
            </a:r>
            <a:r>
              <a:rPr lang="en-US" dirty="0"/>
              <a:t>: Isolate network segments</a:t>
            </a:r>
          </a:p>
          <a:p>
            <a:pPr>
              <a:buFont typeface="+mj-lt"/>
              <a:buAutoNum type="arabicPeriod"/>
            </a:pPr>
            <a:r>
              <a:rPr lang="en-US" b="1" dirty="0"/>
              <a:t>Contextual access controls</a:t>
            </a:r>
            <a:r>
              <a:rPr lang="en-US" dirty="0"/>
              <a:t>: Multi-attribute access decisions</a:t>
            </a:r>
          </a:p>
          <a:p>
            <a:endParaRPr lang="en-US" dirty="0"/>
          </a:p>
        </p:txBody>
      </p:sp>
    </p:spTree>
    <p:extLst>
      <p:ext uri="{BB962C8B-B14F-4D97-AF65-F5344CB8AC3E}">
        <p14:creationId xmlns:p14="http://schemas.microsoft.com/office/powerpoint/2010/main" val="2339405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3674A-F9D8-68BF-39A2-4F9134295AED}"/>
              </a:ext>
            </a:extLst>
          </p:cNvPr>
          <p:cNvSpPr>
            <a:spLocks noGrp="1"/>
          </p:cNvSpPr>
          <p:nvPr>
            <p:ph type="title"/>
          </p:nvPr>
        </p:nvSpPr>
        <p:spPr/>
        <p:txBody>
          <a:bodyPr>
            <a:normAutofit fontScale="90000"/>
          </a:bodyPr>
          <a:lstStyle/>
          <a:p>
            <a:r>
              <a:rPr lang="en-US" b="1" dirty="0"/>
              <a:t>Implementation Strategies</a:t>
            </a:r>
            <a:br>
              <a:rPr lang="en-US" b="1" dirty="0"/>
            </a:br>
            <a:endParaRPr lang="en-US" dirty="0"/>
          </a:p>
        </p:txBody>
      </p:sp>
      <p:sp>
        <p:nvSpPr>
          <p:cNvPr id="3" name="Content Placeholder 2">
            <a:extLst>
              <a:ext uri="{FF2B5EF4-FFF2-40B4-BE49-F238E27FC236}">
                <a16:creationId xmlns:a16="http://schemas.microsoft.com/office/drawing/2014/main" id="{969BBAB3-6960-E05C-8E75-A1CD1E84A17F}"/>
              </a:ext>
            </a:extLst>
          </p:cNvPr>
          <p:cNvSpPr>
            <a:spLocks noGrp="1"/>
          </p:cNvSpPr>
          <p:nvPr>
            <p:ph idx="1"/>
          </p:nvPr>
        </p:nvSpPr>
        <p:spPr/>
        <p:txBody>
          <a:bodyPr>
            <a:normAutofit fontScale="92500" lnSpcReduction="10000"/>
          </a:bodyPr>
          <a:lstStyle/>
          <a:p>
            <a:pPr>
              <a:buFont typeface="+mj-lt"/>
              <a:buAutoNum type="arabicPeriod"/>
            </a:pPr>
            <a:r>
              <a:rPr lang="en-US" dirty="0"/>
              <a:t>Define the protect surface</a:t>
            </a:r>
          </a:p>
          <a:p>
            <a:pPr>
              <a:buFont typeface="+mj-lt"/>
              <a:buAutoNum type="arabicPeriod"/>
            </a:pPr>
            <a:r>
              <a:rPr lang="en-US" dirty="0"/>
              <a:t>Establish zero trust policy</a:t>
            </a:r>
          </a:p>
          <a:p>
            <a:pPr>
              <a:buFont typeface="+mj-lt"/>
              <a:buAutoNum type="arabicPeriod"/>
            </a:pPr>
            <a:r>
              <a:rPr lang="en-US" dirty="0"/>
              <a:t>Strengthen endpoint security</a:t>
            </a:r>
          </a:p>
          <a:p>
            <a:pPr>
              <a:buFont typeface="+mj-lt"/>
              <a:buAutoNum type="arabicPeriod"/>
            </a:pPr>
            <a:r>
              <a:rPr lang="en-US" dirty="0"/>
              <a:t>Enhance monitoring and analytics</a:t>
            </a:r>
          </a:p>
          <a:p>
            <a:pPr>
              <a:buFont typeface="+mj-lt"/>
              <a:buAutoNum type="arabicPeriod"/>
            </a:pPr>
            <a:r>
              <a:rPr lang="en-US" dirty="0"/>
              <a:t>Automate security responses</a:t>
            </a:r>
          </a:p>
          <a:p>
            <a:pPr>
              <a:buFont typeface="+mj-lt"/>
              <a:buAutoNum type="arabicPeriod"/>
            </a:pPr>
            <a:r>
              <a:rPr lang="en-US" dirty="0"/>
              <a:t>Segment networks and applications</a:t>
            </a:r>
          </a:p>
          <a:p>
            <a:pPr>
              <a:buFont typeface="+mj-lt"/>
              <a:buAutoNum type="arabicPeriod"/>
            </a:pPr>
            <a:r>
              <a:rPr lang="en-US" dirty="0"/>
              <a:t>Define granular access controls</a:t>
            </a:r>
          </a:p>
          <a:p>
            <a:pPr>
              <a:buFont typeface="+mj-lt"/>
              <a:buAutoNum type="arabicPeriod"/>
            </a:pPr>
            <a:r>
              <a:rPr lang="en-US" dirty="0"/>
              <a:t>Continuously validate trust</a:t>
            </a:r>
          </a:p>
          <a:p>
            <a:endParaRPr lang="en-US" dirty="0"/>
          </a:p>
        </p:txBody>
      </p:sp>
    </p:spTree>
    <p:extLst>
      <p:ext uri="{BB962C8B-B14F-4D97-AF65-F5344CB8AC3E}">
        <p14:creationId xmlns:p14="http://schemas.microsoft.com/office/powerpoint/2010/main" val="1817248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3842-587E-BF7A-879C-DDBC714F5A4C}"/>
              </a:ext>
            </a:extLst>
          </p:cNvPr>
          <p:cNvSpPr>
            <a:spLocks noGrp="1"/>
          </p:cNvSpPr>
          <p:nvPr>
            <p:ph type="title"/>
          </p:nvPr>
        </p:nvSpPr>
        <p:spPr/>
        <p:txBody>
          <a:bodyPr>
            <a:normAutofit fontScale="90000"/>
          </a:bodyPr>
          <a:lstStyle/>
          <a:p>
            <a:r>
              <a:rPr lang="en-US" b="1" dirty="0"/>
              <a:t>Key Conclusions</a:t>
            </a:r>
            <a:br>
              <a:rPr lang="en-US" b="1" dirty="0"/>
            </a:br>
            <a:endParaRPr lang="en-US" dirty="0"/>
          </a:p>
        </p:txBody>
      </p:sp>
      <p:sp>
        <p:nvSpPr>
          <p:cNvPr id="3" name="Content Placeholder 2">
            <a:extLst>
              <a:ext uri="{FF2B5EF4-FFF2-40B4-BE49-F238E27FC236}">
                <a16:creationId xmlns:a16="http://schemas.microsoft.com/office/drawing/2014/main" id="{D0F3052A-6881-1E69-6414-AD87AA89A870}"/>
              </a:ext>
            </a:extLst>
          </p:cNvPr>
          <p:cNvSpPr>
            <a:spLocks noGrp="1"/>
          </p:cNvSpPr>
          <p:nvPr>
            <p:ph idx="1"/>
          </p:nvPr>
        </p:nvSpPr>
        <p:spPr/>
        <p:txBody>
          <a:bodyPr>
            <a:normAutofit/>
          </a:bodyPr>
          <a:lstStyle/>
          <a:p>
            <a:pPr>
              <a:buFont typeface="+mj-lt"/>
              <a:buAutoNum type="arabicPeriod"/>
            </a:pPr>
            <a:r>
              <a:rPr lang="en-US" dirty="0"/>
              <a:t>Traditional access control principles remain critical but require modern implementation</a:t>
            </a:r>
          </a:p>
          <a:p>
            <a:pPr>
              <a:buFont typeface="+mj-lt"/>
              <a:buAutoNum type="arabicPeriod"/>
            </a:pPr>
            <a:r>
              <a:rPr lang="en-US" dirty="0"/>
              <a:t>Various access control models offer different advantages for specific organizational contexts</a:t>
            </a:r>
          </a:p>
          <a:p>
            <a:pPr>
              <a:buFont typeface="+mj-lt"/>
              <a:buAutoNum type="arabicPeriod"/>
            </a:pPr>
            <a:r>
              <a:rPr lang="en-US" dirty="0"/>
              <a:t>Modern authentication methods significantly strengthen identity verification</a:t>
            </a:r>
          </a:p>
          <a:p>
            <a:pPr>
              <a:buFont typeface="+mj-lt"/>
              <a:buAutoNum type="arabicPeriod"/>
            </a:pPr>
            <a:r>
              <a:rPr lang="en-US" dirty="0"/>
              <a:t>Standard authorization frameworks enable secure access in distributed environments</a:t>
            </a:r>
          </a:p>
          <a:p>
            <a:pPr>
              <a:buFont typeface="+mj-lt"/>
              <a:buAutoNum type="arabicPeriod"/>
            </a:pPr>
            <a:r>
              <a:rPr lang="en-US" dirty="0"/>
              <a:t>Zero Trust architecture represents fundamental shift from perimeter-based security</a:t>
            </a:r>
          </a:p>
          <a:p>
            <a:pPr>
              <a:buFont typeface="+mj-lt"/>
              <a:buAutoNum type="arabicPeriod"/>
            </a:pPr>
            <a:r>
              <a:rPr lang="en-US" dirty="0"/>
              <a:t>Effective implementation requires balancing security with usability</a:t>
            </a:r>
          </a:p>
          <a:p>
            <a:endParaRPr lang="en-US" dirty="0"/>
          </a:p>
        </p:txBody>
      </p:sp>
    </p:spTree>
    <p:extLst>
      <p:ext uri="{BB962C8B-B14F-4D97-AF65-F5344CB8AC3E}">
        <p14:creationId xmlns:p14="http://schemas.microsoft.com/office/powerpoint/2010/main" val="3029574550"/>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TotalTime>
  <Words>3649</Words>
  <Application>Microsoft Macintosh PowerPoint</Application>
  <PresentationFormat>Widescreen</PresentationFormat>
  <Paragraphs>236</Paragraphs>
  <Slides>25</Slides>
  <Notes>23</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Arial</vt:lpstr>
      <vt:lpstr>Grandview Display</vt:lpstr>
      <vt:lpstr>DashVTI</vt:lpstr>
      <vt:lpstr>Topic: Access Control Principles and Tools in the Context of Information Security</vt:lpstr>
      <vt:lpstr>Introduction</vt:lpstr>
      <vt:lpstr>Key Research Tasks </vt:lpstr>
      <vt:lpstr>Foundational Access Control Principles</vt:lpstr>
      <vt:lpstr>Least Privilege </vt:lpstr>
      <vt:lpstr>Separation of Duties (SoD) </vt:lpstr>
      <vt:lpstr>Need-to-Know </vt:lpstr>
      <vt:lpstr>Defense in Depth </vt:lpstr>
      <vt:lpstr>Theoretical Models of Access Control</vt:lpstr>
      <vt:lpstr>Role-Based Access Control (RBAC) </vt:lpstr>
      <vt:lpstr>Attribute-Based Access Control (ABAC) </vt:lpstr>
      <vt:lpstr>Context-Based Access Control (CBAC) </vt:lpstr>
      <vt:lpstr>Modern Authentication Methods</vt:lpstr>
      <vt:lpstr>Multi-Factor Authentication (MFA) </vt:lpstr>
      <vt:lpstr>Biometric Authentication </vt:lpstr>
      <vt:lpstr>Passwordless Authentication</vt:lpstr>
      <vt:lpstr>Authorization Frameworks</vt:lpstr>
      <vt:lpstr>SAML (Security Assertion Markup Language) </vt:lpstr>
      <vt:lpstr>OpenID Connect (OIDC) </vt:lpstr>
      <vt:lpstr>Identity and Access Management (IAM) Solutions</vt:lpstr>
      <vt:lpstr>Commercial Solutions </vt:lpstr>
      <vt:lpstr>Open-Source Solutions </vt:lpstr>
      <vt:lpstr>Zero Trust Architecture </vt:lpstr>
      <vt:lpstr>Implementation Strategies </vt:lpstr>
      <vt:lpstr>Key Conclusions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Ufuk Saylan</dc:creator>
  <cp:lastModifiedBy>Ufuk Saylan</cp:lastModifiedBy>
  <cp:revision>14</cp:revision>
  <dcterms:created xsi:type="dcterms:W3CDTF">2025-04-02T06:07:02Z</dcterms:created>
  <dcterms:modified xsi:type="dcterms:W3CDTF">2025-04-02T11:49:28Z</dcterms:modified>
</cp:coreProperties>
</file>
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2993"/>
  </p:normalViewPr>
  <p:slideViewPr>
    <p:cSldViewPr snapToGrid="0">
      <p:cViewPr>
        <p:scale>
          <a:sx n="105" d="100"/>
          <a:sy n="105" d="100"/>
        </p:scale>
        <p:origin x="13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E5F57F-E7E9-4CED-AFD4-0E1384AD73A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6A13E17-2A04-450A-8DC1-B189C6C8598F}">
      <dgm:prSet/>
      <dgm:spPr/>
      <dgm:t>
        <a:bodyPr/>
        <a:lstStyle/>
        <a:p>
          <a:r>
            <a:rPr lang="en-US"/>
            <a:t>Literature Review </a:t>
          </a:r>
        </a:p>
      </dgm:t>
    </dgm:pt>
    <dgm:pt modelId="{84643489-C23D-40B7-9C97-D37F3DDAE3CE}" type="parTrans" cxnId="{EBB14066-2285-4D42-A9AD-AAEB5D401766}">
      <dgm:prSet/>
      <dgm:spPr/>
      <dgm:t>
        <a:bodyPr/>
        <a:lstStyle/>
        <a:p>
          <a:endParaRPr lang="en-US"/>
        </a:p>
      </dgm:t>
    </dgm:pt>
    <dgm:pt modelId="{2EB4069D-9C12-402C-96A8-191B495797E7}" type="sibTrans" cxnId="{EBB14066-2285-4D42-A9AD-AAEB5D401766}">
      <dgm:prSet/>
      <dgm:spPr/>
      <dgm:t>
        <a:bodyPr/>
        <a:lstStyle/>
        <a:p>
          <a:endParaRPr lang="en-US"/>
        </a:p>
      </dgm:t>
    </dgm:pt>
    <dgm:pt modelId="{663405A0-6A3E-4E06-88A7-73731EA19945}">
      <dgm:prSet/>
      <dgm:spPr/>
      <dgm:t>
        <a:bodyPr/>
        <a:lstStyle/>
        <a:p>
          <a:r>
            <a:rPr lang="en-US"/>
            <a:t>Comparative Analysis (existing systems, tech choices) </a:t>
          </a:r>
        </a:p>
      </dgm:t>
    </dgm:pt>
    <dgm:pt modelId="{E1E92FA2-B7C6-4684-86AA-B6F6F6832654}" type="parTrans" cxnId="{49A8BB1C-F7D8-4BA2-9164-4D146AE1282E}">
      <dgm:prSet/>
      <dgm:spPr/>
      <dgm:t>
        <a:bodyPr/>
        <a:lstStyle/>
        <a:p>
          <a:endParaRPr lang="en-US"/>
        </a:p>
      </dgm:t>
    </dgm:pt>
    <dgm:pt modelId="{24B8B10E-BF80-4118-8611-BF054B3FCF4F}" type="sibTrans" cxnId="{49A8BB1C-F7D8-4BA2-9164-4D146AE1282E}">
      <dgm:prSet/>
      <dgm:spPr/>
      <dgm:t>
        <a:bodyPr/>
        <a:lstStyle/>
        <a:p>
          <a:endParaRPr lang="en-US"/>
        </a:p>
      </dgm:t>
    </dgm:pt>
    <dgm:pt modelId="{9AACA964-5374-4061-9026-62A5D59575CE}">
      <dgm:prSet/>
      <dgm:spPr/>
      <dgm:t>
        <a:bodyPr/>
        <a:lstStyle/>
        <a:p>
          <a:r>
            <a:rPr lang="en-US"/>
            <a:t>Theoretical Analysis (web architecture, geospatial, routing) </a:t>
          </a:r>
        </a:p>
      </dgm:t>
    </dgm:pt>
    <dgm:pt modelId="{BE831253-F9B4-4385-A6AA-4E11EF617193}" type="parTrans" cxnId="{5B92F489-24CD-4CC9-9251-9BC1314F9CA4}">
      <dgm:prSet/>
      <dgm:spPr/>
      <dgm:t>
        <a:bodyPr/>
        <a:lstStyle/>
        <a:p>
          <a:endParaRPr lang="en-US"/>
        </a:p>
      </dgm:t>
    </dgm:pt>
    <dgm:pt modelId="{4F05C16E-3D29-4FF3-B55D-8D6EC820823C}" type="sibTrans" cxnId="{5B92F489-24CD-4CC9-9251-9BC1314F9CA4}">
      <dgm:prSet/>
      <dgm:spPr/>
      <dgm:t>
        <a:bodyPr/>
        <a:lstStyle/>
        <a:p>
          <a:endParaRPr lang="en-US"/>
        </a:p>
      </dgm:t>
    </dgm:pt>
    <dgm:pt modelId="{13106A0D-160F-483F-8624-9864FD7701BA}">
      <dgm:prSet/>
      <dgm:spPr/>
      <dgm:t>
        <a:bodyPr/>
        <a:lstStyle/>
        <a:p>
          <a:r>
            <a:rPr lang="en-US"/>
            <a:t>Geospatial Analysis </a:t>
          </a:r>
        </a:p>
      </dgm:t>
    </dgm:pt>
    <dgm:pt modelId="{1B7DDAD3-889B-412E-B5DD-8E7AE5A761BB}" type="parTrans" cxnId="{9D1F5EF3-28A4-4315-B676-D98ED7C06288}">
      <dgm:prSet/>
      <dgm:spPr/>
      <dgm:t>
        <a:bodyPr/>
        <a:lstStyle/>
        <a:p>
          <a:endParaRPr lang="en-US"/>
        </a:p>
      </dgm:t>
    </dgm:pt>
    <dgm:pt modelId="{D7212F53-4D3B-484E-9A4B-BE41A802D7EE}" type="sibTrans" cxnId="{9D1F5EF3-28A4-4315-B676-D98ED7C06288}">
      <dgm:prSet/>
      <dgm:spPr/>
      <dgm:t>
        <a:bodyPr/>
        <a:lstStyle/>
        <a:p>
          <a:endParaRPr lang="en-US"/>
        </a:p>
      </dgm:t>
    </dgm:pt>
    <dgm:pt modelId="{C6F4BEFA-BE77-4169-A8C4-FE186E38C8D9}">
      <dgm:prSet/>
      <dgm:spPr/>
      <dgm:t>
        <a:bodyPr/>
        <a:lstStyle/>
        <a:p>
          <a:r>
            <a:rPr lang="en-US"/>
            <a:t>Testing (unit, integration, usability considerations)</a:t>
          </a:r>
        </a:p>
      </dgm:t>
    </dgm:pt>
    <dgm:pt modelId="{6155D35F-60B4-460B-B365-591B62724FBE}" type="parTrans" cxnId="{59009476-4607-4FEE-B628-1200A7CD163B}">
      <dgm:prSet/>
      <dgm:spPr/>
      <dgm:t>
        <a:bodyPr/>
        <a:lstStyle/>
        <a:p>
          <a:endParaRPr lang="en-US"/>
        </a:p>
      </dgm:t>
    </dgm:pt>
    <dgm:pt modelId="{69ACE6A1-DFC4-4D74-A64C-F4DA9DCACE87}" type="sibTrans" cxnId="{59009476-4607-4FEE-B628-1200A7CD163B}">
      <dgm:prSet/>
      <dgm:spPr/>
      <dgm:t>
        <a:bodyPr/>
        <a:lstStyle/>
        <a:p>
          <a:endParaRPr lang="en-US"/>
        </a:p>
      </dgm:t>
    </dgm:pt>
    <dgm:pt modelId="{602D9633-423A-4161-AC31-7D9552633A0D}" type="pres">
      <dgm:prSet presAssocID="{2CE5F57F-E7E9-4CED-AFD4-0E1384AD73AE}" presName="root" presStyleCnt="0">
        <dgm:presLayoutVars>
          <dgm:dir/>
          <dgm:resizeHandles val="exact"/>
        </dgm:presLayoutVars>
      </dgm:prSet>
      <dgm:spPr/>
    </dgm:pt>
    <dgm:pt modelId="{DE07E000-33CC-4FC1-ABD0-CA315637049C}" type="pres">
      <dgm:prSet presAssocID="{F6A13E17-2A04-450A-8DC1-B189C6C8598F}" presName="compNode" presStyleCnt="0"/>
      <dgm:spPr/>
    </dgm:pt>
    <dgm:pt modelId="{44838404-13DA-4016-BA10-97FCCFCB94C3}" type="pres">
      <dgm:prSet presAssocID="{F6A13E17-2A04-450A-8DC1-B189C6C8598F}" presName="bgRect" presStyleLbl="bgShp" presStyleIdx="0" presStyleCnt="5"/>
      <dgm:spPr/>
    </dgm:pt>
    <dgm:pt modelId="{829438AD-265E-4A5B-A19E-EF53771F2C32}" type="pres">
      <dgm:prSet presAssocID="{F6A13E17-2A04-450A-8DC1-B189C6C8598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031C8821-C3C2-4F87-88BD-75873F52CD33}" type="pres">
      <dgm:prSet presAssocID="{F6A13E17-2A04-450A-8DC1-B189C6C8598F}" presName="spaceRect" presStyleCnt="0"/>
      <dgm:spPr/>
    </dgm:pt>
    <dgm:pt modelId="{A342814F-8B03-4BB9-8419-39642A43AC6A}" type="pres">
      <dgm:prSet presAssocID="{F6A13E17-2A04-450A-8DC1-B189C6C8598F}" presName="parTx" presStyleLbl="revTx" presStyleIdx="0" presStyleCnt="5">
        <dgm:presLayoutVars>
          <dgm:chMax val="0"/>
          <dgm:chPref val="0"/>
        </dgm:presLayoutVars>
      </dgm:prSet>
      <dgm:spPr/>
    </dgm:pt>
    <dgm:pt modelId="{518939DA-5ADB-470B-8972-66BAF01FB9E9}" type="pres">
      <dgm:prSet presAssocID="{2EB4069D-9C12-402C-96A8-191B495797E7}" presName="sibTrans" presStyleCnt="0"/>
      <dgm:spPr/>
    </dgm:pt>
    <dgm:pt modelId="{E317BEB9-B926-4740-92DD-FF9A1D748AE6}" type="pres">
      <dgm:prSet presAssocID="{663405A0-6A3E-4E06-88A7-73731EA19945}" presName="compNode" presStyleCnt="0"/>
      <dgm:spPr/>
    </dgm:pt>
    <dgm:pt modelId="{4287159E-016C-4741-9DEC-81E1C28BA15C}" type="pres">
      <dgm:prSet presAssocID="{663405A0-6A3E-4E06-88A7-73731EA19945}" presName="bgRect" presStyleLbl="bgShp" presStyleIdx="1" presStyleCnt="5"/>
      <dgm:spPr/>
    </dgm:pt>
    <dgm:pt modelId="{B7DE7D7F-2BA2-4902-BEAC-FD1FB3A388E3}" type="pres">
      <dgm:prSet presAssocID="{663405A0-6A3E-4E06-88A7-73731EA1994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enn Diagram"/>
        </a:ext>
      </dgm:extLst>
    </dgm:pt>
    <dgm:pt modelId="{2D78B059-C5C9-47E2-9AFF-168DCE0F38E0}" type="pres">
      <dgm:prSet presAssocID="{663405A0-6A3E-4E06-88A7-73731EA19945}" presName="spaceRect" presStyleCnt="0"/>
      <dgm:spPr/>
    </dgm:pt>
    <dgm:pt modelId="{B0758E69-B5ED-428F-9871-9F8364680499}" type="pres">
      <dgm:prSet presAssocID="{663405A0-6A3E-4E06-88A7-73731EA19945}" presName="parTx" presStyleLbl="revTx" presStyleIdx="1" presStyleCnt="5">
        <dgm:presLayoutVars>
          <dgm:chMax val="0"/>
          <dgm:chPref val="0"/>
        </dgm:presLayoutVars>
      </dgm:prSet>
      <dgm:spPr/>
    </dgm:pt>
    <dgm:pt modelId="{BF365BB0-D651-4AB7-B2B0-31DCA43AE4B0}" type="pres">
      <dgm:prSet presAssocID="{24B8B10E-BF80-4118-8611-BF054B3FCF4F}" presName="sibTrans" presStyleCnt="0"/>
      <dgm:spPr/>
    </dgm:pt>
    <dgm:pt modelId="{FC88119A-8E95-4406-BF60-F82571695BC3}" type="pres">
      <dgm:prSet presAssocID="{9AACA964-5374-4061-9026-62A5D59575CE}" presName="compNode" presStyleCnt="0"/>
      <dgm:spPr/>
    </dgm:pt>
    <dgm:pt modelId="{5AADEBE7-3E2B-4FEC-BB6B-6E7C9337CCE7}" type="pres">
      <dgm:prSet presAssocID="{9AACA964-5374-4061-9026-62A5D59575CE}" presName="bgRect" presStyleLbl="bgShp" presStyleIdx="2" presStyleCnt="5"/>
      <dgm:spPr/>
    </dgm:pt>
    <dgm:pt modelId="{116A1B8A-3570-4AF8-BEF2-D24E956F0F97}" type="pres">
      <dgm:prSet presAssocID="{9AACA964-5374-4061-9026-62A5D59575C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rawing Compass"/>
        </a:ext>
      </dgm:extLst>
    </dgm:pt>
    <dgm:pt modelId="{27CF90DF-4C80-4DF5-A737-3B09CCE92292}" type="pres">
      <dgm:prSet presAssocID="{9AACA964-5374-4061-9026-62A5D59575CE}" presName="spaceRect" presStyleCnt="0"/>
      <dgm:spPr/>
    </dgm:pt>
    <dgm:pt modelId="{CA1937E6-A1BC-4D71-9E9E-9F3F58AFC04E}" type="pres">
      <dgm:prSet presAssocID="{9AACA964-5374-4061-9026-62A5D59575CE}" presName="parTx" presStyleLbl="revTx" presStyleIdx="2" presStyleCnt="5">
        <dgm:presLayoutVars>
          <dgm:chMax val="0"/>
          <dgm:chPref val="0"/>
        </dgm:presLayoutVars>
      </dgm:prSet>
      <dgm:spPr/>
    </dgm:pt>
    <dgm:pt modelId="{145D234F-06B0-456C-906A-2EC7EABBAAE6}" type="pres">
      <dgm:prSet presAssocID="{4F05C16E-3D29-4FF3-B55D-8D6EC820823C}" presName="sibTrans" presStyleCnt="0"/>
      <dgm:spPr/>
    </dgm:pt>
    <dgm:pt modelId="{8CF208F7-3D12-40BD-A370-5E8115201197}" type="pres">
      <dgm:prSet presAssocID="{13106A0D-160F-483F-8624-9864FD7701BA}" presName="compNode" presStyleCnt="0"/>
      <dgm:spPr/>
    </dgm:pt>
    <dgm:pt modelId="{2B17AC4C-DCDC-4270-8B05-A3D432CED932}" type="pres">
      <dgm:prSet presAssocID="{13106A0D-160F-483F-8624-9864FD7701BA}" presName="bgRect" presStyleLbl="bgShp" presStyleIdx="3" presStyleCnt="5"/>
      <dgm:spPr/>
    </dgm:pt>
    <dgm:pt modelId="{03F17E6B-659E-438F-8E62-0D803B9BBDF6}" type="pres">
      <dgm:prSet presAssocID="{13106A0D-160F-483F-8624-9864FD7701B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p with pin"/>
        </a:ext>
      </dgm:extLst>
    </dgm:pt>
    <dgm:pt modelId="{8176FC59-BD13-4A90-BBF7-F2F897006842}" type="pres">
      <dgm:prSet presAssocID="{13106A0D-160F-483F-8624-9864FD7701BA}" presName="spaceRect" presStyleCnt="0"/>
      <dgm:spPr/>
    </dgm:pt>
    <dgm:pt modelId="{ADA7763D-D93E-4B46-AED0-E0B90465EDD4}" type="pres">
      <dgm:prSet presAssocID="{13106A0D-160F-483F-8624-9864FD7701BA}" presName="parTx" presStyleLbl="revTx" presStyleIdx="3" presStyleCnt="5">
        <dgm:presLayoutVars>
          <dgm:chMax val="0"/>
          <dgm:chPref val="0"/>
        </dgm:presLayoutVars>
      </dgm:prSet>
      <dgm:spPr/>
    </dgm:pt>
    <dgm:pt modelId="{AA96190C-7648-4747-A22A-E7D82379472D}" type="pres">
      <dgm:prSet presAssocID="{D7212F53-4D3B-484E-9A4B-BE41A802D7EE}" presName="sibTrans" presStyleCnt="0"/>
      <dgm:spPr/>
    </dgm:pt>
    <dgm:pt modelId="{30D42736-C907-483F-B6FD-30319F91C066}" type="pres">
      <dgm:prSet presAssocID="{C6F4BEFA-BE77-4169-A8C4-FE186E38C8D9}" presName="compNode" presStyleCnt="0"/>
      <dgm:spPr/>
    </dgm:pt>
    <dgm:pt modelId="{63511EE0-C3EF-4439-89F2-7B321D82DC51}" type="pres">
      <dgm:prSet presAssocID="{C6F4BEFA-BE77-4169-A8C4-FE186E38C8D9}" presName="bgRect" presStyleLbl="bgShp" presStyleIdx="4" presStyleCnt="5"/>
      <dgm:spPr/>
    </dgm:pt>
    <dgm:pt modelId="{79818F71-0FF1-435D-816A-D055982FE395}" type="pres">
      <dgm:prSet presAssocID="{C6F4BEFA-BE77-4169-A8C4-FE186E38C8D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owchart"/>
        </a:ext>
      </dgm:extLst>
    </dgm:pt>
    <dgm:pt modelId="{D6005341-D0EE-452E-A047-B8F921654DBE}" type="pres">
      <dgm:prSet presAssocID="{C6F4BEFA-BE77-4169-A8C4-FE186E38C8D9}" presName="spaceRect" presStyleCnt="0"/>
      <dgm:spPr/>
    </dgm:pt>
    <dgm:pt modelId="{7DD0D187-AB93-4DCC-A767-DE78E72F8510}" type="pres">
      <dgm:prSet presAssocID="{C6F4BEFA-BE77-4169-A8C4-FE186E38C8D9}" presName="parTx" presStyleLbl="revTx" presStyleIdx="4" presStyleCnt="5">
        <dgm:presLayoutVars>
          <dgm:chMax val="0"/>
          <dgm:chPref val="0"/>
        </dgm:presLayoutVars>
      </dgm:prSet>
      <dgm:spPr/>
    </dgm:pt>
  </dgm:ptLst>
  <dgm:cxnLst>
    <dgm:cxn modelId="{49A8BB1C-F7D8-4BA2-9164-4D146AE1282E}" srcId="{2CE5F57F-E7E9-4CED-AFD4-0E1384AD73AE}" destId="{663405A0-6A3E-4E06-88A7-73731EA19945}" srcOrd="1" destOrd="0" parTransId="{E1E92FA2-B7C6-4684-86AA-B6F6F6832654}" sibTransId="{24B8B10E-BF80-4118-8611-BF054B3FCF4F}"/>
    <dgm:cxn modelId="{633EDA36-204A-4877-8FBE-25FD958F5687}" type="presOf" srcId="{9AACA964-5374-4061-9026-62A5D59575CE}" destId="{CA1937E6-A1BC-4D71-9E9E-9F3F58AFC04E}" srcOrd="0" destOrd="0" presId="urn:microsoft.com/office/officeart/2018/2/layout/IconVerticalSolidList"/>
    <dgm:cxn modelId="{73C65238-61E4-4ED1-B9E9-814A2A95361F}" type="presOf" srcId="{F6A13E17-2A04-450A-8DC1-B189C6C8598F}" destId="{A342814F-8B03-4BB9-8419-39642A43AC6A}" srcOrd="0" destOrd="0" presId="urn:microsoft.com/office/officeart/2018/2/layout/IconVerticalSolidList"/>
    <dgm:cxn modelId="{55EEB64C-89FE-4E24-BDDB-966CFD780861}" type="presOf" srcId="{2CE5F57F-E7E9-4CED-AFD4-0E1384AD73AE}" destId="{602D9633-423A-4161-AC31-7D9552633A0D}" srcOrd="0" destOrd="0" presId="urn:microsoft.com/office/officeart/2018/2/layout/IconVerticalSolidList"/>
    <dgm:cxn modelId="{EBB14066-2285-4D42-A9AD-AAEB5D401766}" srcId="{2CE5F57F-E7E9-4CED-AFD4-0E1384AD73AE}" destId="{F6A13E17-2A04-450A-8DC1-B189C6C8598F}" srcOrd="0" destOrd="0" parTransId="{84643489-C23D-40B7-9C97-D37F3DDAE3CE}" sibTransId="{2EB4069D-9C12-402C-96A8-191B495797E7}"/>
    <dgm:cxn modelId="{EA3E8270-5FBA-490A-A501-CB1B162FA5C6}" type="presOf" srcId="{13106A0D-160F-483F-8624-9864FD7701BA}" destId="{ADA7763D-D93E-4B46-AED0-E0B90465EDD4}" srcOrd="0" destOrd="0" presId="urn:microsoft.com/office/officeart/2018/2/layout/IconVerticalSolidList"/>
    <dgm:cxn modelId="{59009476-4607-4FEE-B628-1200A7CD163B}" srcId="{2CE5F57F-E7E9-4CED-AFD4-0E1384AD73AE}" destId="{C6F4BEFA-BE77-4169-A8C4-FE186E38C8D9}" srcOrd="4" destOrd="0" parTransId="{6155D35F-60B4-460B-B365-591B62724FBE}" sibTransId="{69ACE6A1-DFC4-4D74-A64C-F4DA9DCACE87}"/>
    <dgm:cxn modelId="{5B92F489-24CD-4CC9-9251-9BC1314F9CA4}" srcId="{2CE5F57F-E7E9-4CED-AFD4-0E1384AD73AE}" destId="{9AACA964-5374-4061-9026-62A5D59575CE}" srcOrd="2" destOrd="0" parTransId="{BE831253-F9B4-4385-A6AA-4E11EF617193}" sibTransId="{4F05C16E-3D29-4FF3-B55D-8D6EC820823C}"/>
    <dgm:cxn modelId="{34387E9F-5D1F-42D3-B193-3F0E89C67D0D}" type="presOf" srcId="{C6F4BEFA-BE77-4169-A8C4-FE186E38C8D9}" destId="{7DD0D187-AB93-4DCC-A767-DE78E72F8510}" srcOrd="0" destOrd="0" presId="urn:microsoft.com/office/officeart/2018/2/layout/IconVerticalSolidList"/>
    <dgm:cxn modelId="{9D1F5EF3-28A4-4315-B676-D98ED7C06288}" srcId="{2CE5F57F-E7E9-4CED-AFD4-0E1384AD73AE}" destId="{13106A0D-160F-483F-8624-9864FD7701BA}" srcOrd="3" destOrd="0" parTransId="{1B7DDAD3-889B-412E-B5DD-8E7AE5A761BB}" sibTransId="{D7212F53-4D3B-484E-9A4B-BE41A802D7EE}"/>
    <dgm:cxn modelId="{997FCEFC-E25A-4465-882B-8C30D35DF20C}" type="presOf" srcId="{663405A0-6A3E-4E06-88A7-73731EA19945}" destId="{B0758E69-B5ED-428F-9871-9F8364680499}" srcOrd="0" destOrd="0" presId="urn:microsoft.com/office/officeart/2018/2/layout/IconVerticalSolidList"/>
    <dgm:cxn modelId="{48C70D45-83CF-42FA-AE28-B41D38346B3C}" type="presParOf" srcId="{602D9633-423A-4161-AC31-7D9552633A0D}" destId="{DE07E000-33CC-4FC1-ABD0-CA315637049C}" srcOrd="0" destOrd="0" presId="urn:microsoft.com/office/officeart/2018/2/layout/IconVerticalSolidList"/>
    <dgm:cxn modelId="{29FB817E-F739-48FC-91BC-450B423789AB}" type="presParOf" srcId="{DE07E000-33CC-4FC1-ABD0-CA315637049C}" destId="{44838404-13DA-4016-BA10-97FCCFCB94C3}" srcOrd="0" destOrd="0" presId="urn:microsoft.com/office/officeart/2018/2/layout/IconVerticalSolidList"/>
    <dgm:cxn modelId="{3161515E-A827-4E50-A5DF-B5EDA0763E30}" type="presParOf" srcId="{DE07E000-33CC-4FC1-ABD0-CA315637049C}" destId="{829438AD-265E-4A5B-A19E-EF53771F2C32}" srcOrd="1" destOrd="0" presId="urn:microsoft.com/office/officeart/2018/2/layout/IconVerticalSolidList"/>
    <dgm:cxn modelId="{86DEB6AE-5083-4319-BA22-826A7008DAB1}" type="presParOf" srcId="{DE07E000-33CC-4FC1-ABD0-CA315637049C}" destId="{031C8821-C3C2-4F87-88BD-75873F52CD33}" srcOrd="2" destOrd="0" presId="urn:microsoft.com/office/officeart/2018/2/layout/IconVerticalSolidList"/>
    <dgm:cxn modelId="{01E5D3AA-DED2-41C5-A691-E6082F9C7DFA}" type="presParOf" srcId="{DE07E000-33CC-4FC1-ABD0-CA315637049C}" destId="{A342814F-8B03-4BB9-8419-39642A43AC6A}" srcOrd="3" destOrd="0" presId="urn:microsoft.com/office/officeart/2018/2/layout/IconVerticalSolidList"/>
    <dgm:cxn modelId="{595DA7C3-DDD6-4DD0-BD63-4CF018FD3120}" type="presParOf" srcId="{602D9633-423A-4161-AC31-7D9552633A0D}" destId="{518939DA-5ADB-470B-8972-66BAF01FB9E9}" srcOrd="1" destOrd="0" presId="urn:microsoft.com/office/officeart/2018/2/layout/IconVerticalSolidList"/>
    <dgm:cxn modelId="{2876EB9A-8B99-4713-8C30-ED6D30F14395}" type="presParOf" srcId="{602D9633-423A-4161-AC31-7D9552633A0D}" destId="{E317BEB9-B926-4740-92DD-FF9A1D748AE6}" srcOrd="2" destOrd="0" presId="urn:microsoft.com/office/officeart/2018/2/layout/IconVerticalSolidList"/>
    <dgm:cxn modelId="{9B98D018-8D6C-46FF-BAA8-46991A3E0E85}" type="presParOf" srcId="{E317BEB9-B926-4740-92DD-FF9A1D748AE6}" destId="{4287159E-016C-4741-9DEC-81E1C28BA15C}" srcOrd="0" destOrd="0" presId="urn:microsoft.com/office/officeart/2018/2/layout/IconVerticalSolidList"/>
    <dgm:cxn modelId="{2B6C393F-11CF-47BC-BEEA-304AE3E17089}" type="presParOf" srcId="{E317BEB9-B926-4740-92DD-FF9A1D748AE6}" destId="{B7DE7D7F-2BA2-4902-BEAC-FD1FB3A388E3}" srcOrd="1" destOrd="0" presId="urn:microsoft.com/office/officeart/2018/2/layout/IconVerticalSolidList"/>
    <dgm:cxn modelId="{4EF637A0-1125-4656-B8A8-145DAC94498F}" type="presParOf" srcId="{E317BEB9-B926-4740-92DD-FF9A1D748AE6}" destId="{2D78B059-C5C9-47E2-9AFF-168DCE0F38E0}" srcOrd="2" destOrd="0" presId="urn:microsoft.com/office/officeart/2018/2/layout/IconVerticalSolidList"/>
    <dgm:cxn modelId="{7AD9C5F0-D20D-43D6-AACA-60CDAF44BACF}" type="presParOf" srcId="{E317BEB9-B926-4740-92DD-FF9A1D748AE6}" destId="{B0758E69-B5ED-428F-9871-9F8364680499}" srcOrd="3" destOrd="0" presId="urn:microsoft.com/office/officeart/2018/2/layout/IconVerticalSolidList"/>
    <dgm:cxn modelId="{02497181-B144-470A-86FF-DD486548B349}" type="presParOf" srcId="{602D9633-423A-4161-AC31-7D9552633A0D}" destId="{BF365BB0-D651-4AB7-B2B0-31DCA43AE4B0}" srcOrd="3" destOrd="0" presId="urn:microsoft.com/office/officeart/2018/2/layout/IconVerticalSolidList"/>
    <dgm:cxn modelId="{AC2C59AC-1818-4DAF-AFB7-2D92D5364DA5}" type="presParOf" srcId="{602D9633-423A-4161-AC31-7D9552633A0D}" destId="{FC88119A-8E95-4406-BF60-F82571695BC3}" srcOrd="4" destOrd="0" presId="urn:microsoft.com/office/officeart/2018/2/layout/IconVerticalSolidList"/>
    <dgm:cxn modelId="{F2839623-1D1F-459B-BF3B-6F1292EF2457}" type="presParOf" srcId="{FC88119A-8E95-4406-BF60-F82571695BC3}" destId="{5AADEBE7-3E2B-4FEC-BB6B-6E7C9337CCE7}" srcOrd="0" destOrd="0" presId="urn:microsoft.com/office/officeart/2018/2/layout/IconVerticalSolidList"/>
    <dgm:cxn modelId="{DB53E0C2-DBA8-44D9-A8E4-91722E929722}" type="presParOf" srcId="{FC88119A-8E95-4406-BF60-F82571695BC3}" destId="{116A1B8A-3570-4AF8-BEF2-D24E956F0F97}" srcOrd="1" destOrd="0" presId="urn:microsoft.com/office/officeart/2018/2/layout/IconVerticalSolidList"/>
    <dgm:cxn modelId="{5B9FC030-E8E7-4870-97F9-F2B78236555A}" type="presParOf" srcId="{FC88119A-8E95-4406-BF60-F82571695BC3}" destId="{27CF90DF-4C80-4DF5-A737-3B09CCE92292}" srcOrd="2" destOrd="0" presId="urn:microsoft.com/office/officeart/2018/2/layout/IconVerticalSolidList"/>
    <dgm:cxn modelId="{95EA115C-ED90-4522-9AC6-52EB89D180E8}" type="presParOf" srcId="{FC88119A-8E95-4406-BF60-F82571695BC3}" destId="{CA1937E6-A1BC-4D71-9E9E-9F3F58AFC04E}" srcOrd="3" destOrd="0" presId="urn:microsoft.com/office/officeart/2018/2/layout/IconVerticalSolidList"/>
    <dgm:cxn modelId="{834D9345-2F7F-4E8C-B812-1DCE9FD91668}" type="presParOf" srcId="{602D9633-423A-4161-AC31-7D9552633A0D}" destId="{145D234F-06B0-456C-906A-2EC7EABBAAE6}" srcOrd="5" destOrd="0" presId="urn:microsoft.com/office/officeart/2018/2/layout/IconVerticalSolidList"/>
    <dgm:cxn modelId="{79AE6A9C-5C68-4DEB-BAEC-6DD79B9C1AE0}" type="presParOf" srcId="{602D9633-423A-4161-AC31-7D9552633A0D}" destId="{8CF208F7-3D12-40BD-A370-5E8115201197}" srcOrd="6" destOrd="0" presId="urn:microsoft.com/office/officeart/2018/2/layout/IconVerticalSolidList"/>
    <dgm:cxn modelId="{012AAA4F-5715-44F3-A1C7-5DCCFD0955BA}" type="presParOf" srcId="{8CF208F7-3D12-40BD-A370-5E8115201197}" destId="{2B17AC4C-DCDC-4270-8B05-A3D432CED932}" srcOrd="0" destOrd="0" presId="urn:microsoft.com/office/officeart/2018/2/layout/IconVerticalSolidList"/>
    <dgm:cxn modelId="{B4A897F2-0252-4556-B398-BE599352982F}" type="presParOf" srcId="{8CF208F7-3D12-40BD-A370-5E8115201197}" destId="{03F17E6B-659E-438F-8E62-0D803B9BBDF6}" srcOrd="1" destOrd="0" presId="urn:microsoft.com/office/officeart/2018/2/layout/IconVerticalSolidList"/>
    <dgm:cxn modelId="{5B18BB57-0310-4809-A448-612B654665F0}" type="presParOf" srcId="{8CF208F7-3D12-40BD-A370-5E8115201197}" destId="{8176FC59-BD13-4A90-BBF7-F2F897006842}" srcOrd="2" destOrd="0" presId="urn:microsoft.com/office/officeart/2018/2/layout/IconVerticalSolidList"/>
    <dgm:cxn modelId="{AC57101E-4B71-4BF3-956F-D3B2C1DEE0D1}" type="presParOf" srcId="{8CF208F7-3D12-40BD-A370-5E8115201197}" destId="{ADA7763D-D93E-4B46-AED0-E0B90465EDD4}" srcOrd="3" destOrd="0" presId="urn:microsoft.com/office/officeart/2018/2/layout/IconVerticalSolidList"/>
    <dgm:cxn modelId="{B2087233-7E40-48C8-8163-A049F0AD9783}" type="presParOf" srcId="{602D9633-423A-4161-AC31-7D9552633A0D}" destId="{AA96190C-7648-4747-A22A-E7D82379472D}" srcOrd="7" destOrd="0" presId="urn:microsoft.com/office/officeart/2018/2/layout/IconVerticalSolidList"/>
    <dgm:cxn modelId="{A89A0A64-9F2B-42B4-A57A-D3750527B501}" type="presParOf" srcId="{602D9633-423A-4161-AC31-7D9552633A0D}" destId="{30D42736-C907-483F-B6FD-30319F91C066}" srcOrd="8" destOrd="0" presId="urn:microsoft.com/office/officeart/2018/2/layout/IconVerticalSolidList"/>
    <dgm:cxn modelId="{E1EFC847-57CF-4A29-ADF2-E90502FD92B3}" type="presParOf" srcId="{30D42736-C907-483F-B6FD-30319F91C066}" destId="{63511EE0-C3EF-4439-89F2-7B321D82DC51}" srcOrd="0" destOrd="0" presId="urn:microsoft.com/office/officeart/2018/2/layout/IconVerticalSolidList"/>
    <dgm:cxn modelId="{FC6995AE-8940-43D4-B2E8-982633D2A2D2}" type="presParOf" srcId="{30D42736-C907-483F-B6FD-30319F91C066}" destId="{79818F71-0FF1-435D-816A-D055982FE395}" srcOrd="1" destOrd="0" presId="urn:microsoft.com/office/officeart/2018/2/layout/IconVerticalSolidList"/>
    <dgm:cxn modelId="{6055ACD1-01E9-4F4B-A0FA-47BADE7C2C8A}" type="presParOf" srcId="{30D42736-C907-483F-B6FD-30319F91C066}" destId="{D6005341-D0EE-452E-A047-B8F921654DBE}" srcOrd="2" destOrd="0" presId="urn:microsoft.com/office/officeart/2018/2/layout/IconVerticalSolidList"/>
    <dgm:cxn modelId="{A365CE19-77C4-4A49-8901-56C9DF5871EC}" type="presParOf" srcId="{30D42736-C907-483F-B6FD-30319F91C066}" destId="{7DD0D187-AB93-4DCC-A767-DE78E72F851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838404-13DA-4016-BA10-97FCCFCB94C3}">
      <dsp:nvSpPr>
        <dsp:cNvPr id="0" name=""/>
        <dsp:cNvSpPr/>
      </dsp:nvSpPr>
      <dsp:spPr>
        <a:xfrm>
          <a:off x="0" y="4366"/>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9438AD-265E-4A5B-A19E-EF53771F2C32}">
      <dsp:nvSpPr>
        <dsp:cNvPr id="0" name=""/>
        <dsp:cNvSpPr/>
      </dsp:nvSpPr>
      <dsp:spPr>
        <a:xfrm>
          <a:off x="281355" y="213639"/>
          <a:ext cx="511556" cy="5115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42814F-8B03-4BB9-8419-39642A43AC6A}">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US" sz="1900" kern="1200"/>
            <a:t>Literature Review </a:t>
          </a:r>
        </a:p>
      </dsp:txBody>
      <dsp:txXfrm>
        <a:off x="1074268" y="4366"/>
        <a:ext cx="5170996" cy="930102"/>
      </dsp:txXfrm>
    </dsp:sp>
    <dsp:sp modelId="{4287159E-016C-4741-9DEC-81E1C28BA15C}">
      <dsp:nvSpPr>
        <dsp:cNvPr id="0" name=""/>
        <dsp:cNvSpPr/>
      </dsp:nvSpPr>
      <dsp:spPr>
        <a:xfrm>
          <a:off x="0" y="1166994"/>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DE7D7F-2BA2-4902-BEAC-FD1FB3A388E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758E69-B5ED-428F-9871-9F8364680499}">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US" sz="1900" kern="1200"/>
            <a:t>Comparative Analysis (existing systems, tech choices) </a:t>
          </a:r>
        </a:p>
      </dsp:txBody>
      <dsp:txXfrm>
        <a:off x="1074268" y="1166994"/>
        <a:ext cx="5170996" cy="930102"/>
      </dsp:txXfrm>
    </dsp:sp>
    <dsp:sp modelId="{5AADEBE7-3E2B-4FEC-BB6B-6E7C9337CCE7}">
      <dsp:nvSpPr>
        <dsp:cNvPr id="0" name=""/>
        <dsp:cNvSpPr/>
      </dsp:nvSpPr>
      <dsp:spPr>
        <a:xfrm>
          <a:off x="0" y="2329622"/>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6A1B8A-3570-4AF8-BEF2-D24E956F0F97}">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1937E6-A1BC-4D71-9E9E-9F3F58AFC04E}">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US" sz="1900" kern="1200"/>
            <a:t>Theoretical Analysis (web architecture, geospatial, routing) </a:t>
          </a:r>
        </a:p>
      </dsp:txBody>
      <dsp:txXfrm>
        <a:off x="1074268" y="2329622"/>
        <a:ext cx="5170996" cy="930102"/>
      </dsp:txXfrm>
    </dsp:sp>
    <dsp:sp modelId="{2B17AC4C-DCDC-4270-8B05-A3D432CED932}">
      <dsp:nvSpPr>
        <dsp:cNvPr id="0" name=""/>
        <dsp:cNvSpPr/>
      </dsp:nvSpPr>
      <dsp:spPr>
        <a:xfrm>
          <a:off x="0" y="3492250"/>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F17E6B-659E-438F-8E62-0D803B9BBDF6}">
      <dsp:nvSpPr>
        <dsp:cNvPr id="0" name=""/>
        <dsp:cNvSpPr/>
      </dsp:nvSpPr>
      <dsp:spPr>
        <a:xfrm>
          <a:off x="281355" y="3701523"/>
          <a:ext cx="511556" cy="5115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A7763D-D93E-4B46-AED0-E0B90465EDD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US" sz="1900" kern="1200"/>
            <a:t>Geospatial Analysis </a:t>
          </a:r>
        </a:p>
      </dsp:txBody>
      <dsp:txXfrm>
        <a:off x="1074268" y="3492250"/>
        <a:ext cx="5170996" cy="930102"/>
      </dsp:txXfrm>
    </dsp:sp>
    <dsp:sp modelId="{63511EE0-C3EF-4439-89F2-7B321D82DC51}">
      <dsp:nvSpPr>
        <dsp:cNvPr id="0" name=""/>
        <dsp:cNvSpPr/>
      </dsp:nvSpPr>
      <dsp:spPr>
        <a:xfrm>
          <a:off x="0" y="4654878"/>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818F71-0FF1-435D-816A-D055982FE395}">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D0D187-AB93-4DCC-A767-DE78E72F8510}">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90000"/>
            </a:lnSpc>
            <a:spcBef>
              <a:spcPct val="0"/>
            </a:spcBef>
            <a:spcAft>
              <a:spcPct val="35000"/>
            </a:spcAft>
            <a:buNone/>
          </a:pPr>
          <a:r>
            <a:rPr lang="en-US" sz="1900" kern="1200"/>
            <a:t>Testing (unit, integration, usability considerations)</a:t>
          </a:r>
        </a:p>
      </dsp:txBody>
      <dsp:txXfrm>
        <a:off x="1074268" y="4654878"/>
        <a:ext cx="5170996" cy="9301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B39CA-6D04-0949-A973-4E4BB437E208}" type="datetimeFigureOut">
              <a:rPr lang="en-US" smtClean="0"/>
              <a:t>5/5/25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2E63C4-8414-E249-95C0-E6812B6715EF}" type="slidenum">
              <a:rPr lang="en-US" smtClean="0"/>
              <a:t>‹#›</a:t>
            </a:fld>
            <a:endParaRPr lang="en-US"/>
          </a:p>
        </p:txBody>
      </p:sp>
    </p:spTree>
    <p:extLst>
      <p:ext uri="{BB962C8B-B14F-4D97-AF65-F5344CB8AC3E}">
        <p14:creationId xmlns:p14="http://schemas.microsoft.com/office/powerpoint/2010/main" val="135977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needing medical help in Vilnius faces a challenge: information is fragmented, and relying on general tools can be problematic. While we use map apps daily, they often lack the specific filters crucial for healthcare – like finding a cardiologist or verifying if a clinic </a:t>
            </a:r>
            <a:r>
              <a:rPr lang="en-US" i="1" dirty="0"/>
              <a:t>truly</a:t>
            </a:r>
            <a:r>
              <a:rPr lang="en-US" dirty="0"/>
              <a:t> offers emergency services. Worse still, as my research review found, these general platforms can sometimes be actively misleading. For instance, documented cases show searches for sensitive services like abortion clinics directing users to non-medical 'crisis pregnancy centers' with entirely different aims. This isn't just inconvenient; it can lead to confusion, costly delays, and people being guided inappropriately precisely when clear, accurate directions to the </a:t>
            </a:r>
            <a:r>
              <a:rPr lang="en-US" i="1" dirty="0"/>
              <a:t>right</a:t>
            </a:r>
            <a:r>
              <a:rPr lang="en-US" dirty="0"/>
              <a:t> care are most needed. Existing doctor directories or hospital websites don't solve this integration problem either</a:t>
            </a:r>
          </a:p>
        </p:txBody>
      </p:sp>
      <p:sp>
        <p:nvSpPr>
          <p:cNvPr id="4" name="Slide Number Placeholder 3"/>
          <p:cNvSpPr>
            <a:spLocks noGrp="1"/>
          </p:cNvSpPr>
          <p:nvPr>
            <p:ph type="sldNum" sz="quarter" idx="5"/>
          </p:nvPr>
        </p:nvSpPr>
        <p:spPr/>
        <p:txBody>
          <a:bodyPr/>
          <a:lstStyle/>
          <a:p>
            <a:fld id="{942E63C4-8414-E249-95C0-E6812B6715EF}" type="slidenum">
              <a:rPr lang="en-US" smtClean="0"/>
              <a:t>2</a:t>
            </a:fld>
            <a:endParaRPr lang="en-US"/>
          </a:p>
        </p:txBody>
      </p:sp>
    </p:spTree>
    <p:extLst>
      <p:ext uri="{BB962C8B-B14F-4D97-AF65-F5344CB8AC3E}">
        <p14:creationId xmlns:p14="http://schemas.microsoft.com/office/powerpoint/2010/main" val="1845592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 of this thesis was therefore to design, implement, and analyze a dedicated </a:t>
            </a:r>
            <a:r>
              <a:rPr lang="en-US" b="1" dirty="0"/>
              <a:t>full-stack web application system</a:t>
            </a:r>
            <a:r>
              <a:rPr lang="en-US" dirty="0"/>
              <a:t> – encompassing the backend, frontend, database, and routing elements. The core tasks were to analyze needs, select the appropriate technologies, design the architecture, implement the application, and test it thoroughly</a:t>
            </a:r>
          </a:p>
        </p:txBody>
      </p:sp>
      <p:sp>
        <p:nvSpPr>
          <p:cNvPr id="4" name="Slide Number Placeholder 3"/>
          <p:cNvSpPr>
            <a:spLocks noGrp="1"/>
          </p:cNvSpPr>
          <p:nvPr>
            <p:ph type="sldNum" sz="quarter" idx="5"/>
          </p:nvPr>
        </p:nvSpPr>
        <p:spPr/>
        <p:txBody>
          <a:bodyPr/>
          <a:lstStyle/>
          <a:p>
            <a:fld id="{942E63C4-8414-E249-95C0-E6812B6715EF}" type="slidenum">
              <a:rPr lang="en-US" smtClean="0"/>
              <a:t>3</a:t>
            </a:fld>
            <a:endParaRPr lang="en-US"/>
          </a:p>
        </p:txBody>
      </p:sp>
    </p:spTree>
    <p:extLst>
      <p:ext uri="{BB962C8B-B14F-4D97-AF65-F5344CB8AC3E}">
        <p14:creationId xmlns:p14="http://schemas.microsoft.com/office/powerpoint/2010/main" val="2970974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2E63C4-8414-E249-95C0-E6812B6715EF}" type="slidenum">
              <a:rPr lang="en-US" smtClean="0"/>
              <a:t>4</a:t>
            </a:fld>
            <a:endParaRPr lang="en-US"/>
          </a:p>
        </p:txBody>
      </p:sp>
    </p:spTree>
    <p:extLst>
      <p:ext uri="{BB962C8B-B14F-4D97-AF65-F5344CB8AC3E}">
        <p14:creationId xmlns:p14="http://schemas.microsoft.com/office/powerpoint/2010/main" val="3829493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analysis looked closely at the tools already available in Vilnius. General mapping platforms like Google Maps are great for basic navigation but lack essential medical details and, as we saw, can even be misleading sometimes. Then there are local healthcare directories, like </a:t>
            </a:r>
            <a:r>
              <a:rPr lang="en-US" dirty="0" err="1"/>
              <a:t>manodaktaras.lt</a:t>
            </a:r>
            <a:r>
              <a:rPr lang="en-US" dirty="0"/>
              <a:t>, which are good for finding specific doctors or booking appointments, but they aren't really designed for finding the </a:t>
            </a:r>
            <a:r>
              <a:rPr lang="en-US" i="1" dirty="0"/>
              <a:t>most appropriate facility</a:t>
            </a:r>
            <a:r>
              <a:rPr lang="en-US" dirty="0"/>
              <a:t> based on its services or for integrated routing. Official hospital websites offer detailed info, but you need to know which specific institution to check, which isn't helpful for discovery. Even the newer national platforms like the E-Health app, while useful for booking, don't necessarily solve the problem of identifying the most </a:t>
            </a:r>
            <a:r>
              <a:rPr lang="en-US" i="1" dirty="0"/>
              <a:t>suitable</a:t>
            </a:r>
            <a:r>
              <a:rPr lang="en-US" dirty="0"/>
              <a:t> facility based on complex needs or providing easy navigation.</a:t>
            </a:r>
          </a:p>
        </p:txBody>
      </p:sp>
      <p:sp>
        <p:nvSpPr>
          <p:cNvPr id="4" name="Slide Number Placeholder 3"/>
          <p:cNvSpPr>
            <a:spLocks noGrp="1"/>
          </p:cNvSpPr>
          <p:nvPr>
            <p:ph type="sldNum" sz="quarter" idx="5"/>
          </p:nvPr>
        </p:nvSpPr>
        <p:spPr/>
        <p:txBody>
          <a:bodyPr/>
          <a:lstStyle/>
          <a:p>
            <a:fld id="{942E63C4-8414-E249-95C0-E6812B6715EF}" type="slidenum">
              <a:rPr lang="en-US" smtClean="0"/>
              <a:t>5</a:t>
            </a:fld>
            <a:endParaRPr lang="en-US"/>
          </a:p>
        </p:txBody>
      </p:sp>
    </p:spTree>
    <p:extLst>
      <p:ext uri="{BB962C8B-B14F-4D97-AF65-F5344CB8AC3E}">
        <p14:creationId xmlns:p14="http://schemas.microsoft.com/office/powerpoint/2010/main" val="68065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scope focused on a web app for Vilnius, enabling users to find and get directions to medical facilities. Core functionalities include emergency search, detailed filtered search (by type, specialty, accessibility), mapping, routing, user feedback, and an admin interface. Things like appointment booking were kept out of scope</a:t>
            </a:r>
          </a:p>
        </p:txBody>
      </p:sp>
      <p:sp>
        <p:nvSpPr>
          <p:cNvPr id="4" name="Slide Number Placeholder 3"/>
          <p:cNvSpPr>
            <a:spLocks noGrp="1"/>
          </p:cNvSpPr>
          <p:nvPr>
            <p:ph type="sldNum" sz="quarter" idx="5"/>
          </p:nvPr>
        </p:nvSpPr>
        <p:spPr/>
        <p:txBody>
          <a:bodyPr/>
          <a:lstStyle/>
          <a:p>
            <a:fld id="{942E63C4-8414-E249-95C0-E6812B6715EF}" type="slidenum">
              <a:rPr lang="en-US" smtClean="0"/>
              <a:t>6</a:t>
            </a:fld>
            <a:endParaRPr lang="en-US"/>
          </a:p>
        </p:txBody>
      </p:sp>
    </p:spTree>
    <p:extLst>
      <p:ext uri="{BB962C8B-B14F-4D97-AF65-F5344CB8AC3E}">
        <p14:creationId xmlns:p14="http://schemas.microsoft.com/office/powerpoint/2010/main" val="3657022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technologies were chosen carefully: Ruby on Rails for backend productivity, PostgreSQL with </a:t>
            </a:r>
            <a:r>
              <a:rPr lang="en-US" dirty="0" err="1"/>
              <a:t>PostGIS</a:t>
            </a:r>
            <a:r>
              <a:rPr lang="en-US" dirty="0"/>
              <a:t> for its powerful geospatial capabilities, </a:t>
            </a:r>
            <a:r>
              <a:rPr lang="en-US" dirty="0" err="1"/>
              <a:t>Vue.js</a:t>
            </a:r>
            <a:r>
              <a:rPr lang="en-US" dirty="0"/>
              <a:t> for a modern interactive frontend, the OSRM engine for high-performance open-source routing without external API costs, and Leaflet for efficient map display</a:t>
            </a:r>
          </a:p>
        </p:txBody>
      </p:sp>
      <p:sp>
        <p:nvSpPr>
          <p:cNvPr id="4" name="Slide Number Placeholder 3"/>
          <p:cNvSpPr>
            <a:spLocks noGrp="1"/>
          </p:cNvSpPr>
          <p:nvPr>
            <p:ph type="sldNum" sz="quarter" idx="5"/>
          </p:nvPr>
        </p:nvSpPr>
        <p:spPr/>
        <p:txBody>
          <a:bodyPr/>
          <a:lstStyle/>
          <a:p>
            <a:fld id="{942E63C4-8414-E249-95C0-E6812B6715EF}" type="slidenum">
              <a:rPr lang="en-US" smtClean="0"/>
              <a:t>7</a:t>
            </a:fld>
            <a:endParaRPr lang="en-US"/>
          </a:p>
        </p:txBody>
      </p:sp>
    </p:spTree>
    <p:extLst>
      <p:ext uri="{BB962C8B-B14F-4D97-AF65-F5344CB8AC3E}">
        <p14:creationId xmlns:p14="http://schemas.microsoft.com/office/powerpoint/2010/main" val="1401333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the system follows a logical layered approach – Presentation, Application, Data, Integration – promoting modularity [See Fig \ref{</a:t>
            </a:r>
            <a:r>
              <a:rPr lang="en-US" dirty="0" err="1"/>
              <a:t>fig:logical_architecture</a:t>
            </a:r>
            <a:r>
              <a:rPr lang="en-US" dirty="0"/>
              <a:t>}]. Physically, it's deployed across platforms best suited for each component: Render for the frontend, AWS for the backend and database, and Google Cloud Platform for the memory-intensive OSRM routing engine [See Fig \ref{</a:t>
            </a:r>
            <a:r>
              <a:rPr lang="en-US" dirty="0" err="1"/>
              <a:t>fig:deployment_diagram</a:t>
            </a:r>
            <a:endParaRPr lang="en-US" dirty="0"/>
          </a:p>
        </p:txBody>
      </p:sp>
      <p:sp>
        <p:nvSpPr>
          <p:cNvPr id="4" name="Slide Number Placeholder 3"/>
          <p:cNvSpPr>
            <a:spLocks noGrp="1"/>
          </p:cNvSpPr>
          <p:nvPr>
            <p:ph type="sldNum" sz="quarter" idx="5"/>
          </p:nvPr>
        </p:nvSpPr>
        <p:spPr/>
        <p:txBody>
          <a:bodyPr/>
          <a:lstStyle/>
          <a:p>
            <a:fld id="{942E63C4-8414-E249-95C0-E6812B6715EF}" type="slidenum">
              <a:rPr lang="en-US" smtClean="0"/>
              <a:t>8</a:t>
            </a:fld>
            <a:endParaRPr lang="en-US"/>
          </a:p>
        </p:txBody>
      </p:sp>
    </p:spTree>
    <p:extLst>
      <p:ext uri="{BB962C8B-B14F-4D97-AF65-F5344CB8AC3E}">
        <p14:creationId xmlns:p14="http://schemas.microsoft.com/office/powerpoint/2010/main" val="3726366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model uses PostgreSQL with </a:t>
            </a:r>
            <a:r>
              <a:rPr lang="en-US" dirty="0" err="1"/>
              <a:t>PostGIS</a:t>
            </a:r>
            <a:r>
              <a:rPr lang="en-US" dirty="0"/>
              <a:t>, centered around the facilities table which stores geographic location. It manages data for 380 facilities across 91 specialties, linking them via join tables. The ER Diagram [See Fig \ref{</a:t>
            </a:r>
            <a:r>
              <a:rPr lang="en-US" dirty="0" err="1"/>
              <a:t>fig:er_diagram</a:t>
            </a:r>
            <a:r>
              <a:rPr lang="en-US" dirty="0"/>
              <a:t>}] shows the structure</a:t>
            </a:r>
          </a:p>
        </p:txBody>
      </p:sp>
      <p:sp>
        <p:nvSpPr>
          <p:cNvPr id="4" name="Slide Number Placeholder 3"/>
          <p:cNvSpPr>
            <a:spLocks noGrp="1"/>
          </p:cNvSpPr>
          <p:nvPr>
            <p:ph type="sldNum" sz="quarter" idx="5"/>
          </p:nvPr>
        </p:nvSpPr>
        <p:spPr/>
        <p:txBody>
          <a:bodyPr/>
          <a:lstStyle/>
          <a:p>
            <a:fld id="{942E63C4-8414-E249-95C0-E6812B6715EF}" type="slidenum">
              <a:rPr lang="en-US" smtClean="0"/>
              <a:t>9</a:t>
            </a:fld>
            <a:endParaRPr lang="en-US"/>
          </a:p>
        </p:txBody>
      </p:sp>
    </p:spTree>
    <p:extLst>
      <p:ext uri="{BB962C8B-B14F-4D97-AF65-F5344CB8AC3E}">
        <p14:creationId xmlns:p14="http://schemas.microsoft.com/office/powerpoint/2010/main" val="3022001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testing, the backend has 58 automated </a:t>
            </a:r>
            <a:r>
              <a:rPr lang="en-US" dirty="0" err="1"/>
              <a:t>RSpec</a:t>
            </a:r>
            <a:r>
              <a:rPr lang="en-US" dirty="0"/>
              <a:t> tests achieving over 82% code coverage [See Table \ref{</a:t>
            </a:r>
            <a:r>
              <a:rPr lang="en-US" dirty="0" err="1"/>
              <a:t>tab:coverage_summary</a:t>
            </a:r>
            <a:r>
              <a:rPr lang="en-US" dirty="0"/>
              <a:t>}], ensuring core logic reliability. Informal user feedback during demos was positive, highlighting the intuitive interface and the practical value of features like specialty filtering – confirmed by a user's real-life anecdote. </a:t>
            </a:r>
            <a:r>
              <a:rPr lang="en-US" b="1" dirty="0"/>
              <a:t>Furthermore, a detailed task-based usability test plan was outlined in the thesis [See Section \ref{</a:t>
            </a:r>
            <a:r>
              <a:rPr lang="en-US" b="1" dirty="0" err="1"/>
              <a:t>sec:task_test_outline</a:t>
            </a:r>
            <a:r>
              <a:rPr lang="en-US" b="1" dirty="0"/>
              <a:t>}] to provide a clear path for more formal user validation in the future.</a:t>
            </a:r>
            <a:r>
              <a:rPr lang="en-US" dirty="0"/>
              <a:t>"</a:t>
            </a:r>
          </a:p>
        </p:txBody>
      </p:sp>
      <p:sp>
        <p:nvSpPr>
          <p:cNvPr id="4" name="Slide Number Placeholder 3"/>
          <p:cNvSpPr>
            <a:spLocks noGrp="1"/>
          </p:cNvSpPr>
          <p:nvPr>
            <p:ph type="sldNum" sz="quarter" idx="5"/>
          </p:nvPr>
        </p:nvSpPr>
        <p:spPr/>
        <p:txBody>
          <a:bodyPr/>
          <a:lstStyle/>
          <a:p>
            <a:fld id="{942E63C4-8414-E249-95C0-E6812B6715EF}" type="slidenum">
              <a:rPr lang="en-US" smtClean="0"/>
              <a:t>11</a:t>
            </a:fld>
            <a:endParaRPr lang="en-US"/>
          </a:p>
        </p:txBody>
      </p:sp>
    </p:spTree>
    <p:extLst>
      <p:ext uri="{BB962C8B-B14F-4D97-AF65-F5344CB8AC3E}">
        <p14:creationId xmlns:p14="http://schemas.microsoft.com/office/powerpoint/2010/main" val="7834188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thesis set out to address the healthcare navigation challenges in Vilnius, and it successfully delivered a functional web application. Its contribution and novelty lie in the targeted integration of technology to solve that specific local gap – providing a unified interface with granular medical filters and integrated routing focused on Vilnius. The project systematically achieved its objectives, completing the main tasks defined at the outset: </a:t>
            </a:r>
            <a:r>
              <a:rPr lang="en-US" b="1" dirty="0"/>
              <a:t>from analyzing requirements and existing systems, selecting appropriate technologies, and designing the architecture, through to implementing the full-stack application and testing its core components.</a:t>
            </a:r>
            <a:r>
              <a:rPr lang="en-US" dirty="0"/>
              <a:t> While acknowledging limitations, especially the crucial ongoing challenge of data accuracy, the result is a demonstrably useful tool providing value for residents and visitors in Vilnius.</a:t>
            </a:r>
          </a:p>
        </p:txBody>
      </p:sp>
      <p:sp>
        <p:nvSpPr>
          <p:cNvPr id="4" name="Slide Number Placeholder 3"/>
          <p:cNvSpPr>
            <a:spLocks noGrp="1"/>
          </p:cNvSpPr>
          <p:nvPr>
            <p:ph type="sldNum" sz="quarter" idx="5"/>
          </p:nvPr>
        </p:nvSpPr>
        <p:spPr/>
        <p:txBody>
          <a:bodyPr/>
          <a:lstStyle/>
          <a:p>
            <a:fld id="{942E63C4-8414-E249-95C0-E6812B6715EF}" type="slidenum">
              <a:rPr lang="en-US" smtClean="0"/>
              <a:t>12</a:t>
            </a:fld>
            <a:endParaRPr lang="en-US"/>
          </a:p>
        </p:txBody>
      </p:sp>
    </p:spTree>
    <p:extLst>
      <p:ext uri="{BB962C8B-B14F-4D97-AF65-F5344CB8AC3E}">
        <p14:creationId xmlns:p14="http://schemas.microsoft.com/office/powerpoint/2010/main" val="1660855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CBC0D-031E-6686-3957-B44B778756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4E8025-E960-EF3B-3036-C26668A93D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0C46B2-2395-3E92-527C-33B6D40ABD66}"/>
              </a:ext>
            </a:extLst>
          </p:cNvPr>
          <p:cNvSpPr>
            <a:spLocks noGrp="1"/>
          </p:cNvSpPr>
          <p:nvPr>
            <p:ph type="dt" sz="half" idx="10"/>
          </p:nvPr>
        </p:nvSpPr>
        <p:spPr/>
        <p:txBody>
          <a:bodyPr/>
          <a:lstStyle/>
          <a:p>
            <a:fld id="{64BE52CC-A5C4-4845-A5DA-01E5E1F85751}" type="datetimeFigureOut">
              <a:rPr lang="en-US" smtClean="0"/>
              <a:t>5/5/25</a:t>
            </a:fld>
            <a:endParaRPr lang="en-US"/>
          </a:p>
        </p:txBody>
      </p:sp>
      <p:sp>
        <p:nvSpPr>
          <p:cNvPr id="5" name="Footer Placeholder 4">
            <a:extLst>
              <a:ext uri="{FF2B5EF4-FFF2-40B4-BE49-F238E27FC236}">
                <a16:creationId xmlns:a16="http://schemas.microsoft.com/office/drawing/2014/main" id="{A428C75D-F8D4-C9D5-E6E5-61FE5DB68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1B149-FDCA-EBA4-6C50-069567C870BE}"/>
              </a:ext>
            </a:extLst>
          </p:cNvPr>
          <p:cNvSpPr>
            <a:spLocks noGrp="1"/>
          </p:cNvSpPr>
          <p:nvPr>
            <p:ph type="sldNum" sz="quarter" idx="12"/>
          </p:nvPr>
        </p:nvSpPr>
        <p:spPr/>
        <p:txBody>
          <a:bodyPr/>
          <a:lstStyle/>
          <a:p>
            <a:fld id="{72827D49-0C3B-3448-9990-0265645761BF}" type="slidenum">
              <a:rPr lang="en-US" smtClean="0"/>
              <a:t>‹#›</a:t>
            </a:fld>
            <a:endParaRPr lang="en-US"/>
          </a:p>
        </p:txBody>
      </p:sp>
    </p:spTree>
    <p:extLst>
      <p:ext uri="{BB962C8B-B14F-4D97-AF65-F5344CB8AC3E}">
        <p14:creationId xmlns:p14="http://schemas.microsoft.com/office/powerpoint/2010/main" val="3032017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892E-4403-8A70-3097-03AF6C8A2C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2C6841-3E68-8E5C-CF00-3B8B577049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860DA8-2510-1B00-FE00-391C5616B892}"/>
              </a:ext>
            </a:extLst>
          </p:cNvPr>
          <p:cNvSpPr>
            <a:spLocks noGrp="1"/>
          </p:cNvSpPr>
          <p:nvPr>
            <p:ph type="dt" sz="half" idx="10"/>
          </p:nvPr>
        </p:nvSpPr>
        <p:spPr/>
        <p:txBody>
          <a:bodyPr/>
          <a:lstStyle/>
          <a:p>
            <a:fld id="{64BE52CC-A5C4-4845-A5DA-01E5E1F85751}" type="datetimeFigureOut">
              <a:rPr lang="en-US" smtClean="0"/>
              <a:t>5/5/25</a:t>
            </a:fld>
            <a:endParaRPr lang="en-US"/>
          </a:p>
        </p:txBody>
      </p:sp>
      <p:sp>
        <p:nvSpPr>
          <p:cNvPr id="5" name="Footer Placeholder 4">
            <a:extLst>
              <a:ext uri="{FF2B5EF4-FFF2-40B4-BE49-F238E27FC236}">
                <a16:creationId xmlns:a16="http://schemas.microsoft.com/office/drawing/2014/main" id="{4BEE2B96-2F1C-C514-3D48-7DEB37557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9A169E-03BA-B135-FB8F-FA1597288AB3}"/>
              </a:ext>
            </a:extLst>
          </p:cNvPr>
          <p:cNvSpPr>
            <a:spLocks noGrp="1"/>
          </p:cNvSpPr>
          <p:nvPr>
            <p:ph type="sldNum" sz="quarter" idx="12"/>
          </p:nvPr>
        </p:nvSpPr>
        <p:spPr/>
        <p:txBody>
          <a:bodyPr/>
          <a:lstStyle/>
          <a:p>
            <a:fld id="{72827D49-0C3B-3448-9990-0265645761BF}" type="slidenum">
              <a:rPr lang="en-US" smtClean="0"/>
              <a:t>‹#›</a:t>
            </a:fld>
            <a:endParaRPr lang="en-US"/>
          </a:p>
        </p:txBody>
      </p:sp>
    </p:spTree>
    <p:extLst>
      <p:ext uri="{BB962C8B-B14F-4D97-AF65-F5344CB8AC3E}">
        <p14:creationId xmlns:p14="http://schemas.microsoft.com/office/powerpoint/2010/main" val="3413813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2A74F-49EE-D21F-F71F-A565AB7A4F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16CC10-5FB1-BBE4-6707-012A39D45E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90DBA1-6F34-AA07-5C14-30E66F966461}"/>
              </a:ext>
            </a:extLst>
          </p:cNvPr>
          <p:cNvSpPr>
            <a:spLocks noGrp="1"/>
          </p:cNvSpPr>
          <p:nvPr>
            <p:ph type="dt" sz="half" idx="10"/>
          </p:nvPr>
        </p:nvSpPr>
        <p:spPr/>
        <p:txBody>
          <a:bodyPr/>
          <a:lstStyle/>
          <a:p>
            <a:fld id="{64BE52CC-A5C4-4845-A5DA-01E5E1F85751}" type="datetimeFigureOut">
              <a:rPr lang="en-US" smtClean="0"/>
              <a:t>5/5/25</a:t>
            </a:fld>
            <a:endParaRPr lang="en-US"/>
          </a:p>
        </p:txBody>
      </p:sp>
      <p:sp>
        <p:nvSpPr>
          <p:cNvPr id="5" name="Footer Placeholder 4">
            <a:extLst>
              <a:ext uri="{FF2B5EF4-FFF2-40B4-BE49-F238E27FC236}">
                <a16:creationId xmlns:a16="http://schemas.microsoft.com/office/drawing/2014/main" id="{888D8775-A0B9-9987-8659-32095B9D46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FBF35B-F076-4663-41D7-B7C959B435EC}"/>
              </a:ext>
            </a:extLst>
          </p:cNvPr>
          <p:cNvSpPr>
            <a:spLocks noGrp="1"/>
          </p:cNvSpPr>
          <p:nvPr>
            <p:ph type="sldNum" sz="quarter" idx="12"/>
          </p:nvPr>
        </p:nvSpPr>
        <p:spPr/>
        <p:txBody>
          <a:bodyPr/>
          <a:lstStyle/>
          <a:p>
            <a:fld id="{72827D49-0C3B-3448-9990-0265645761BF}" type="slidenum">
              <a:rPr lang="en-US" smtClean="0"/>
              <a:t>‹#›</a:t>
            </a:fld>
            <a:endParaRPr lang="en-US"/>
          </a:p>
        </p:txBody>
      </p:sp>
    </p:spTree>
    <p:extLst>
      <p:ext uri="{BB962C8B-B14F-4D97-AF65-F5344CB8AC3E}">
        <p14:creationId xmlns:p14="http://schemas.microsoft.com/office/powerpoint/2010/main" val="309830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845A5-0B01-7AC5-7133-15523DBF40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6D0234-7391-0910-E6D8-579AD7BB5E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7D5F42-0EC2-B5B8-9476-342D4FE856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465F14-554F-10E3-9B10-D3FF58C8BAAA}"/>
              </a:ext>
            </a:extLst>
          </p:cNvPr>
          <p:cNvSpPr>
            <a:spLocks noGrp="1"/>
          </p:cNvSpPr>
          <p:nvPr>
            <p:ph type="dt" sz="half" idx="10"/>
          </p:nvPr>
        </p:nvSpPr>
        <p:spPr/>
        <p:txBody>
          <a:bodyPr/>
          <a:lstStyle/>
          <a:p>
            <a:fld id="{64BE52CC-A5C4-4845-A5DA-01E5E1F85751}" type="datetimeFigureOut">
              <a:rPr lang="en-US" smtClean="0"/>
              <a:t>5/5/25</a:t>
            </a:fld>
            <a:endParaRPr lang="en-US"/>
          </a:p>
        </p:txBody>
      </p:sp>
      <p:sp>
        <p:nvSpPr>
          <p:cNvPr id="6" name="Footer Placeholder 5">
            <a:extLst>
              <a:ext uri="{FF2B5EF4-FFF2-40B4-BE49-F238E27FC236}">
                <a16:creationId xmlns:a16="http://schemas.microsoft.com/office/drawing/2014/main" id="{3C11C330-0E66-4B96-541A-4CF0A2C80B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B5A2EA-3E73-B8C1-1FB1-B213AD69F3CE}"/>
              </a:ext>
            </a:extLst>
          </p:cNvPr>
          <p:cNvSpPr>
            <a:spLocks noGrp="1"/>
          </p:cNvSpPr>
          <p:nvPr>
            <p:ph type="sldNum" sz="quarter" idx="12"/>
          </p:nvPr>
        </p:nvSpPr>
        <p:spPr/>
        <p:txBody>
          <a:bodyPr/>
          <a:lstStyle/>
          <a:p>
            <a:fld id="{72827D49-0C3B-3448-9990-0265645761BF}" type="slidenum">
              <a:rPr lang="en-US" smtClean="0"/>
              <a:t>‹#›</a:t>
            </a:fld>
            <a:endParaRPr lang="en-US"/>
          </a:p>
        </p:txBody>
      </p:sp>
    </p:spTree>
    <p:extLst>
      <p:ext uri="{BB962C8B-B14F-4D97-AF65-F5344CB8AC3E}">
        <p14:creationId xmlns:p14="http://schemas.microsoft.com/office/powerpoint/2010/main" val="337404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AC2E4-7276-24FA-1F63-1498D81A73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6BB78B-9BD4-7763-D397-CB8718A529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B5A846-6980-B709-3823-B0CB6AA58B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17CED6-F1CD-E0A0-E866-22A3848E7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FF032F-302D-202D-A673-BBE321E730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693386-0DDC-F4BF-5FE8-3C146F15B777}"/>
              </a:ext>
            </a:extLst>
          </p:cNvPr>
          <p:cNvSpPr>
            <a:spLocks noGrp="1"/>
          </p:cNvSpPr>
          <p:nvPr>
            <p:ph type="dt" sz="half" idx="10"/>
          </p:nvPr>
        </p:nvSpPr>
        <p:spPr/>
        <p:txBody>
          <a:bodyPr/>
          <a:lstStyle/>
          <a:p>
            <a:fld id="{64BE52CC-A5C4-4845-A5DA-01E5E1F85751}" type="datetimeFigureOut">
              <a:rPr lang="en-US" smtClean="0"/>
              <a:t>5/5/25</a:t>
            </a:fld>
            <a:endParaRPr lang="en-US"/>
          </a:p>
        </p:txBody>
      </p:sp>
      <p:sp>
        <p:nvSpPr>
          <p:cNvPr id="8" name="Footer Placeholder 7">
            <a:extLst>
              <a:ext uri="{FF2B5EF4-FFF2-40B4-BE49-F238E27FC236}">
                <a16:creationId xmlns:a16="http://schemas.microsoft.com/office/drawing/2014/main" id="{72F74B32-8D52-7D9E-616C-CE129C40A7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EBD476-8FB6-8A9F-1E84-A75CE7D14561}"/>
              </a:ext>
            </a:extLst>
          </p:cNvPr>
          <p:cNvSpPr>
            <a:spLocks noGrp="1"/>
          </p:cNvSpPr>
          <p:nvPr>
            <p:ph type="sldNum" sz="quarter" idx="12"/>
          </p:nvPr>
        </p:nvSpPr>
        <p:spPr/>
        <p:txBody>
          <a:bodyPr/>
          <a:lstStyle/>
          <a:p>
            <a:fld id="{72827D49-0C3B-3448-9990-0265645761BF}" type="slidenum">
              <a:rPr lang="en-US" smtClean="0"/>
              <a:t>‹#›</a:t>
            </a:fld>
            <a:endParaRPr lang="en-US"/>
          </a:p>
        </p:txBody>
      </p:sp>
    </p:spTree>
    <p:extLst>
      <p:ext uri="{BB962C8B-B14F-4D97-AF65-F5344CB8AC3E}">
        <p14:creationId xmlns:p14="http://schemas.microsoft.com/office/powerpoint/2010/main" val="3842819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BA663-FFE0-BF35-127B-80B6B4EC53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B206CA-E22D-771C-4EFF-01664795197F}"/>
              </a:ext>
            </a:extLst>
          </p:cNvPr>
          <p:cNvSpPr>
            <a:spLocks noGrp="1"/>
          </p:cNvSpPr>
          <p:nvPr>
            <p:ph type="dt" sz="half" idx="10"/>
          </p:nvPr>
        </p:nvSpPr>
        <p:spPr/>
        <p:txBody>
          <a:bodyPr/>
          <a:lstStyle/>
          <a:p>
            <a:fld id="{64BE52CC-A5C4-4845-A5DA-01E5E1F85751}" type="datetimeFigureOut">
              <a:rPr lang="en-US" smtClean="0"/>
              <a:t>5/5/25</a:t>
            </a:fld>
            <a:endParaRPr lang="en-US"/>
          </a:p>
        </p:txBody>
      </p:sp>
      <p:sp>
        <p:nvSpPr>
          <p:cNvPr id="4" name="Footer Placeholder 3">
            <a:extLst>
              <a:ext uri="{FF2B5EF4-FFF2-40B4-BE49-F238E27FC236}">
                <a16:creationId xmlns:a16="http://schemas.microsoft.com/office/drawing/2014/main" id="{1A507659-6775-255F-9261-4AFA4A8A99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5BB68D-2EDF-81F2-55C8-C9C61CDCC270}"/>
              </a:ext>
            </a:extLst>
          </p:cNvPr>
          <p:cNvSpPr>
            <a:spLocks noGrp="1"/>
          </p:cNvSpPr>
          <p:nvPr>
            <p:ph type="sldNum" sz="quarter" idx="12"/>
          </p:nvPr>
        </p:nvSpPr>
        <p:spPr/>
        <p:txBody>
          <a:bodyPr/>
          <a:lstStyle/>
          <a:p>
            <a:fld id="{72827D49-0C3B-3448-9990-0265645761BF}" type="slidenum">
              <a:rPr lang="en-US" smtClean="0"/>
              <a:t>‹#›</a:t>
            </a:fld>
            <a:endParaRPr lang="en-US"/>
          </a:p>
        </p:txBody>
      </p:sp>
    </p:spTree>
    <p:extLst>
      <p:ext uri="{BB962C8B-B14F-4D97-AF65-F5344CB8AC3E}">
        <p14:creationId xmlns:p14="http://schemas.microsoft.com/office/powerpoint/2010/main" val="2147958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5CA027-4294-5167-A2F2-7E8D869017DD}"/>
              </a:ext>
            </a:extLst>
          </p:cNvPr>
          <p:cNvSpPr>
            <a:spLocks noGrp="1"/>
          </p:cNvSpPr>
          <p:nvPr>
            <p:ph type="dt" sz="half" idx="10"/>
          </p:nvPr>
        </p:nvSpPr>
        <p:spPr/>
        <p:txBody>
          <a:bodyPr/>
          <a:lstStyle/>
          <a:p>
            <a:fld id="{64BE52CC-A5C4-4845-A5DA-01E5E1F85751}" type="datetimeFigureOut">
              <a:rPr lang="en-US" smtClean="0"/>
              <a:t>5/5/25</a:t>
            </a:fld>
            <a:endParaRPr lang="en-US"/>
          </a:p>
        </p:txBody>
      </p:sp>
      <p:sp>
        <p:nvSpPr>
          <p:cNvPr id="3" name="Footer Placeholder 2">
            <a:extLst>
              <a:ext uri="{FF2B5EF4-FFF2-40B4-BE49-F238E27FC236}">
                <a16:creationId xmlns:a16="http://schemas.microsoft.com/office/drawing/2014/main" id="{9DFE9A73-23E7-1EE3-38BE-AC662557A6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E5F899-654A-D25D-2FB6-15078A6DD8D9}"/>
              </a:ext>
            </a:extLst>
          </p:cNvPr>
          <p:cNvSpPr>
            <a:spLocks noGrp="1"/>
          </p:cNvSpPr>
          <p:nvPr>
            <p:ph type="sldNum" sz="quarter" idx="12"/>
          </p:nvPr>
        </p:nvSpPr>
        <p:spPr/>
        <p:txBody>
          <a:bodyPr/>
          <a:lstStyle/>
          <a:p>
            <a:fld id="{72827D49-0C3B-3448-9990-0265645761BF}" type="slidenum">
              <a:rPr lang="en-US" smtClean="0"/>
              <a:t>‹#›</a:t>
            </a:fld>
            <a:endParaRPr lang="en-US"/>
          </a:p>
        </p:txBody>
      </p:sp>
    </p:spTree>
    <p:extLst>
      <p:ext uri="{BB962C8B-B14F-4D97-AF65-F5344CB8AC3E}">
        <p14:creationId xmlns:p14="http://schemas.microsoft.com/office/powerpoint/2010/main" val="3918625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A6013-BF60-8363-225D-19C9DC49AF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C094EC-10C6-E321-E6FC-F0E5B764FD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68239C-C618-5CB9-DF34-69930F4719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6E9B1F-944B-5248-77B2-D9A36A99E8A9}"/>
              </a:ext>
            </a:extLst>
          </p:cNvPr>
          <p:cNvSpPr>
            <a:spLocks noGrp="1"/>
          </p:cNvSpPr>
          <p:nvPr>
            <p:ph type="dt" sz="half" idx="10"/>
          </p:nvPr>
        </p:nvSpPr>
        <p:spPr/>
        <p:txBody>
          <a:bodyPr/>
          <a:lstStyle/>
          <a:p>
            <a:fld id="{64BE52CC-A5C4-4845-A5DA-01E5E1F85751}" type="datetimeFigureOut">
              <a:rPr lang="en-US" smtClean="0"/>
              <a:t>5/5/25</a:t>
            </a:fld>
            <a:endParaRPr lang="en-US"/>
          </a:p>
        </p:txBody>
      </p:sp>
      <p:sp>
        <p:nvSpPr>
          <p:cNvPr id="6" name="Footer Placeholder 5">
            <a:extLst>
              <a:ext uri="{FF2B5EF4-FFF2-40B4-BE49-F238E27FC236}">
                <a16:creationId xmlns:a16="http://schemas.microsoft.com/office/drawing/2014/main" id="{E8C5C471-324C-37FB-F180-C4D43FC195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972BA4-E827-C9E5-8499-79F86BF9B16B}"/>
              </a:ext>
            </a:extLst>
          </p:cNvPr>
          <p:cNvSpPr>
            <a:spLocks noGrp="1"/>
          </p:cNvSpPr>
          <p:nvPr>
            <p:ph type="sldNum" sz="quarter" idx="12"/>
          </p:nvPr>
        </p:nvSpPr>
        <p:spPr/>
        <p:txBody>
          <a:bodyPr/>
          <a:lstStyle/>
          <a:p>
            <a:fld id="{72827D49-0C3B-3448-9990-0265645761BF}" type="slidenum">
              <a:rPr lang="en-US" smtClean="0"/>
              <a:t>‹#›</a:t>
            </a:fld>
            <a:endParaRPr lang="en-US"/>
          </a:p>
        </p:txBody>
      </p:sp>
    </p:spTree>
    <p:extLst>
      <p:ext uri="{BB962C8B-B14F-4D97-AF65-F5344CB8AC3E}">
        <p14:creationId xmlns:p14="http://schemas.microsoft.com/office/powerpoint/2010/main" val="3657495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8EE64-67DD-8C8A-0A87-20E3D1ACDF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8FEB15-AF16-4B5B-9E95-17BB0C33A1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A9325B-18A8-633E-C367-15CC8386D9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BF7A81-7118-87A0-56EF-B9146FBC7E2B}"/>
              </a:ext>
            </a:extLst>
          </p:cNvPr>
          <p:cNvSpPr>
            <a:spLocks noGrp="1"/>
          </p:cNvSpPr>
          <p:nvPr>
            <p:ph type="dt" sz="half" idx="10"/>
          </p:nvPr>
        </p:nvSpPr>
        <p:spPr/>
        <p:txBody>
          <a:bodyPr/>
          <a:lstStyle/>
          <a:p>
            <a:fld id="{64BE52CC-A5C4-4845-A5DA-01E5E1F85751}" type="datetimeFigureOut">
              <a:rPr lang="en-US" smtClean="0"/>
              <a:t>5/5/25</a:t>
            </a:fld>
            <a:endParaRPr lang="en-US"/>
          </a:p>
        </p:txBody>
      </p:sp>
      <p:sp>
        <p:nvSpPr>
          <p:cNvPr id="6" name="Footer Placeholder 5">
            <a:extLst>
              <a:ext uri="{FF2B5EF4-FFF2-40B4-BE49-F238E27FC236}">
                <a16:creationId xmlns:a16="http://schemas.microsoft.com/office/drawing/2014/main" id="{F84DF058-2BDD-7CDB-57DF-E6ABCC74AA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E5EA48-144C-06E9-ECF6-1AA9EB95E7CC}"/>
              </a:ext>
            </a:extLst>
          </p:cNvPr>
          <p:cNvSpPr>
            <a:spLocks noGrp="1"/>
          </p:cNvSpPr>
          <p:nvPr>
            <p:ph type="sldNum" sz="quarter" idx="12"/>
          </p:nvPr>
        </p:nvSpPr>
        <p:spPr/>
        <p:txBody>
          <a:bodyPr/>
          <a:lstStyle/>
          <a:p>
            <a:fld id="{72827D49-0C3B-3448-9990-0265645761BF}" type="slidenum">
              <a:rPr lang="en-US" smtClean="0"/>
              <a:t>‹#›</a:t>
            </a:fld>
            <a:endParaRPr lang="en-US"/>
          </a:p>
        </p:txBody>
      </p:sp>
    </p:spTree>
    <p:extLst>
      <p:ext uri="{BB962C8B-B14F-4D97-AF65-F5344CB8AC3E}">
        <p14:creationId xmlns:p14="http://schemas.microsoft.com/office/powerpoint/2010/main" val="4250604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B8B07-5074-8567-E32E-FC6334FBA9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E5D383-A812-C8BA-FDD7-B78354A8FD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BB78E4-FC37-EC1A-4F54-76193115C218}"/>
              </a:ext>
            </a:extLst>
          </p:cNvPr>
          <p:cNvSpPr>
            <a:spLocks noGrp="1"/>
          </p:cNvSpPr>
          <p:nvPr>
            <p:ph type="dt" sz="half" idx="10"/>
          </p:nvPr>
        </p:nvSpPr>
        <p:spPr/>
        <p:txBody>
          <a:bodyPr/>
          <a:lstStyle/>
          <a:p>
            <a:fld id="{64BE52CC-A5C4-4845-A5DA-01E5E1F85751}" type="datetimeFigureOut">
              <a:rPr lang="en-US" smtClean="0"/>
              <a:t>5/5/25</a:t>
            </a:fld>
            <a:endParaRPr lang="en-US"/>
          </a:p>
        </p:txBody>
      </p:sp>
      <p:sp>
        <p:nvSpPr>
          <p:cNvPr id="5" name="Footer Placeholder 4">
            <a:extLst>
              <a:ext uri="{FF2B5EF4-FFF2-40B4-BE49-F238E27FC236}">
                <a16:creationId xmlns:a16="http://schemas.microsoft.com/office/drawing/2014/main" id="{A92BDF3E-1ED1-93C5-BFE6-991579E31C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FE0D5D-BB66-4E4A-321B-8EAF9E2C9B43}"/>
              </a:ext>
            </a:extLst>
          </p:cNvPr>
          <p:cNvSpPr>
            <a:spLocks noGrp="1"/>
          </p:cNvSpPr>
          <p:nvPr>
            <p:ph type="sldNum" sz="quarter" idx="12"/>
          </p:nvPr>
        </p:nvSpPr>
        <p:spPr/>
        <p:txBody>
          <a:bodyPr/>
          <a:lstStyle/>
          <a:p>
            <a:fld id="{72827D49-0C3B-3448-9990-0265645761BF}" type="slidenum">
              <a:rPr lang="en-US" smtClean="0"/>
              <a:t>‹#›</a:t>
            </a:fld>
            <a:endParaRPr lang="en-US"/>
          </a:p>
        </p:txBody>
      </p:sp>
    </p:spTree>
    <p:extLst>
      <p:ext uri="{BB962C8B-B14F-4D97-AF65-F5344CB8AC3E}">
        <p14:creationId xmlns:p14="http://schemas.microsoft.com/office/powerpoint/2010/main" val="1007067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36EBD9-E3B0-4B52-5A8E-3565EF6E1B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AEB22F-1B86-E410-306B-1FA24AC283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2EA35-1C9D-4484-43C3-0B5DF6EE3094}"/>
              </a:ext>
            </a:extLst>
          </p:cNvPr>
          <p:cNvSpPr>
            <a:spLocks noGrp="1"/>
          </p:cNvSpPr>
          <p:nvPr>
            <p:ph type="dt" sz="half" idx="10"/>
          </p:nvPr>
        </p:nvSpPr>
        <p:spPr/>
        <p:txBody>
          <a:bodyPr/>
          <a:lstStyle/>
          <a:p>
            <a:fld id="{64BE52CC-A5C4-4845-A5DA-01E5E1F85751}" type="datetimeFigureOut">
              <a:rPr lang="en-US" smtClean="0"/>
              <a:t>5/5/25</a:t>
            </a:fld>
            <a:endParaRPr lang="en-US"/>
          </a:p>
        </p:txBody>
      </p:sp>
      <p:sp>
        <p:nvSpPr>
          <p:cNvPr id="5" name="Footer Placeholder 4">
            <a:extLst>
              <a:ext uri="{FF2B5EF4-FFF2-40B4-BE49-F238E27FC236}">
                <a16:creationId xmlns:a16="http://schemas.microsoft.com/office/drawing/2014/main" id="{B873B1EE-5A7A-5F5B-ABB9-5C9898AA9D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F62D20-1FD4-9D0E-876F-E69D613E43E7}"/>
              </a:ext>
            </a:extLst>
          </p:cNvPr>
          <p:cNvSpPr>
            <a:spLocks noGrp="1"/>
          </p:cNvSpPr>
          <p:nvPr>
            <p:ph type="sldNum" sz="quarter" idx="12"/>
          </p:nvPr>
        </p:nvSpPr>
        <p:spPr/>
        <p:txBody>
          <a:bodyPr/>
          <a:lstStyle/>
          <a:p>
            <a:fld id="{72827D49-0C3B-3448-9990-0265645761BF}" type="slidenum">
              <a:rPr lang="en-US" smtClean="0"/>
              <a:t>‹#›</a:t>
            </a:fld>
            <a:endParaRPr lang="en-US"/>
          </a:p>
        </p:txBody>
      </p:sp>
    </p:spTree>
    <p:extLst>
      <p:ext uri="{BB962C8B-B14F-4D97-AF65-F5344CB8AC3E}">
        <p14:creationId xmlns:p14="http://schemas.microsoft.com/office/powerpoint/2010/main" val="3970138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41F4F7-89E2-942C-B00E-DD3008F186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FE43DD-B94B-545A-D252-DF9DE50D40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C7EC24-AE54-01A4-406B-A50FADFC86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BE52CC-A5C4-4845-A5DA-01E5E1F85751}" type="datetimeFigureOut">
              <a:rPr lang="en-US" smtClean="0"/>
              <a:t>5/5/25</a:t>
            </a:fld>
            <a:endParaRPr lang="en-US"/>
          </a:p>
        </p:txBody>
      </p:sp>
      <p:sp>
        <p:nvSpPr>
          <p:cNvPr id="5" name="Footer Placeholder 4">
            <a:extLst>
              <a:ext uri="{FF2B5EF4-FFF2-40B4-BE49-F238E27FC236}">
                <a16:creationId xmlns:a16="http://schemas.microsoft.com/office/drawing/2014/main" id="{8E77BA28-4766-7C1A-92D9-674BE2A4DC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1C2C5C-12E8-E831-7369-010A27A6E3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827D49-0C3B-3448-9990-0265645761BF}" type="slidenum">
              <a:rPr lang="en-US" smtClean="0"/>
              <a:t>‹#›</a:t>
            </a:fld>
            <a:endParaRPr lang="en-US"/>
          </a:p>
        </p:txBody>
      </p:sp>
    </p:spTree>
    <p:extLst>
      <p:ext uri="{BB962C8B-B14F-4D97-AF65-F5344CB8AC3E}">
        <p14:creationId xmlns:p14="http://schemas.microsoft.com/office/powerpoint/2010/main" val="3216831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5.jpe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3">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4">
            <a:extLst>
              <a:ext uri="{FF2B5EF4-FFF2-40B4-BE49-F238E27FC236}">
                <a16:creationId xmlns:a16="http://schemas.microsoft.com/office/drawing/2014/main" id="{0577C33A-AECE-A1CE-41DC-DB67103B8DC3}"/>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A Web-based System for Efficient Healthcare Navigation</a:t>
            </a:r>
          </a:p>
        </p:txBody>
      </p:sp>
      <p:sp>
        <p:nvSpPr>
          <p:cNvPr id="7" name="Text Placeholder 6">
            <a:extLst>
              <a:ext uri="{FF2B5EF4-FFF2-40B4-BE49-F238E27FC236}">
                <a16:creationId xmlns:a16="http://schemas.microsoft.com/office/drawing/2014/main" id="{51A27034-3079-4A5E-F599-78AD11363FB2}"/>
              </a:ext>
            </a:extLst>
          </p:cNvPr>
          <p:cNvSpPr>
            <a:spLocks noGrp="1"/>
          </p:cNvSpPr>
          <p:nvPr>
            <p:ph type="body" sz="half" idx="2"/>
          </p:nvPr>
        </p:nvSpPr>
        <p:spPr>
          <a:xfrm>
            <a:off x="1882588" y="1311818"/>
            <a:ext cx="8426823" cy="397567"/>
          </a:xfrm>
        </p:spPr>
        <p:txBody>
          <a:bodyPr vert="horz" lIns="91440" tIns="45720" rIns="91440" bIns="45720" rtlCol="0">
            <a:normAutofit/>
          </a:bodyPr>
          <a:lstStyle/>
          <a:p>
            <a:pPr algn="ctr"/>
            <a:r>
              <a:rPr lang="en-US" kern="1200" dirty="0">
                <a:solidFill>
                  <a:schemeClr val="tx1"/>
                </a:solidFill>
                <a:latin typeface="+mn-lt"/>
                <a:ea typeface="+mn-ea"/>
                <a:cs typeface="+mn-cs"/>
              </a:rPr>
              <a:t>By Ufuk Saylan</a:t>
            </a:r>
          </a:p>
        </p:txBody>
      </p:sp>
      <p:pic>
        <p:nvPicPr>
          <p:cNvPr id="10" name="Content Placeholder 9" descr="A green sign with white text&#10;&#10;Description automatically generated">
            <a:extLst>
              <a:ext uri="{FF2B5EF4-FFF2-40B4-BE49-F238E27FC236}">
                <a16:creationId xmlns:a16="http://schemas.microsoft.com/office/drawing/2014/main" id="{436929BA-B45B-2591-2E49-42090A876785}"/>
              </a:ext>
            </a:extLst>
          </p:cNvPr>
          <p:cNvPicPr>
            <a:picLocks noGrp="1" noChangeAspect="1"/>
          </p:cNvPicPr>
          <p:nvPr>
            <p:ph idx="1"/>
          </p:nvPr>
        </p:nvPicPr>
        <p:blipFill>
          <a:blip r:embed="rId2"/>
          <a:stretch>
            <a:fillRect/>
          </a:stretch>
        </p:blipFill>
        <p:spPr>
          <a:xfrm>
            <a:off x="1478357" y="2354239"/>
            <a:ext cx="9235286" cy="3948085"/>
          </a:xfrm>
          <a:prstGeom prst="rect">
            <a:avLst/>
          </a:prstGeom>
        </p:spPr>
      </p:pic>
    </p:spTree>
    <p:extLst>
      <p:ext uri="{BB962C8B-B14F-4D97-AF65-F5344CB8AC3E}">
        <p14:creationId xmlns:p14="http://schemas.microsoft.com/office/powerpoint/2010/main" val="929179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FE3708-4014-4EB7-D76C-853966E96535}"/>
              </a:ext>
            </a:extLst>
          </p:cNvPr>
          <p:cNvSpPr>
            <a:spLocks noGrp="1"/>
          </p:cNvSpPr>
          <p:nvPr>
            <p:ph type="title"/>
          </p:nvPr>
        </p:nvSpPr>
        <p:spPr>
          <a:xfrm>
            <a:off x="640080" y="329184"/>
            <a:ext cx="6894576" cy="1783080"/>
          </a:xfrm>
        </p:spPr>
        <p:txBody>
          <a:bodyPr vert="horz" lIns="91440" tIns="45720" rIns="91440" bIns="45720" rtlCol="0" anchor="b">
            <a:normAutofit/>
          </a:bodyPr>
          <a:lstStyle/>
          <a:p>
            <a:r>
              <a:rPr lang="en-US" sz="5400" dirty="0"/>
              <a:t>Finding the Right Medical Care </a:t>
            </a:r>
            <a:r>
              <a:rPr lang="en-US" sz="1600" dirty="0"/>
              <a:t>(Relevance &amp; Problem)</a:t>
            </a:r>
            <a:endParaRPr lang="en-US" sz="5400" dirty="0"/>
          </a:p>
        </p:txBody>
      </p:sp>
      <p:sp>
        <p:nvSpPr>
          <p:cNvPr id="104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083CFB90-6956-8E39-9DF2-3B11E4172F40}"/>
              </a:ext>
            </a:extLst>
          </p:cNvPr>
          <p:cNvSpPr>
            <a:spLocks noGrp="1"/>
          </p:cNvSpPr>
          <p:nvPr>
            <p:ph type="body" sz="half" idx="2"/>
          </p:nvPr>
        </p:nvSpPr>
        <p:spPr>
          <a:xfrm>
            <a:off x="640080" y="2706624"/>
            <a:ext cx="6894576" cy="3483864"/>
          </a:xfrm>
        </p:spPr>
        <p:txBody>
          <a:bodyPr vert="horz" lIns="91440" tIns="45720" rIns="91440" bIns="45720" rtlCol="0">
            <a:normAutofit/>
          </a:bodyPr>
          <a:lstStyle/>
          <a:p>
            <a:pPr marL="285750" indent="-228600">
              <a:buFont typeface="Arial" panose="020B0604020202020204" pitchFamily="34" charset="0"/>
              <a:buChar char="•"/>
            </a:pPr>
            <a:r>
              <a:rPr lang="en-US" sz="2200" b="1" dirty="0"/>
              <a:t>Problem:</a:t>
            </a:r>
            <a:r>
              <a:rPr lang="en-US" sz="2200" dirty="0"/>
              <a:t> Information is scattered across different sources.</a:t>
            </a:r>
          </a:p>
          <a:p>
            <a:pPr marL="285750" indent="-228600">
              <a:buFont typeface="Arial" panose="020B0604020202020204" pitchFamily="34" charset="0"/>
              <a:buChar char="•"/>
            </a:pPr>
            <a:r>
              <a:rPr lang="en-US" sz="2200" b="1" dirty="0"/>
              <a:t>Gap:</a:t>
            </a:r>
            <a:r>
              <a:rPr lang="en-US" sz="2200" dirty="0"/>
              <a:t> General mapping apps (like Google Maps) lack crucial </a:t>
            </a:r>
            <a:r>
              <a:rPr lang="en-US" sz="2200" i="1" dirty="0"/>
              <a:t>medical-specific</a:t>
            </a:r>
            <a:r>
              <a:rPr lang="en-US" sz="2200" dirty="0"/>
              <a:t> filters (e.g., Is this clinic equipped for trauma? Does it have cardiology?).</a:t>
            </a:r>
          </a:p>
          <a:p>
            <a:pPr marL="285750" indent="-228600">
              <a:buFont typeface="Arial" panose="020B0604020202020204" pitchFamily="34" charset="0"/>
              <a:buChar char="•"/>
            </a:pPr>
            <a:r>
              <a:rPr lang="en-US" sz="2200" b="1" dirty="0"/>
              <a:t>Consequence:</a:t>
            </a:r>
            <a:r>
              <a:rPr lang="en-US" sz="2200" dirty="0"/>
              <a:t> Difficulty, confusion, and potential delays when quick access to the </a:t>
            </a:r>
            <a:r>
              <a:rPr lang="en-US" sz="2200" i="1" dirty="0"/>
              <a:t>appropriate</a:t>
            </a:r>
            <a:r>
              <a:rPr lang="en-US" sz="2200" dirty="0"/>
              <a:t> facility is needed. Existing directories focus on doctors, not facilities/navigation.</a:t>
            </a:r>
          </a:p>
          <a:p>
            <a:pPr marL="285750" indent="-228600">
              <a:buFont typeface="Arial" panose="020B0604020202020204" pitchFamily="34" charset="0"/>
              <a:buChar char="•"/>
            </a:pPr>
            <a:endParaRPr lang="en-US" sz="2200" dirty="0"/>
          </a:p>
        </p:txBody>
      </p:sp>
      <p:pic>
        <p:nvPicPr>
          <p:cNvPr id="1026" name="Picture 2" descr="Google overhauls its search results for abortion clinics after leading some  users astray">
            <a:extLst>
              <a:ext uri="{FF2B5EF4-FFF2-40B4-BE49-F238E27FC236}">
                <a16:creationId xmlns:a16="http://schemas.microsoft.com/office/drawing/2014/main" id="{834E60B1-EF20-0CF9-D99A-DD5928BE2DD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8174736" y="329183"/>
            <a:ext cx="3377184" cy="44811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ovTech Lab Lithuania">
            <a:extLst>
              <a:ext uri="{FF2B5EF4-FFF2-40B4-BE49-F238E27FC236}">
                <a16:creationId xmlns:a16="http://schemas.microsoft.com/office/drawing/2014/main" id="{872FEB33-F417-2321-16FF-C4AE99C4342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865364" y="5324684"/>
            <a:ext cx="3995928" cy="1018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9515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BCA785-BC0E-6FBC-BEF2-805C0BAEFF7C}"/>
              </a:ext>
            </a:extLst>
          </p:cNvPr>
          <p:cNvSpPr>
            <a:spLocks noGrp="1"/>
          </p:cNvSpPr>
          <p:nvPr>
            <p:ph type="title"/>
          </p:nvPr>
        </p:nvSpPr>
        <p:spPr>
          <a:xfrm>
            <a:off x="841248" y="548640"/>
            <a:ext cx="3600860" cy="5431536"/>
          </a:xfrm>
        </p:spPr>
        <p:txBody>
          <a:bodyPr vert="horz" lIns="91440" tIns="45720" rIns="91440" bIns="45720" rtlCol="0" anchor="ctr">
            <a:normAutofit/>
          </a:bodyPr>
          <a:lstStyle/>
          <a:p>
            <a:r>
              <a:rPr lang="en-US" sz="5400" kern="1200" dirty="0">
                <a:solidFill>
                  <a:schemeClr val="tx1"/>
                </a:solidFill>
                <a:latin typeface="+mj-lt"/>
                <a:ea typeface="+mj-ea"/>
                <a:cs typeface="+mj-cs"/>
              </a:rPr>
              <a:t>Creating a Dedicated Solution </a:t>
            </a:r>
            <a:r>
              <a:rPr lang="en-US" sz="1400" kern="1200" dirty="0">
                <a:solidFill>
                  <a:schemeClr val="tx1"/>
                </a:solidFill>
                <a:latin typeface="+mj-lt"/>
                <a:ea typeface="+mj-ea"/>
                <a:cs typeface="+mj-cs"/>
              </a:rPr>
              <a:t>(Object &amp; Tasks of the Thesis)</a:t>
            </a:r>
            <a:endParaRPr lang="en-US" sz="5400" kern="1200" dirty="0">
              <a:solidFill>
                <a:schemeClr val="tx1"/>
              </a:solidFill>
              <a:latin typeface="+mj-lt"/>
              <a:ea typeface="+mj-ea"/>
              <a:cs typeface="+mj-cs"/>
            </a:endParaRP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20A1D459-1CA5-5CCA-91BF-FC86C994D3E2}"/>
              </a:ext>
            </a:extLst>
          </p:cNvPr>
          <p:cNvSpPr>
            <a:spLocks noGrp="1"/>
          </p:cNvSpPr>
          <p:nvPr>
            <p:ph type="body" sz="half" idx="2"/>
          </p:nvPr>
        </p:nvSpPr>
        <p:spPr>
          <a:xfrm>
            <a:off x="5126418" y="552091"/>
            <a:ext cx="6224335" cy="5431536"/>
          </a:xfrm>
        </p:spPr>
        <p:txBody>
          <a:bodyPr vert="horz" lIns="91440" tIns="45720" rIns="91440" bIns="45720" rtlCol="0" anchor="ctr">
            <a:normAutofit/>
          </a:bodyPr>
          <a:lstStyle/>
          <a:p>
            <a:pPr indent="-228600">
              <a:buFont typeface="Arial" panose="020B0604020202020204" pitchFamily="34" charset="0"/>
              <a:buChar char="•"/>
            </a:pPr>
            <a:r>
              <a:rPr lang="en-US" sz="2200" b="1" dirty="0"/>
              <a:t>Object:</a:t>
            </a:r>
            <a:r>
              <a:rPr lang="en-US" sz="2200" dirty="0"/>
              <a:t> Design, implementation, and analysis of a dedicated </a:t>
            </a:r>
            <a:r>
              <a:rPr lang="en-US" sz="2200" b="1" dirty="0"/>
              <a:t>full-stack web application system</a:t>
            </a:r>
            <a:r>
              <a:rPr lang="en-US" sz="2200" dirty="0"/>
              <a:t> for this purpose (including backend, frontend, API, database, and routing integration).</a:t>
            </a:r>
          </a:p>
          <a:p>
            <a:pPr marL="285750" indent="-228600">
              <a:buFont typeface="Arial" panose="020B0604020202020204" pitchFamily="34" charset="0"/>
              <a:buChar char="•"/>
            </a:pPr>
            <a:r>
              <a:rPr lang="en-US" sz="2200" dirty="0"/>
              <a:t>Analyze requirements/existing solutions. </a:t>
            </a:r>
          </a:p>
          <a:p>
            <a:pPr marL="285750" indent="-228600">
              <a:buFont typeface="Arial" panose="020B0604020202020204" pitchFamily="34" charset="0"/>
              <a:buChar char="•"/>
            </a:pPr>
            <a:r>
              <a:rPr lang="en-US" sz="2200" dirty="0"/>
              <a:t>Select technologies. </a:t>
            </a:r>
          </a:p>
          <a:p>
            <a:pPr marL="285750" indent="-228600">
              <a:buFont typeface="Arial" panose="020B0604020202020204" pitchFamily="34" charset="0"/>
              <a:buChar char="•"/>
            </a:pPr>
            <a:r>
              <a:rPr lang="en-US" sz="2200" dirty="0"/>
              <a:t>Design system architecture.</a:t>
            </a:r>
          </a:p>
          <a:p>
            <a:pPr marL="285750" indent="-228600">
              <a:buFont typeface="Arial" panose="020B0604020202020204" pitchFamily="34" charset="0"/>
              <a:buChar char="•"/>
            </a:pPr>
            <a:r>
              <a:rPr lang="en-US" sz="2200" dirty="0"/>
              <a:t>Implement full-stack application. </a:t>
            </a:r>
          </a:p>
          <a:p>
            <a:pPr marL="285750" indent="-228600">
              <a:buFont typeface="Arial" panose="020B0604020202020204" pitchFamily="34" charset="0"/>
              <a:buChar char="•"/>
            </a:pPr>
            <a:r>
              <a:rPr lang="en-US" sz="2200" dirty="0"/>
              <a:t>Test components.</a:t>
            </a:r>
          </a:p>
        </p:txBody>
      </p:sp>
    </p:spTree>
    <p:extLst>
      <p:ext uri="{BB962C8B-B14F-4D97-AF65-F5344CB8AC3E}">
        <p14:creationId xmlns:p14="http://schemas.microsoft.com/office/powerpoint/2010/main" val="2321077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26074A13-8BB6-7437-4D5A-FA43C43FAE18}"/>
              </a:ext>
            </a:extLst>
          </p:cNvPr>
          <p:cNvSpPr>
            <a:spLocks noGrp="1"/>
          </p:cNvSpPr>
          <p:nvPr>
            <p:ph type="title"/>
          </p:nvPr>
        </p:nvSpPr>
        <p:spPr>
          <a:xfrm>
            <a:off x="479394" y="1070800"/>
            <a:ext cx="3939688" cy="5583126"/>
          </a:xfrm>
        </p:spPr>
        <p:txBody>
          <a:bodyPr vert="horz" lIns="91440" tIns="45720" rIns="91440" bIns="45720" rtlCol="0" anchor="ctr">
            <a:normAutofit/>
          </a:bodyPr>
          <a:lstStyle/>
          <a:p>
            <a:pPr algn="ctr"/>
            <a:r>
              <a:rPr lang="en-US" sz="5400" kern="1200" dirty="0">
                <a:solidFill>
                  <a:schemeClr val="tx1"/>
                </a:solidFill>
                <a:latin typeface="+mj-lt"/>
                <a:ea typeface="+mj-ea"/>
                <a:cs typeface="+mj-cs"/>
              </a:rPr>
              <a:t>Research Methods Used</a:t>
            </a:r>
          </a:p>
        </p:txBody>
      </p:sp>
      <p:cxnSp>
        <p:nvCxnSpPr>
          <p:cNvPr id="12" name="Straight Connector 11">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6" name="Text Placeholder 3">
            <a:extLst>
              <a:ext uri="{FF2B5EF4-FFF2-40B4-BE49-F238E27FC236}">
                <a16:creationId xmlns:a16="http://schemas.microsoft.com/office/drawing/2014/main" id="{F0B3B3B0-9166-AEA0-B1DB-CDCB5EE3BB79}"/>
              </a:ext>
            </a:extLst>
          </p:cNvPr>
          <p:cNvGraphicFramePr/>
          <p:nvPr>
            <p:extLst>
              <p:ext uri="{D42A27DB-BD31-4B8C-83A1-F6EECF244321}">
                <p14:modId xmlns:p14="http://schemas.microsoft.com/office/powerpoint/2010/main" val="3389229270"/>
              </p:ext>
            </p:extLst>
          </p:nvPr>
        </p:nvGraphicFramePr>
        <p:xfrm>
          <a:off x="5182908" y="83898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14742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8" name="Rectangle 2067">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006AF2-1CE1-8982-A12F-A0E37B7D78D0}"/>
              </a:ext>
            </a:extLst>
          </p:cNvPr>
          <p:cNvSpPr>
            <a:spLocks noGrp="1"/>
          </p:cNvSpPr>
          <p:nvPr>
            <p:ph type="title"/>
          </p:nvPr>
        </p:nvSpPr>
        <p:spPr>
          <a:xfrm>
            <a:off x="612648" y="365125"/>
            <a:ext cx="6986015" cy="1776484"/>
          </a:xfrm>
        </p:spPr>
        <p:txBody>
          <a:bodyPr vert="horz" lIns="91440" tIns="45720" rIns="91440" bIns="45720" rtlCol="0" anchor="b">
            <a:normAutofit/>
          </a:bodyPr>
          <a:lstStyle/>
          <a:p>
            <a:r>
              <a:rPr lang="en-US" sz="5400"/>
              <a:t>Review of Similar Systems in Vilnius</a:t>
            </a:r>
          </a:p>
        </p:txBody>
      </p:sp>
      <p:pic>
        <p:nvPicPr>
          <p:cNvPr id="5" name="Picture 4" descr="GovTech Lab Lithuania">
            <a:extLst>
              <a:ext uri="{FF2B5EF4-FFF2-40B4-BE49-F238E27FC236}">
                <a16:creationId xmlns:a16="http://schemas.microsoft.com/office/drawing/2014/main" id="{22A6422D-CDFB-47C3-7462-9B3FE13B52D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79409" y="756767"/>
            <a:ext cx="3532036" cy="900668"/>
          </a:xfrm>
          <a:prstGeom prst="rect">
            <a:avLst/>
          </a:prstGeom>
          <a:noFill/>
          <a:extLst>
            <a:ext uri="{909E8E84-426E-40DD-AFC4-6F175D3DCCD1}">
              <a14:hiddenFill xmlns:a14="http://schemas.microsoft.com/office/drawing/2010/main">
                <a:solidFill>
                  <a:srgbClr val="FFFFFF"/>
                </a:solidFill>
              </a14:hiddenFill>
            </a:ext>
          </a:extLst>
        </p:spPr>
      </p:pic>
      <p:sp>
        <p:nvSpPr>
          <p:cNvPr id="2069" name="sketch line">
            <a:extLst>
              <a:ext uri="{FF2B5EF4-FFF2-40B4-BE49-F238E27FC236}">
                <a16:creationId xmlns:a16="http://schemas.microsoft.com/office/drawing/2014/main" id="{75F6FDB4-2351-48C2-A863-2364A023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315691"/>
            <a:ext cx="4343400" cy="18288"/>
          </a:xfrm>
          <a:custGeom>
            <a:avLst/>
            <a:gdLst>
              <a:gd name="connsiteX0" fmla="*/ 0 w 4343400"/>
              <a:gd name="connsiteY0" fmla="*/ 0 h 18288"/>
              <a:gd name="connsiteX1" fmla="*/ 577052 w 4343400"/>
              <a:gd name="connsiteY1" fmla="*/ 0 h 18288"/>
              <a:gd name="connsiteX2" fmla="*/ 1067235 w 4343400"/>
              <a:gd name="connsiteY2" fmla="*/ 0 h 18288"/>
              <a:gd name="connsiteX3" fmla="*/ 1600853 w 4343400"/>
              <a:gd name="connsiteY3" fmla="*/ 0 h 18288"/>
              <a:gd name="connsiteX4" fmla="*/ 2264773 w 4343400"/>
              <a:gd name="connsiteY4" fmla="*/ 0 h 18288"/>
              <a:gd name="connsiteX5" fmla="*/ 2841825 w 4343400"/>
              <a:gd name="connsiteY5" fmla="*/ 0 h 18288"/>
              <a:gd name="connsiteX6" fmla="*/ 3375442 w 4343400"/>
              <a:gd name="connsiteY6" fmla="*/ 0 h 18288"/>
              <a:gd name="connsiteX7" fmla="*/ 4343400 w 4343400"/>
              <a:gd name="connsiteY7" fmla="*/ 0 h 18288"/>
              <a:gd name="connsiteX8" fmla="*/ 4343400 w 4343400"/>
              <a:gd name="connsiteY8" fmla="*/ 18288 h 18288"/>
              <a:gd name="connsiteX9" fmla="*/ 3722914 w 4343400"/>
              <a:gd name="connsiteY9" fmla="*/ 18288 h 18288"/>
              <a:gd name="connsiteX10" fmla="*/ 3189297 w 4343400"/>
              <a:gd name="connsiteY10" fmla="*/ 18288 h 18288"/>
              <a:gd name="connsiteX11" fmla="*/ 2481943 w 4343400"/>
              <a:gd name="connsiteY11" fmla="*/ 18288 h 18288"/>
              <a:gd name="connsiteX12" fmla="*/ 1904891 w 4343400"/>
              <a:gd name="connsiteY12" fmla="*/ 18288 h 18288"/>
              <a:gd name="connsiteX13" fmla="*/ 1414707 w 4343400"/>
              <a:gd name="connsiteY13" fmla="*/ 18288 h 18288"/>
              <a:gd name="connsiteX14" fmla="*/ 750788 w 4343400"/>
              <a:gd name="connsiteY14" fmla="*/ 18288 h 18288"/>
              <a:gd name="connsiteX15" fmla="*/ 0 w 4343400"/>
              <a:gd name="connsiteY15" fmla="*/ 18288 h 18288"/>
              <a:gd name="connsiteX16" fmla="*/ 0 w 43434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E9AC85A-B32C-9351-D95F-2C3659D95410}"/>
              </a:ext>
            </a:extLst>
          </p:cNvPr>
          <p:cNvSpPr>
            <a:spLocks noGrp="1"/>
          </p:cNvSpPr>
          <p:nvPr>
            <p:ph type="body" sz="half" idx="2"/>
          </p:nvPr>
        </p:nvSpPr>
        <p:spPr>
          <a:xfrm>
            <a:off x="612648" y="2504819"/>
            <a:ext cx="6986016" cy="3672144"/>
          </a:xfrm>
        </p:spPr>
        <p:txBody>
          <a:bodyPr vert="horz" lIns="91440" tIns="45720" rIns="91440" bIns="45720" rtlCol="0">
            <a:normAutofit/>
          </a:bodyPr>
          <a:lstStyle/>
          <a:p>
            <a:pPr marL="285750" indent="-228600">
              <a:buFont typeface="Arial" panose="020B0604020202020204" pitchFamily="34" charset="0"/>
              <a:buChar char="•"/>
            </a:pPr>
            <a:r>
              <a:rPr lang="en-US" sz="2000" dirty="0"/>
              <a:t>General Purpose Mapping Platforms (e.g., Google Maps): Strengths (routing), Weaknesses (lack medical detail, misleading results).</a:t>
            </a:r>
          </a:p>
          <a:p>
            <a:pPr marL="285750" indent="-228600">
              <a:buFont typeface="Arial" panose="020B0604020202020204" pitchFamily="34" charset="0"/>
              <a:buChar char="•"/>
            </a:pPr>
            <a:endParaRPr lang="en-US" sz="2000" dirty="0"/>
          </a:p>
          <a:p>
            <a:pPr marL="285750" indent="-228600">
              <a:buFont typeface="Arial" panose="020B0604020202020204" pitchFamily="34" charset="0"/>
              <a:buChar char="•"/>
            </a:pPr>
            <a:r>
              <a:rPr lang="en-US" sz="2000" dirty="0"/>
              <a:t>Local Healthcare Directories (e.g., </a:t>
            </a:r>
            <a:r>
              <a:rPr lang="en-US" sz="2000" dirty="0" err="1"/>
              <a:t>manodaktaras.lt</a:t>
            </a:r>
            <a:r>
              <a:rPr lang="en-US" sz="2000" dirty="0"/>
              <a:t>): Strengths (doctor-centric), Weaknesses (facility/routing weak).</a:t>
            </a:r>
          </a:p>
          <a:p>
            <a:pPr marL="285750" indent="-228600">
              <a:buFont typeface="Arial" panose="020B0604020202020204" pitchFamily="34" charset="0"/>
              <a:buChar char="•"/>
            </a:pPr>
            <a:endParaRPr lang="en-US" sz="2000" dirty="0"/>
          </a:p>
          <a:p>
            <a:pPr marL="285750" indent="-228600">
              <a:buFont typeface="Arial" panose="020B0604020202020204" pitchFamily="34" charset="0"/>
              <a:buChar char="•"/>
            </a:pPr>
            <a:r>
              <a:rPr lang="en-US" sz="2000" dirty="0"/>
              <a:t>Official Portals/National Platforms (e.g., E-Health app): Strengths (centralized access), Weaknesses (may not be for discovery/suitability, past system issues).</a:t>
            </a:r>
          </a:p>
          <a:p>
            <a:pPr marL="285750" indent="-228600">
              <a:buFont typeface="Arial" panose="020B0604020202020204" pitchFamily="34" charset="0"/>
              <a:buChar char="•"/>
            </a:pPr>
            <a:endParaRPr lang="en-US" sz="2000" dirty="0"/>
          </a:p>
          <a:p>
            <a:pPr indent="-228600">
              <a:buFont typeface="Arial" panose="020B0604020202020204" pitchFamily="34" charset="0"/>
              <a:buChar char="•"/>
            </a:pPr>
            <a:endParaRPr lang="en-US" sz="2000" dirty="0"/>
          </a:p>
        </p:txBody>
      </p:sp>
      <p:pic>
        <p:nvPicPr>
          <p:cNvPr id="2050" name="Picture 2" descr="My Maps – About – Google Maps">
            <a:extLst>
              <a:ext uri="{FF2B5EF4-FFF2-40B4-BE49-F238E27FC236}">
                <a16:creationId xmlns:a16="http://schemas.microsoft.com/office/drawing/2014/main" id="{0DD35F72-EABC-ABE1-2727-1D98A1C93AA8}"/>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tretch>
            <a:fillRect/>
          </a:stretch>
        </p:blipFill>
        <p:spPr bwMode="auto">
          <a:xfrm>
            <a:off x="9201180" y="2310086"/>
            <a:ext cx="1890220" cy="189022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sveikata.lt">
            <a:extLst>
              <a:ext uri="{FF2B5EF4-FFF2-40B4-BE49-F238E27FC236}">
                <a16:creationId xmlns:a16="http://schemas.microsoft.com/office/drawing/2014/main" id="{9E0217A2-A344-12AD-30C1-D2DDE16E3D76}"/>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466095" y="4358181"/>
            <a:ext cx="3360391" cy="1890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250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A82B50-408A-8ADE-87E3-330DE17CF383}"/>
              </a:ext>
            </a:extLst>
          </p:cNvPr>
          <p:cNvSpPr>
            <a:spLocks noGrp="1"/>
          </p:cNvSpPr>
          <p:nvPr>
            <p:ph type="title"/>
          </p:nvPr>
        </p:nvSpPr>
        <p:spPr>
          <a:xfrm>
            <a:off x="841248" y="548640"/>
            <a:ext cx="3600860" cy="5431536"/>
          </a:xfrm>
        </p:spPr>
        <p:txBody>
          <a:bodyPr vert="horz" lIns="91440" tIns="45720" rIns="91440" bIns="45720" rtlCol="0" anchor="ctr">
            <a:normAutofit/>
          </a:bodyPr>
          <a:lstStyle/>
          <a:p>
            <a:r>
              <a:rPr lang="en-US" sz="4200" kern="1200">
                <a:solidFill>
                  <a:schemeClr val="tx1"/>
                </a:solidFill>
                <a:latin typeface="+mj-lt"/>
                <a:ea typeface="+mj-ea"/>
                <a:cs typeface="+mj-cs"/>
              </a:rPr>
              <a:t>System Requirements - Scope &amp; Key Functionalities</a:t>
            </a: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98DECFF6-9CDC-3DEC-BDF2-369ED468BAC0}"/>
              </a:ext>
            </a:extLst>
          </p:cNvPr>
          <p:cNvSpPr>
            <a:spLocks noGrp="1"/>
          </p:cNvSpPr>
          <p:nvPr>
            <p:ph type="body" sz="half" idx="2"/>
          </p:nvPr>
        </p:nvSpPr>
        <p:spPr>
          <a:xfrm>
            <a:off x="5126418" y="552091"/>
            <a:ext cx="6224335" cy="5431536"/>
          </a:xfrm>
        </p:spPr>
        <p:txBody>
          <a:bodyPr vert="horz" lIns="91440" tIns="45720" rIns="91440" bIns="45720" rtlCol="0" anchor="ctr">
            <a:normAutofit/>
          </a:bodyPr>
          <a:lstStyle/>
          <a:p>
            <a:pPr marL="285750" indent="-228600">
              <a:buFont typeface="Arial" panose="020B0604020202020204" pitchFamily="34" charset="0"/>
              <a:buChar char="•"/>
            </a:pPr>
            <a:r>
              <a:rPr lang="en-US" sz="2200"/>
              <a:t>Emergency Search</a:t>
            </a:r>
          </a:p>
          <a:p>
            <a:pPr marL="285750" indent="-228600">
              <a:buFont typeface="Arial" panose="020B0604020202020204" pitchFamily="34" charset="0"/>
              <a:buChar char="•"/>
            </a:pPr>
            <a:r>
              <a:rPr lang="en-US" sz="2200"/>
              <a:t>Detailed Facility Search &amp; Filtering (type, specialty, emergency)</a:t>
            </a:r>
          </a:p>
          <a:p>
            <a:pPr marL="285750" indent="-228600">
              <a:buFont typeface="Arial" panose="020B0604020202020204" pitchFamily="34" charset="0"/>
              <a:buChar char="•"/>
            </a:pPr>
            <a:r>
              <a:rPr lang="en-US" sz="2200"/>
              <a:t>Info Display</a:t>
            </a:r>
          </a:p>
          <a:p>
            <a:pPr marL="285750" indent="-228600">
              <a:buFont typeface="Arial" panose="020B0604020202020204" pitchFamily="34" charset="0"/>
              <a:buChar char="•"/>
            </a:pPr>
            <a:r>
              <a:rPr lang="en-US" sz="2200"/>
              <a:t>Interactive Mapping</a:t>
            </a:r>
            <a:br>
              <a:rPr lang="en-US" sz="2200"/>
            </a:br>
            <a:endParaRPr lang="en-US" sz="2200"/>
          </a:p>
          <a:p>
            <a:pPr marL="285750" indent="-228600">
              <a:buFont typeface="Arial" panose="020B0604020202020204" pitchFamily="34" charset="0"/>
              <a:buChar char="•"/>
            </a:pPr>
            <a:r>
              <a:rPr lang="en-US" sz="2200"/>
              <a:t>Routing</a:t>
            </a:r>
          </a:p>
          <a:p>
            <a:pPr marL="285750" indent="-228600">
              <a:buFont typeface="Arial" panose="020B0604020202020204" pitchFamily="34" charset="0"/>
              <a:buChar char="•"/>
            </a:pPr>
            <a:r>
              <a:rPr lang="en-US" sz="2200"/>
              <a:t>User Feedback</a:t>
            </a:r>
          </a:p>
          <a:p>
            <a:pPr marL="285750" indent="-228600">
              <a:buFont typeface="Arial" panose="020B0604020202020204" pitchFamily="34" charset="0"/>
              <a:buChar char="•"/>
            </a:pPr>
            <a:r>
              <a:rPr lang="en-US" sz="2200"/>
              <a:t>Admin Interface</a:t>
            </a:r>
          </a:p>
          <a:p>
            <a:pPr marL="285750" indent="-228600">
              <a:buFont typeface="Arial" panose="020B0604020202020204" pitchFamily="34" charset="0"/>
              <a:buChar char="•"/>
            </a:pPr>
            <a:r>
              <a:rPr lang="en-US" sz="2200"/>
              <a:t>Limited to Vilnius </a:t>
            </a:r>
          </a:p>
        </p:txBody>
      </p:sp>
    </p:spTree>
    <p:extLst>
      <p:ext uri="{BB962C8B-B14F-4D97-AF65-F5344CB8AC3E}">
        <p14:creationId xmlns:p14="http://schemas.microsoft.com/office/powerpoint/2010/main" val="2126083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5" name="Rectangle 3084">
            <a:extLst>
              <a:ext uri="{FF2B5EF4-FFF2-40B4-BE49-F238E27FC236}">
                <a16:creationId xmlns:a16="http://schemas.microsoft.com/office/drawing/2014/main" id="{4C2AC11E-3162-4990-A36E-92B07ECF1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87" name="Rectangle 3086">
            <a:extLst>
              <a:ext uri="{FF2B5EF4-FFF2-40B4-BE49-F238E27FC236}">
                <a16:creationId xmlns:a16="http://schemas.microsoft.com/office/drawing/2014/main" id="{9073D962-D3D2-4A72-8593-65C213CBFF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4" y="633619"/>
            <a:ext cx="4520912"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48A8FA5-60BD-5EB1-1178-1DE0030C4E1F}"/>
              </a:ext>
            </a:extLst>
          </p:cNvPr>
          <p:cNvSpPr>
            <a:spLocks noGrp="1"/>
          </p:cNvSpPr>
          <p:nvPr>
            <p:ph type="title"/>
          </p:nvPr>
        </p:nvSpPr>
        <p:spPr>
          <a:xfrm>
            <a:off x="838200" y="978408"/>
            <a:ext cx="3721608" cy="1106424"/>
          </a:xfrm>
        </p:spPr>
        <p:txBody>
          <a:bodyPr vert="horz" lIns="91440" tIns="45720" rIns="91440" bIns="45720" rtlCol="0" anchor="ctr">
            <a:normAutofit/>
          </a:bodyPr>
          <a:lstStyle/>
          <a:p>
            <a:r>
              <a:rPr lang="en-US" sz="2800"/>
              <a:t>Technology Selection Rationale</a:t>
            </a:r>
          </a:p>
        </p:txBody>
      </p:sp>
      <p:sp>
        <p:nvSpPr>
          <p:cNvPr id="3089" name="Rectangle 3088">
            <a:extLst>
              <a:ext uri="{FF2B5EF4-FFF2-40B4-BE49-F238E27FC236}">
                <a16:creationId xmlns:a16="http://schemas.microsoft.com/office/drawing/2014/main" id="{2387511B-F6E1-4929-AC90-94FB8B6B0F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91" name="Rectangle 3090">
            <a:extLst>
              <a:ext uri="{FF2B5EF4-FFF2-40B4-BE49-F238E27FC236}">
                <a16:creationId xmlns:a16="http://schemas.microsoft.com/office/drawing/2014/main" id="{AA58F78C-27AB-465F-AA33-15E08AF26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6" y="2185416"/>
            <a:ext cx="3683187"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648BB60C-7175-24B6-2C75-EAF2529568D1}"/>
              </a:ext>
            </a:extLst>
          </p:cNvPr>
          <p:cNvSpPr>
            <a:spLocks noGrp="1"/>
          </p:cNvSpPr>
          <p:nvPr>
            <p:ph type="body" sz="half" idx="2"/>
          </p:nvPr>
        </p:nvSpPr>
        <p:spPr>
          <a:xfrm>
            <a:off x="838200" y="2368296"/>
            <a:ext cx="3721608" cy="3502152"/>
          </a:xfrm>
        </p:spPr>
        <p:txBody>
          <a:bodyPr vert="horz" lIns="91440" tIns="45720" rIns="91440" bIns="45720" rtlCol="0">
            <a:normAutofit/>
          </a:bodyPr>
          <a:lstStyle/>
          <a:p>
            <a:pPr indent="-228600">
              <a:buFont typeface="Arial" panose="020B0604020202020204" pitchFamily="34" charset="0"/>
              <a:buChar char="•"/>
            </a:pPr>
            <a:r>
              <a:rPr lang="en-US" sz="1700" b="1"/>
              <a:t>Backend:</a:t>
            </a:r>
            <a:r>
              <a:rPr lang="en-US" sz="1700"/>
              <a:t> Ruby on Rails (developer productivity, gems). </a:t>
            </a:r>
          </a:p>
          <a:p>
            <a:pPr indent="-228600">
              <a:buFont typeface="Arial" panose="020B0604020202020204" pitchFamily="34" charset="0"/>
              <a:buChar char="•"/>
            </a:pPr>
            <a:r>
              <a:rPr lang="en-US" sz="1700" b="1"/>
              <a:t>Database:</a:t>
            </a:r>
            <a:r>
              <a:rPr lang="en-US" sz="1700"/>
              <a:t> PostgreSQL + PostGIS (powerful geospatial features, good Rails integration). </a:t>
            </a:r>
          </a:p>
          <a:p>
            <a:pPr indent="-228600">
              <a:buFont typeface="Arial" panose="020B0604020202020204" pitchFamily="34" charset="0"/>
              <a:buChar char="•"/>
            </a:pPr>
            <a:r>
              <a:rPr lang="en-US" sz="1700" b="1"/>
              <a:t>Frontend:</a:t>
            </a:r>
            <a:r>
              <a:rPr lang="en-US" sz="1700"/>
              <a:t> Vue.js (clear docs, component-based, good for SPA). </a:t>
            </a:r>
          </a:p>
          <a:p>
            <a:pPr indent="-228600">
              <a:buFont typeface="Arial" panose="020B0604020202020204" pitchFamily="34" charset="0"/>
              <a:buChar char="•"/>
            </a:pPr>
            <a:r>
              <a:rPr lang="en-US" sz="1700" b="1"/>
              <a:t>Routing:</a:t>
            </a:r>
            <a:r>
              <a:rPr lang="en-US" sz="1700"/>
              <a:t> OSRM (high performance, self-hosted, open-source). </a:t>
            </a:r>
          </a:p>
          <a:p>
            <a:pPr indent="-228600">
              <a:buFont typeface="Arial" panose="020B0604020202020204" pitchFamily="34" charset="0"/>
              <a:buChar char="•"/>
            </a:pPr>
            <a:r>
              <a:rPr lang="en-US" sz="1700" b="1"/>
              <a:t>Mapping Library:</a:t>
            </a:r>
            <a:r>
              <a:rPr lang="en-US" sz="1700"/>
              <a:t> Leaflet (lightweight, simple, good performance).</a:t>
            </a:r>
          </a:p>
        </p:txBody>
      </p:sp>
      <p:pic>
        <p:nvPicPr>
          <p:cNvPr id="3080" name="Picture 8" descr="Tutorials - Leaflet - a JavaScript library for interactive maps">
            <a:extLst>
              <a:ext uri="{FF2B5EF4-FFF2-40B4-BE49-F238E27FC236}">
                <a16:creationId xmlns:a16="http://schemas.microsoft.com/office/drawing/2014/main" id="{0B413C6F-0442-CF5E-CB8B-5A82CE19536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33267" y="972474"/>
            <a:ext cx="3248351" cy="201061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Ruby on Rails | Okoone">
            <a:extLst>
              <a:ext uri="{FF2B5EF4-FFF2-40B4-BE49-F238E27FC236}">
                <a16:creationId xmlns:a16="http://schemas.microsoft.com/office/drawing/2014/main" id="{7009D27D-C33A-5070-C14A-663CD368F5D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589914" y="982977"/>
            <a:ext cx="3248352" cy="198961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Project OSRM · GitHub">
            <a:extLst>
              <a:ext uri="{FF2B5EF4-FFF2-40B4-BE49-F238E27FC236}">
                <a16:creationId xmlns:a16="http://schemas.microsoft.com/office/drawing/2014/main" id="{CF4E388A-209D-B51B-4F71-F9F098D21C85}"/>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511812" y="3436664"/>
            <a:ext cx="2691264" cy="269126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Vue.js Tutorial — A Guide on Prototyping Web Apps - Shopify Australia">
            <a:extLst>
              <a:ext uri="{FF2B5EF4-FFF2-40B4-BE49-F238E27FC236}">
                <a16:creationId xmlns:a16="http://schemas.microsoft.com/office/drawing/2014/main" id="{B6D0AD71-3FF6-44CF-25B5-2AFBEF206C47}"/>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8589914" y="4098678"/>
            <a:ext cx="3248352" cy="1364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08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0D3921-216D-5053-7810-E936643BF306}"/>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5600"/>
              <a:t>System Development - Architecture</a:t>
            </a:r>
          </a:p>
        </p:txBody>
      </p:sp>
      <p:sp>
        <p:nvSpPr>
          <p:cNvPr id="28"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diagram of a computer&#10;&#10;Description automatically generated">
            <a:extLst>
              <a:ext uri="{FF2B5EF4-FFF2-40B4-BE49-F238E27FC236}">
                <a16:creationId xmlns:a16="http://schemas.microsoft.com/office/drawing/2014/main" id="{B9A2BB9A-1FC6-06FE-156C-7D78BD6E141D}"/>
              </a:ext>
            </a:extLst>
          </p:cNvPr>
          <p:cNvPicPr>
            <a:picLocks noChangeAspect="1"/>
          </p:cNvPicPr>
          <p:nvPr/>
        </p:nvPicPr>
        <p:blipFill>
          <a:blip r:embed="rId3"/>
          <a:stretch>
            <a:fillRect/>
          </a:stretch>
        </p:blipFill>
        <p:spPr>
          <a:xfrm>
            <a:off x="137375" y="2068168"/>
            <a:ext cx="5429504" cy="4547208"/>
          </a:xfrm>
          <a:prstGeom prst="rect">
            <a:avLst/>
          </a:prstGeom>
        </p:spPr>
      </p:pic>
      <p:pic>
        <p:nvPicPr>
          <p:cNvPr id="12" name="Picture 11" descr="A diagram of a software&#10;&#10;Description automatically generated">
            <a:extLst>
              <a:ext uri="{FF2B5EF4-FFF2-40B4-BE49-F238E27FC236}">
                <a16:creationId xmlns:a16="http://schemas.microsoft.com/office/drawing/2014/main" id="{ECA817F6-1AA1-B53B-A3EB-CEED4A392774}"/>
              </a:ext>
            </a:extLst>
          </p:cNvPr>
          <p:cNvPicPr>
            <a:picLocks noChangeAspect="1"/>
          </p:cNvPicPr>
          <p:nvPr/>
        </p:nvPicPr>
        <p:blipFill>
          <a:blip r:embed="rId4"/>
          <a:stretch>
            <a:fillRect/>
          </a:stretch>
        </p:blipFill>
        <p:spPr>
          <a:xfrm>
            <a:off x="5782614" y="2068168"/>
            <a:ext cx="6272011" cy="4547208"/>
          </a:xfrm>
          <a:prstGeom prst="rect">
            <a:avLst/>
          </a:prstGeom>
        </p:spPr>
      </p:pic>
      <p:sp>
        <p:nvSpPr>
          <p:cNvPr id="6" name="AutoShape 4">
            <a:extLst>
              <a:ext uri="{FF2B5EF4-FFF2-40B4-BE49-F238E27FC236}">
                <a16:creationId xmlns:a16="http://schemas.microsoft.com/office/drawing/2014/main" id="{2D27B565-9ABD-A63F-3998-86988E84B19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254943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2E5B02-607B-ED5D-265A-02155116578B}"/>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dirty="0">
                <a:solidFill>
                  <a:schemeClr val="tx1"/>
                </a:solidFill>
                <a:latin typeface="+mj-lt"/>
                <a:ea typeface="+mj-ea"/>
                <a:cs typeface="+mj-cs"/>
              </a:rPr>
              <a:t>System Development - Data Model</a:t>
            </a:r>
          </a:p>
        </p:txBody>
      </p:sp>
      <p:sp>
        <p:nvSpPr>
          <p:cNvPr id="3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screenshot of a computer&#10;&#10;Description automatically generated">
            <a:extLst>
              <a:ext uri="{FF2B5EF4-FFF2-40B4-BE49-F238E27FC236}">
                <a16:creationId xmlns:a16="http://schemas.microsoft.com/office/drawing/2014/main" id="{3B66C09A-4BD2-F3EF-1DED-A3377D082B33}"/>
              </a:ext>
            </a:extLst>
          </p:cNvPr>
          <p:cNvPicPr>
            <a:picLocks noChangeAspect="1"/>
          </p:cNvPicPr>
          <p:nvPr/>
        </p:nvPicPr>
        <p:blipFill>
          <a:blip r:embed="rId3"/>
          <a:stretch>
            <a:fillRect/>
          </a:stretch>
        </p:blipFill>
        <p:spPr>
          <a:xfrm>
            <a:off x="4654296" y="736858"/>
            <a:ext cx="7214616" cy="5356851"/>
          </a:xfrm>
          <a:prstGeom prst="rect">
            <a:avLst/>
          </a:prstGeom>
        </p:spPr>
      </p:pic>
    </p:spTree>
    <p:extLst>
      <p:ext uri="{BB962C8B-B14F-4D97-AF65-F5344CB8AC3E}">
        <p14:creationId xmlns:p14="http://schemas.microsoft.com/office/powerpoint/2010/main" val="4163475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4BFCCA4-109C-4B21-816E-144FE75C3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A83CCB-8D09-8AF7-283C-93A870E646E0}"/>
              </a:ext>
            </a:extLst>
          </p:cNvPr>
          <p:cNvSpPr>
            <a:spLocks noGrp="1"/>
          </p:cNvSpPr>
          <p:nvPr>
            <p:ph type="title"/>
          </p:nvPr>
        </p:nvSpPr>
        <p:spPr>
          <a:xfrm>
            <a:off x="630918" y="643465"/>
            <a:ext cx="3895359" cy="1846615"/>
          </a:xfrm>
        </p:spPr>
        <p:txBody>
          <a:bodyPr vert="horz" lIns="91440" tIns="45720" rIns="91440" bIns="45720" rtlCol="0" anchor="b">
            <a:normAutofit/>
          </a:bodyPr>
          <a:lstStyle/>
          <a:p>
            <a:r>
              <a:rPr lang="en-US" sz="3000" dirty="0"/>
              <a:t>System Development - Frontend User Interaction</a:t>
            </a:r>
          </a:p>
        </p:txBody>
      </p:sp>
      <p:sp>
        <p:nvSpPr>
          <p:cNvPr id="35" name="sketch line">
            <a:extLst>
              <a:ext uri="{FF2B5EF4-FFF2-40B4-BE49-F238E27FC236}">
                <a16:creationId xmlns:a16="http://schemas.microsoft.com/office/drawing/2014/main" id="{0059B5C0-FEC8-4370-AF45-02E3AEF6F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659144"/>
            <a:ext cx="3566160" cy="18288"/>
          </a:xfrm>
          <a:custGeom>
            <a:avLst/>
            <a:gdLst>
              <a:gd name="connsiteX0" fmla="*/ 0 w 3566160"/>
              <a:gd name="connsiteY0" fmla="*/ 0 h 18288"/>
              <a:gd name="connsiteX1" fmla="*/ 665683 w 3566160"/>
              <a:gd name="connsiteY1" fmla="*/ 0 h 18288"/>
              <a:gd name="connsiteX2" fmla="*/ 1331366 w 3566160"/>
              <a:gd name="connsiteY2" fmla="*/ 0 h 18288"/>
              <a:gd name="connsiteX3" fmla="*/ 1818742 w 3566160"/>
              <a:gd name="connsiteY3" fmla="*/ 0 h 18288"/>
              <a:gd name="connsiteX4" fmla="*/ 2413102 w 3566160"/>
              <a:gd name="connsiteY4" fmla="*/ 0 h 18288"/>
              <a:gd name="connsiteX5" fmla="*/ 2936138 w 3566160"/>
              <a:gd name="connsiteY5" fmla="*/ 0 h 18288"/>
              <a:gd name="connsiteX6" fmla="*/ 3566160 w 3566160"/>
              <a:gd name="connsiteY6" fmla="*/ 0 h 18288"/>
              <a:gd name="connsiteX7" fmla="*/ 3566160 w 3566160"/>
              <a:gd name="connsiteY7" fmla="*/ 18288 h 18288"/>
              <a:gd name="connsiteX8" fmla="*/ 2971800 w 3566160"/>
              <a:gd name="connsiteY8" fmla="*/ 18288 h 18288"/>
              <a:gd name="connsiteX9" fmla="*/ 2448763 w 3566160"/>
              <a:gd name="connsiteY9" fmla="*/ 18288 h 18288"/>
              <a:gd name="connsiteX10" fmla="*/ 1854403 w 3566160"/>
              <a:gd name="connsiteY10" fmla="*/ 18288 h 18288"/>
              <a:gd name="connsiteX11" fmla="*/ 1295705 w 3566160"/>
              <a:gd name="connsiteY11" fmla="*/ 18288 h 18288"/>
              <a:gd name="connsiteX12" fmla="*/ 772668 w 3566160"/>
              <a:gd name="connsiteY12" fmla="*/ 18288 h 18288"/>
              <a:gd name="connsiteX13" fmla="*/ 0 w 3566160"/>
              <a:gd name="connsiteY13" fmla="*/ 18288 h 18288"/>
              <a:gd name="connsiteX14" fmla="*/ 0 w 356616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66160" h="18288" fill="none" extrusionOk="0">
                <a:moveTo>
                  <a:pt x="0" y="0"/>
                </a:moveTo>
                <a:cubicBezTo>
                  <a:pt x="222644" y="15773"/>
                  <a:pt x="447078" y="-30288"/>
                  <a:pt x="665683" y="0"/>
                </a:cubicBezTo>
                <a:cubicBezTo>
                  <a:pt x="884288" y="30288"/>
                  <a:pt x="1132425" y="-6167"/>
                  <a:pt x="1331366" y="0"/>
                </a:cubicBezTo>
                <a:cubicBezTo>
                  <a:pt x="1530307" y="6167"/>
                  <a:pt x="1680942" y="17562"/>
                  <a:pt x="1818742" y="0"/>
                </a:cubicBezTo>
                <a:cubicBezTo>
                  <a:pt x="1956542" y="-17562"/>
                  <a:pt x="2130227" y="23032"/>
                  <a:pt x="2413102" y="0"/>
                </a:cubicBezTo>
                <a:cubicBezTo>
                  <a:pt x="2695977" y="-23032"/>
                  <a:pt x="2679988" y="-13260"/>
                  <a:pt x="2936138" y="0"/>
                </a:cubicBezTo>
                <a:cubicBezTo>
                  <a:pt x="3192288" y="13260"/>
                  <a:pt x="3378668" y="16268"/>
                  <a:pt x="3566160" y="0"/>
                </a:cubicBezTo>
                <a:cubicBezTo>
                  <a:pt x="3566199" y="7328"/>
                  <a:pt x="3566779" y="9982"/>
                  <a:pt x="3566160" y="18288"/>
                </a:cubicBezTo>
                <a:cubicBezTo>
                  <a:pt x="3315478" y="45899"/>
                  <a:pt x="3188272" y="-7574"/>
                  <a:pt x="2971800" y="18288"/>
                </a:cubicBezTo>
                <a:cubicBezTo>
                  <a:pt x="2755328" y="44150"/>
                  <a:pt x="2598570" y="34692"/>
                  <a:pt x="2448763" y="18288"/>
                </a:cubicBezTo>
                <a:cubicBezTo>
                  <a:pt x="2298956" y="1884"/>
                  <a:pt x="2011344" y="-7043"/>
                  <a:pt x="1854403" y="18288"/>
                </a:cubicBezTo>
                <a:cubicBezTo>
                  <a:pt x="1697462" y="43619"/>
                  <a:pt x="1444994" y="618"/>
                  <a:pt x="1295705" y="18288"/>
                </a:cubicBezTo>
                <a:cubicBezTo>
                  <a:pt x="1146416" y="35958"/>
                  <a:pt x="965401" y="42167"/>
                  <a:pt x="772668" y="18288"/>
                </a:cubicBezTo>
                <a:cubicBezTo>
                  <a:pt x="579935" y="-5591"/>
                  <a:pt x="352420" y="-19381"/>
                  <a:pt x="0" y="18288"/>
                </a:cubicBezTo>
                <a:cubicBezTo>
                  <a:pt x="-593" y="9736"/>
                  <a:pt x="244" y="6610"/>
                  <a:pt x="0" y="0"/>
                </a:cubicBezTo>
                <a:close/>
              </a:path>
              <a:path w="3566160" h="18288" stroke="0" extrusionOk="0">
                <a:moveTo>
                  <a:pt x="0" y="0"/>
                </a:moveTo>
                <a:cubicBezTo>
                  <a:pt x="169947" y="-5008"/>
                  <a:pt x="340602" y="-17518"/>
                  <a:pt x="594360" y="0"/>
                </a:cubicBezTo>
                <a:cubicBezTo>
                  <a:pt x="848118" y="17518"/>
                  <a:pt x="997921" y="8866"/>
                  <a:pt x="1224382" y="0"/>
                </a:cubicBezTo>
                <a:cubicBezTo>
                  <a:pt x="1450843" y="-8866"/>
                  <a:pt x="1572343" y="8392"/>
                  <a:pt x="1783080" y="0"/>
                </a:cubicBezTo>
                <a:cubicBezTo>
                  <a:pt x="1993817" y="-8392"/>
                  <a:pt x="2266728" y="2126"/>
                  <a:pt x="2448763" y="0"/>
                </a:cubicBezTo>
                <a:cubicBezTo>
                  <a:pt x="2630798" y="-2126"/>
                  <a:pt x="2815508" y="-13843"/>
                  <a:pt x="3043123" y="0"/>
                </a:cubicBezTo>
                <a:cubicBezTo>
                  <a:pt x="3270738" y="13843"/>
                  <a:pt x="3420568" y="2184"/>
                  <a:pt x="3566160" y="0"/>
                </a:cubicBezTo>
                <a:cubicBezTo>
                  <a:pt x="3566487" y="8595"/>
                  <a:pt x="3566088" y="13110"/>
                  <a:pt x="3566160" y="18288"/>
                </a:cubicBezTo>
                <a:cubicBezTo>
                  <a:pt x="3421748" y="9323"/>
                  <a:pt x="3176383" y="-3939"/>
                  <a:pt x="2971800" y="18288"/>
                </a:cubicBezTo>
                <a:cubicBezTo>
                  <a:pt x="2767217" y="40515"/>
                  <a:pt x="2590769" y="4336"/>
                  <a:pt x="2306117" y="18288"/>
                </a:cubicBezTo>
                <a:cubicBezTo>
                  <a:pt x="2021465" y="32240"/>
                  <a:pt x="1860727" y="-9280"/>
                  <a:pt x="1676095" y="18288"/>
                </a:cubicBezTo>
                <a:cubicBezTo>
                  <a:pt x="1491463" y="45856"/>
                  <a:pt x="1329173" y="5765"/>
                  <a:pt x="1153058" y="18288"/>
                </a:cubicBezTo>
                <a:cubicBezTo>
                  <a:pt x="976943" y="30811"/>
                  <a:pt x="895178" y="4751"/>
                  <a:pt x="665683" y="18288"/>
                </a:cubicBezTo>
                <a:cubicBezTo>
                  <a:pt x="436189" y="31825"/>
                  <a:pt x="302924" y="2002"/>
                  <a:pt x="0" y="18288"/>
                </a:cubicBezTo>
                <a:cubicBezTo>
                  <a:pt x="822" y="10564"/>
                  <a:pt x="-23" y="457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44897650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screenshot of a medical finder&#10;&#10;Description automatically generated">
            <a:extLst>
              <a:ext uri="{FF2B5EF4-FFF2-40B4-BE49-F238E27FC236}">
                <a16:creationId xmlns:a16="http://schemas.microsoft.com/office/drawing/2014/main" id="{E9696875-EB48-60D3-3124-B224994AB858}"/>
              </a:ext>
            </a:extLst>
          </p:cNvPr>
          <p:cNvPicPr>
            <a:picLocks noChangeAspect="1"/>
          </p:cNvPicPr>
          <p:nvPr/>
        </p:nvPicPr>
        <p:blipFill>
          <a:blip r:embed="rId2"/>
          <a:stretch>
            <a:fillRect/>
          </a:stretch>
        </p:blipFill>
        <p:spPr>
          <a:xfrm>
            <a:off x="4992624" y="299072"/>
            <a:ext cx="3099816" cy="3187471"/>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67A6F2AB-FE94-11BF-8AEA-86A7FE103563}"/>
              </a:ext>
            </a:extLst>
          </p:cNvPr>
          <p:cNvPicPr>
            <a:picLocks noChangeAspect="1"/>
          </p:cNvPicPr>
          <p:nvPr/>
        </p:nvPicPr>
        <p:blipFill>
          <a:blip r:embed="rId3"/>
          <a:stretch>
            <a:fillRect/>
          </a:stretch>
        </p:blipFill>
        <p:spPr>
          <a:xfrm>
            <a:off x="8247888" y="468496"/>
            <a:ext cx="3785616" cy="2034767"/>
          </a:xfrm>
          <a:prstGeom prst="rect">
            <a:avLst/>
          </a:prstGeom>
        </p:spPr>
      </p:pic>
      <p:pic>
        <p:nvPicPr>
          <p:cNvPr id="12" name="Picture 11" descr="A screenshot of a medical search&#10;&#10;Description automatically generated">
            <a:extLst>
              <a:ext uri="{FF2B5EF4-FFF2-40B4-BE49-F238E27FC236}">
                <a16:creationId xmlns:a16="http://schemas.microsoft.com/office/drawing/2014/main" id="{A88B5E25-DE40-1FF2-06F0-88856DC47999}"/>
              </a:ext>
            </a:extLst>
          </p:cNvPr>
          <p:cNvPicPr>
            <a:picLocks noChangeAspect="1"/>
          </p:cNvPicPr>
          <p:nvPr/>
        </p:nvPicPr>
        <p:blipFill>
          <a:blip r:embed="rId4"/>
          <a:stretch>
            <a:fillRect/>
          </a:stretch>
        </p:blipFill>
        <p:spPr>
          <a:xfrm>
            <a:off x="5370488" y="3795522"/>
            <a:ext cx="2344087" cy="2398044"/>
          </a:xfrm>
          <a:prstGeom prst="rect">
            <a:avLst/>
          </a:prstGeom>
        </p:spPr>
      </p:pic>
      <p:pic>
        <p:nvPicPr>
          <p:cNvPr id="10" name="Picture 9" descr="A map of a city&#10;&#10;Description automatically generated">
            <a:extLst>
              <a:ext uri="{FF2B5EF4-FFF2-40B4-BE49-F238E27FC236}">
                <a16:creationId xmlns:a16="http://schemas.microsoft.com/office/drawing/2014/main" id="{813E4A9C-8786-0E94-3417-E7DF8FAC8F3E}"/>
              </a:ext>
            </a:extLst>
          </p:cNvPr>
          <p:cNvPicPr>
            <a:picLocks noChangeAspect="1"/>
          </p:cNvPicPr>
          <p:nvPr/>
        </p:nvPicPr>
        <p:blipFill>
          <a:blip r:embed="rId5"/>
          <a:stretch>
            <a:fillRect/>
          </a:stretch>
        </p:blipFill>
        <p:spPr>
          <a:xfrm>
            <a:off x="8570066" y="2971759"/>
            <a:ext cx="3141260" cy="3221807"/>
          </a:xfrm>
          <a:prstGeom prst="rect">
            <a:avLst/>
          </a:prstGeom>
        </p:spPr>
      </p:pic>
      <p:sp>
        <p:nvSpPr>
          <p:cNvPr id="17" name="Title 1">
            <a:extLst>
              <a:ext uri="{FF2B5EF4-FFF2-40B4-BE49-F238E27FC236}">
                <a16:creationId xmlns:a16="http://schemas.microsoft.com/office/drawing/2014/main" id="{01EFECAA-F6C8-5FC9-18E1-14B1B0451B98}"/>
              </a:ext>
            </a:extLst>
          </p:cNvPr>
          <p:cNvSpPr txBox="1">
            <a:spLocks/>
          </p:cNvSpPr>
          <p:nvPr/>
        </p:nvSpPr>
        <p:spPr>
          <a:xfrm>
            <a:off x="619638" y="3187512"/>
            <a:ext cx="3895359" cy="18466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endParaRPr lang="en-US" sz="3000" dirty="0"/>
          </a:p>
        </p:txBody>
      </p:sp>
      <p:sp>
        <p:nvSpPr>
          <p:cNvPr id="19" name="Title 1">
            <a:extLst>
              <a:ext uri="{FF2B5EF4-FFF2-40B4-BE49-F238E27FC236}">
                <a16:creationId xmlns:a16="http://schemas.microsoft.com/office/drawing/2014/main" id="{3F6287A4-058A-8345-FF1E-0E53D6D3D44A}"/>
              </a:ext>
            </a:extLst>
          </p:cNvPr>
          <p:cNvSpPr txBox="1">
            <a:spLocks/>
          </p:cNvSpPr>
          <p:nvPr/>
        </p:nvSpPr>
        <p:spPr>
          <a:xfrm>
            <a:off x="630917" y="3147929"/>
            <a:ext cx="3895359" cy="18466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000" dirty="0"/>
              <a:t>https://emergency-facility-finder-</a:t>
            </a:r>
            <a:r>
              <a:rPr lang="en-US" sz="2000" dirty="0" err="1"/>
              <a:t>ui.onrender.com</a:t>
            </a:r>
            <a:endParaRPr lang="en-US" sz="2000" dirty="0"/>
          </a:p>
        </p:txBody>
      </p:sp>
    </p:spTree>
    <p:extLst>
      <p:ext uri="{BB962C8B-B14F-4D97-AF65-F5344CB8AC3E}">
        <p14:creationId xmlns:p14="http://schemas.microsoft.com/office/powerpoint/2010/main" val="2664168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515DF3-7141-D465-B6A2-A70F48A65E7A}"/>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4200" kern="1200">
                <a:solidFill>
                  <a:schemeClr val="tx1"/>
                </a:solidFill>
                <a:latin typeface="+mj-lt"/>
                <a:ea typeface="+mj-ea"/>
                <a:cs typeface="+mj-cs"/>
              </a:rPr>
              <a:t>System Testing &amp; Evaluation</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E6C175ED-0349-D0AC-A4F6-1ECAEA9CA88D}"/>
              </a:ext>
            </a:extLst>
          </p:cNvPr>
          <p:cNvSpPr>
            <a:spLocks noGrp="1"/>
          </p:cNvSpPr>
          <p:nvPr>
            <p:ph type="body" sz="half" idx="2"/>
          </p:nvPr>
        </p:nvSpPr>
        <p:spPr>
          <a:xfrm>
            <a:off x="630936" y="2807208"/>
            <a:ext cx="3429000" cy="3410712"/>
          </a:xfrm>
        </p:spPr>
        <p:txBody>
          <a:bodyPr vert="horz" lIns="91440" tIns="45720" rIns="91440" bIns="45720" rtlCol="0" anchor="t">
            <a:normAutofit/>
          </a:bodyPr>
          <a:lstStyle/>
          <a:p>
            <a:r>
              <a:rPr lang="en-US" sz="2200" b="1" dirty="0"/>
              <a:t>Backend Testing:</a:t>
            </a:r>
            <a:r>
              <a:rPr lang="en-US" sz="2200" dirty="0"/>
              <a:t> </a:t>
            </a:r>
            <a:r>
              <a:rPr lang="en-US" sz="2200" dirty="0" err="1"/>
              <a:t>RSpec</a:t>
            </a:r>
            <a:r>
              <a:rPr lang="en-US" sz="2200" dirty="0"/>
              <a:t>, 58 tests, 82.35% coverage </a:t>
            </a:r>
            <a:br>
              <a:rPr lang="en-US" sz="2200" dirty="0"/>
            </a:br>
            <a:r>
              <a:rPr lang="en-US" sz="2200" b="1" dirty="0"/>
              <a:t>User Feedback (Informal):</a:t>
            </a:r>
            <a:r>
              <a:rPr lang="en-US" sz="2200" dirty="0"/>
              <a:t> Positive reception, intuitive. Rehab anecdote.</a:t>
            </a:r>
          </a:p>
          <a:p>
            <a:r>
              <a:rPr lang="en-US" sz="2200" b="1" dirty="0"/>
              <a:t>Proposed Formal Usability Testing</a:t>
            </a:r>
          </a:p>
        </p:txBody>
      </p:sp>
      <p:pic>
        <p:nvPicPr>
          <p:cNvPr id="5" name="Content Placeholder 4">
            <a:extLst>
              <a:ext uri="{FF2B5EF4-FFF2-40B4-BE49-F238E27FC236}">
                <a16:creationId xmlns:a16="http://schemas.microsoft.com/office/drawing/2014/main" id="{B8E4E544-C856-253E-5770-645A3F04AC95}"/>
              </a:ext>
            </a:extLst>
          </p:cNvPr>
          <p:cNvPicPr>
            <a:picLocks noGrp="1" noChangeAspect="1"/>
          </p:cNvPicPr>
          <p:nvPr>
            <p:ph idx="1"/>
          </p:nvPr>
        </p:nvPicPr>
        <p:blipFill>
          <a:blip r:embed="rId3"/>
          <a:stretch>
            <a:fillRect/>
          </a:stretch>
        </p:blipFill>
        <p:spPr>
          <a:xfrm>
            <a:off x="4654296" y="1375143"/>
            <a:ext cx="6903720" cy="4107713"/>
          </a:xfrm>
          <a:prstGeom prst="rect">
            <a:avLst/>
          </a:prstGeom>
        </p:spPr>
      </p:pic>
    </p:spTree>
    <p:extLst>
      <p:ext uri="{BB962C8B-B14F-4D97-AF65-F5344CB8AC3E}">
        <p14:creationId xmlns:p14="http://schemas.microsoft.com/office/powerpoint/2010/main" val="1572593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E86FA-5983-5639-7383-8436884D409F}"/>
              </a:ext>
            </a:extLst>
          </p:cNvPr>
          <p:cNvSpPr>
            <a:spLocks noGrp="1"/>
          </p:cNvSpPr>
          <p:nvPr>
            <p:ph type="title"/>
          </p:nvPr>
        </p:nvSpPr>
        <p:spPr>
          <a:xfrm>
            <a:off x="841248" y="548640"/>
            <a:ext cx="3600860" cy="5431536"/>
          </a:xfrm>
        </p:spPr>
        <p:txBody>
          <a:bodyPr vert="horz" lIns="91440" tIns="45720" rIns="91440" bIns="45720" rtlCol="0" anchor="ctr">
            <a:normAutofit/>
          </a:bodyPr>
          <a:lstStyle/>
          <a:p>
            <a:r>
              <a:rPr lang="en-US" sz="5000" kern="1200">
                <a:solidFill>
                  <a:schemeClr val="tx1"/>
                </a:solidFill>
                <a:latin typeface="+mj-lt"/>
                <a:ea typeface="+mj-ea"/>
                <a:cs typeface="+mj-cs"/>
              </a:rPr>
              <a:t>Conclusions</a:t>
            </a: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CA472C75-2FF6-DCA4-54C0-65871FFC0CB6}"/>
              </a:ext>
            </a:extLst>
          </p:cNvPr>
          <p:cNvSpPr>
            <a:spLocks noGrp="1"/>
          </p:cNvSpPr>
          <p:nvPr>
            <p:ph type="body" sz="half" idx="2"/>
          </p:nvPr>
        </p:nvSpPr>
        <p:spPr>
          <a:xfrm>
            <a:off x="5126418" y="552091"/>
            <a:ext cx="6224335" cy="5431536"/>
          </a:xfrm>
        </p:spPr>
        <p:txBody>
          <a:bodyPr vert="horz" lIns="91440" tIns="45720" rIns="91440" bIns="45720" rtlCol="0" anchor="ctr">
            <a:normAutofit/>
          </a:bodyPr>
          <a:lstStyle/>
          <a:p>
            <a:pPr indent="-228600">
              <a:buFont typeface="Arial" panose="020B0604020202020204" pitchFamily="34" charset="0"/>
              <a:buChar char="•"/>
            </a:pPr>
            <a:r>
              <a:rPr lang="en-US" sz="2200" b="1" dirty="0"/>
              <a:t>Goal Met:</a:t>
            </a:r>
            <a:r>
              <a:rPr lang="en-US" sz="2200" dirty="0"/>
              <a:t> Addressed specific healthcare navigation challenges in Vilnius.</a:t>
            </a:r>
          </a:p>
          <a:p>
            <a:pPr indent="-228600">
              <a:buFont typeface="Arial" panose="020B0604020202020204" pitchFamily="34" charset="0"/>
              <a:buChar char="•"/>
            </a:pPr>
            <a:r>
              <a:rPr lang="en-US" sz="2200" dirty="0"/>
              <a:t> </a:t>
            </a:r>
            <a:r>
              <a:rPr lang="en-US" sz="2200" b="1" dirty="0"/>
              <a:t>Contribution &amp; Novelty:</a:t>
            </a:r>
            <a:r>
              <a:rPr lang="en-US" sz="2200" dirty="0"/>
              <a:t> Targeted integration of web/GIS tech to fill a local gap (Unified interface, Granular medical filters, Integrated routing).</a:t>
            </a:r>
          </a:p>
          <a:p>
            <a:pPr indent="-228600">
              <a:buFont typeface="Arial" panose="020B0604020202020204" pitchFamily="34" charset="0"/>
              <a:buChar char="•"/>
            </a:pPr>
            <a:r>
              <a:rPr lang="en-US" sz="2200" b="1" dirty="0"/>
              <a:t>Tasks Achieved:</a:t>
            </a:r>
            <a:r>
              <a:rPr lang="en-US" sz="2200" dirty="0"/>
              <a:t> Systematically completed all project phases (Analysis -&gt; Tech Selection -&gt; Design -&gt; Implementation -&gt; Testing).</a:t>
            </a:r>
          </a:p>
          <a:p>
            <a:pPr indent="-228600">
              <a:buFont typeface="Arial" panose="020B0604020202020204" pitchFamily="34" charset="0"/>
              <a:buChar char="•"/>
            </a:pPr>
            <a:r>
              <a:rPr lang="en-US" sz="2200" dirty="0"/>
              <a:t> </a:t>
            </a:r>
            <a:r>
              <a:rPr lang="en-US" sz="2200" b="1" dirty="0"/>
              <a:t>Limitations:</a:t>
            </a:r>
            <a:r>
              <a:rPr lang="en-US" sz="2200" dirty="0"/>
              <a:t> Data accuracy maintenance is crucial; defined scope (no booking, etc.). </a:t>
            </a:r>
          </a:p>
          <a:p>
            <a:pPr indent="-228600">
              <a:buFont typeface="Arial" panose="020B0604020202020204" pitchFamily="34" charset="0"/>
              <a:buChar char="•"/>
            </a:pPr>
            <a:r>
              <a:rPr lang="en-US" sz="2200" b="1" dirty="0"/>
              <a:t>Value Proposition:</a:t>
            </a:r>
            <a:r>
              <a:rPr lang="en-US" sz="2200" dirty="0"/>
              <a:t> Delivered a functional and demonstrably useful tool for Vilnius healthcare navigation.</a:t>
            </a:r>
          </a:p>
        </p:txBody>
      </p:sp>
    </p:spTree>
    <p:extLst>
      <p:ext uri="{BB962C8B-B14F-4D97-AF65-F5344CB8AC3E}">
        <p14:creationId xmlns:p14="http://schemas.microsoft.com/office/powerpoint/2010/main" val="700307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1098</TotalTime>
  <Words>1347</Words>
  <Application>Microsoft Macintosh PowerPoint</Application>
  <PresentationFormat>Widescreen</PresentationFormat>
  <Paragraphs>72</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A Web-based System for Efficient Healthcare Navigation</vt:lpstr>
      <vt:lpstr>Finding the Right Medical Care (Relevance &amp; Problem)</vt:lpstr>
      <vt:lpstr>Creating a Dedicated Solution (Object &amp; Tasks of the Thesis)</vt:lpstr>
      <vt:lpstr>Research Methods Used</vt:lpstr>
      <vt:lpstr>Review of Similar Systems in Vilnius</vt:lpstr>
      <vt:lpstr>System Requirements - Scope &amp; Key Functionalities</vt:lpstr>
      <vt:lpstr>Technology Selection Rationale</vt:lpstr>
      <vt:lpstr>System Development - Architecture</vt:lpstr>
      <vt:lpstr>System Development - Data Model</vt:lpstr>
      <vt:lpstr>System Development - Frontend User Interaction</vt:lpstr>
      <vt:lpstr>System Testing &amp; Evaluation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Ufuk Saylan</dc:creator>
  <cp:lastModifiedBy>Ufuk Saylan</cp:lastModifiedBy>
  <cp:revision>1</cp:revision>
  <dcterms:created xsi:type="dcterms:W3CDTF">2025-05-05T12:49:24Z</dcterms:created>
  <dcterms:modified xsi:type="dcterms:W3CDTF">2025-05-06T07:07:32Z</dcterms:modified>
</cp:coreProperties>
</file>